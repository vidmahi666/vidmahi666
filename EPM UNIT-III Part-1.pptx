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9" d="100"/>
          <a:sy n="89" d="100"/>
        </p:scale>
        <p:origin x="2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90922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2A54C80-263E-416B-A8E0-580EDEADCBDC}" type="datetimeFigureOut">
              <a:rPr lang="en-US" dirty="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479679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36367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2A54C80-263E-416B-A8E0-580EDEADCBDC}" type="datetimeFigureOut">
              <a:rPr lang="en-US" dirty="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796303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8150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19309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0070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26720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1/28/2025</a:t>
            </a:fld>
            <a:endParaRPr lang="en-US" dirty="0"/>
          </a:p>
        </p:txBody>
      </p:sp>
    </p:spTree>
    <p:extLst>
      <p:ext uri="{BB962C8B-B14F-4D97-AF65-F5344CB8AC3E}">
        <p14:creationId xmlns:p14="http://schemas.microsoft.com/office/powerpoint/2010/main" val="412672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13966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73345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75444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06418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03587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436440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98115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97842318"/>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3">
            <a:extLst>
              <a:ext uri="{FF2B5EF4-FFF2-40B4-BE49-F238E27FC236}">
                <a16:creationId xmlns="" xmlns:a16="http://schemas.microsoft.com/office/drawing/2014/main" id="{B4C66DC6-3F11-477D-95D3-C8AA669972B5}"/>
              </a:ext>
            </a:extLst>
          </p:cNvPr>
          <p:cNvPicPr>
            <a:picLocks noChangeAspect="1"/>
          </p:cNvPicPr>
          <p:nvPr/>
        </p:nvPicPr>
        <p:blipFill rotWithShape="1">
          <a:blip r:embed="rId2"/>
          <a:srcRect l="40408" t="835" r="1087" b="2"/>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p:cNvSpPr>
            <a:spLocks noGrp="1"/>
          </p:cNvSpPr>
          <p:nvPr>
            <p:ph type="ctrTitle"/>
          </p:nvPr>
        </p:nvSpPr>
        <p:spPr>
          <a:xfrm>
            <a:off x="5380563" y="1678665"/>
            <a:ext cx="3887839" cy="2372168"/>
          </a:xfrm>
        </p:spPr>
        <p:txBody>
          <a:bodyPr>
            <a:normAutofit/>
          </a:bodyPr>
          <a:lstStyle/>
          <a:p>
            <a:pPr>
              <a:lnSpc>
                <a:spcPct val="90000"/>
              </a:lnSpc>
            </a:pPr>
            <a:r>
              <a:rPr lang="en-US" sz="4200" b="1">
                <a:cs typeface="Calibri Light"/>
              </a:rPr>
              <a:t>UNIT-III</a:t>
            </a:r>
            <a:br>
              <a:rPr lang="en-US" sz="4200" b="1">
                <a:cs typeface="Calibri Light"/>
              </a:rPr>
            </a:br>
            <a:r>
              <a:rPr lang="en-US" sz="4200" b="1">
                <a:cs typeface="Calibri Light"/>
              </a:rPr>
              <a:t>Profit Planning Techniques</a:t>
            </a:r>
          </a:p>
        </p:txBody>
      </p:sp>
      <p:sp>
        <p:nvSpPr>
          <p:cNvPr id="3" name="Subtitle 2"/>
          <p:cNvSpPr>
            <a:spLocks noGrp="1"/>
          </p:cNvSpPr>
          <p:nvPr>
            <p:ph type="subTitle" idx="1"/>
          </p:nvPr>
        </p:nvSpPr>
        <p:spPr>
          <a:xfrm>
            <a:off x="5380563" y="4050833"/>
            <a:ext cx="3893440" cy="1096899"/>
          </a:xfrm>
        </p:spPr>
        <p:txBody>
          <a:bodyPr vert="horz" lIns="91440" tIns="45720" rIns="91440" bIns="45720" rtlCol="0">
            <a:normAutofit/>
          </a:bodyPr>
          <a:lstStyle/>
          <a:p>
            <a:r>
              <a:rPr lang="en-US" b="1" dirty="0">
                <a:cs typeface="Calibri"/>
              </a:rPr>
              <a:t>Entrepreneurship and Project Management</a:t>
            </a:r>
            <a:endParaRPr lang="en-US" b="1" dirty="0"/>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8DFA3A0-76E2-4C67-9825-8D318264F210}"/>
              </a:ext>
            </a:extLst>
          </p:cNvPr>
          <p:cNvSpPr>
            <a:spLocks noGrp="1"/>
          </p:cNvSpPr>
          <p:nvPr>
            <p:ph type="ctrTitle"/>
          </p:nvPr>
        </p:nvSpPr>
        <p:spPr/>
        <p:txBody>
          <a:bodyPr>
            <a:normAutofit/>
          </a:bodyPr>
          <a:lstStyle/>
          <a:p>
            <a:pPr>
              <a:lnSpc>
                <a:spcPct val="90000"/>
              </a:lnSpc>
            </a:pPr>
            <a:r>
              <a:rPr lang="en-US" sz="4400" b="1" dirty="0">
                <a:ea typeface="+mj-lt"/>
                <a:cs typeface="+mj-lt"/>
              </a:rPr>
              <a:t>Profit Planning Techniques</a:t>
            </a:r>
            <a:endParaRPr lang="en-US" sz="4400">
              <a:ea typeface="+mj-lt"/>
              <a:cs typeface="+mj-lt"/>
            </a:endParaRPr>
          </a:p>
          <a:p>
            <a:pPr>
              <a:lnSpc>
                <a:spcPct val="90000"/>
              </a:lnSpc>
            </a:pPr>
            <a:endParaRPr lang="en-US"/>
          </a:p>
        </p:txBody>
      </p:sp>
      <p:sp>
        <p:nvSpPr>
          <p:cNvPr id="5" name="Subtitle 4">
            <a:extLst>
              <a:ext uri="{FF2B5EF4-FFF2-40B4-BE49-F238E27FC236}">
                <a16:creationId xmlns="" xmlns:a16="http://schemas.microsoft.com/office/drawing/2014/main" id="{0FF2BE7B-DA1D-478A-9A0F-0683CCAE2AB3}"/>
              </a:ext>
            </a:extLst>
          </p:cNvPr>
          <p:cNvSpPr>
            <a:spLocks noGrp="1"/>
          </p:cNvSpPr>
          <p:nvPr>
            <p:ph type="subTitle" idx="1"/>
          </p:nvPr>
        </p:nvSpPr>
        <p:spPr/>
        <p:txBody>
          <a:bodyPr>
            <a:normAutofit/>
          </a:bodyPr>
          <a:lstStyle/>
          <a:p>
            <a:r>
              <a:rPr lang="en-US" sz="4800" dirty="0">
                <a:solidFill>
                  <a:schemeClr val="tx1"/>
                </a:solidFill>
              </a:rPr>
              <a:t>Capital Budgeting</a:t>
            </a:r>
          </a:p>
        </p:txBody>
      </p:sp>
    </p:spTree>
    <p:extLst>
      <p:ext uri="{BB962C8B-B14F-4D97-AF65-F5344CB8AC3E}">
        <p14:creationId xmlns:p14="http://schemas.microsoft.com/office/powerpoint/2010/main" val="51795025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F29F3D-1640-4DA2-8284-A46F078AF50D}"/>
              </a:ext>
            </a:extLst>
          </p:cNvPr>
          <p:cNvSpPr>
            <a:spLocks noGrp="1"/>
          </p:cNvSpPr>
          <p:nvPr>
            <p:ph type="title"/>
          </p:nvPr>
        </p:nvSpPr>
        <p:spPr/>
        <p:txBody>
          <a:bodyPr>
            <a:normAutofit/>
          </a:bodyPr>
          <a:lstStyle/>
          <a:p>
            <a:r>
              <a:rPr lang="en-US" sz="4000" b="1" dirty="0"/>
              <a:t>Capital Budgeting</a:t>
            </a:r>
          </a:p>
        </p:txBody>
      </p:sp>
      <p:sp>
        <p:nvSpPr>
          <p:cNvPr id="3" name="Content Placeholder 2">
            <a:extLst>
              <a:ext uri="{FF2B5EF4-FFF2-40B4-BE49-F238E27FC236}">
                <a16:creationId xmlns="" xmlns:a16="http://schemas.microsoft.com/office/drawing/2014/main" id="{EE64FDE0-86B0-4908-AEAF-31C664242FF1}"/>
              </a:ext>
            </a:extLst>
          </p:cNvPr>
          <p:cNvSpPr>
            <a:spLocks noGrp="1"/>
          </p:cNvSpPr>
          <p:nvPr>
            <p:ph idx="1"/>
          </p:nvPr>
        </p:nvSpPr>
        <p:spPr>
          <a:xfrm>
            <a:off x="153652" y="1453126"/>
            <a:ext cx="9788829" cy="4925449"/>
          </a:xfrm>
        </p:spPr>
        <p:txBody>
          <a:bodyPr vert="horz" lIns="91440" tIns="45720" rIns="91440" bIns="45720" rtlCol="0" anchor="t">
            <a:normAutofit fontScale="92500" lnSpcReduction="20000"/>
          </a:bodyPr>
          <a:lstStyle/>
          <a:p>
            <a:pPr algn="just">
              <a:lnSpc>
                <a:spcPct val="150000"/>
              </a:lnSpc>
            </a:pPr>
            <a:r>
              <a:rPr lang="en-US" sz="2800" dirty="0">
                <a:ea typeface="+mn-lt"/>
                <a:cs typeface="+mn-lt"/>
              </a:rPr>
              <a:t>Capital budgeting decisions are of paramount importance in financial decision. The profitability of a business concern depends upon the level of investment made for long period. Moreover, the investments are made properly through evaluating the proposals by capital budgeting. </a:t>
            </a:r>
          </a:p>
          <a:p>
            <a:pPr algn="just">
              <a:lnSpc>
                <a:spcPct val="150000"/>
              </a:lnSpc>
            </a:pPr>
            <a:r>
              <a:rPr lang="en-US" sz="2800" dirty="0">
                <a:ea typeface="+mn-lt"/>
                <a:cs typeface="+mn-lt"/>
              </a:rPr>
              <a:t>It deals exclusively with investment proposals, which an essentially </a:t>
            </a:r>
            <a:r>
              <a:rPr lang="en-US" sz="2800" dirty="0" smtClean="0">
                <a:ea typeface="+mn-lt"/>
                <a:cs typeface="+mn-lt"/>
              </a:rPr>
              <a:t>long  term </a:t>
            </a:r>
            <a:r>
              <a:rPr lang="en-US" sz="2800" dirty="0">
                <a:ea typeface="+mn-lt"/>
                <a:cs typeface="+mn-lt"/>
              </a:rPr>
              <a:t>projects and is concerned with the allocation of firm's scarce financial resources among the available market opportunities.</a:t>
            </a:r>
            <a:endParaRPr lang="en-US" sz="2800" dirty="0"/>
          </a:p>
        </p:txBody>
      </p:sp>
    </p:spTree>
    <p:extLst>
      <p:ext uri="{BB962C8B-B14F-4D97-AF65-F5344CB8AC3E}">
        <p14:creationId xmlns:p14="http://schemas.microsoft.com/office/powerpoint/2010/main" val="989986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6A2254-5D51-4C7D-B271-AACDAA33A91B}"/>
              </a:ext>
            </a:extLst>
          </p:cNvPr>
          <p:cNvSpPr>
            <a:spLocks noGrp="1"/>
          </p:cNvSpPr>
          <p:nvPr>
            <p:ph type="title"/>
          </p:nvPr>
        </p:nvSpPr>
        <p:spPr>
          <a:xfrm>
            <a:off x="677334" y="262218"/>
            <a:ext cx="8596668" cy="771712"/>
          </a:xfrm>
        </p:spPr>
        <p:txBody>
          <a:bodyPr>
            <a:normAutofit/>
          </a:bodyPr>
          <a:lstStyle/>
          <a:p>
            <a:r>
              <a:rPr lang="en-US" sz="4400" dirty="0"/>
              <a:t>Capital Budgeting</a:t>
            </a:r>
          </a:p>
        </p:txBody>
      </p:sp>
      <p:sp>
        <p:nvSpPr>
          <p:cNvPr id="3" name="Content Placeholder 2">
            <a:extLst>
              <a:ext uri="{FF2B5EF4-FFF2-40B4-BE49-F238E27FC236}">
                <a16:creationId xmlns="" xmlns:a16="http://schemas.microsoft.com/office/drawing/2014/main" id="{385AC94F-FD7A-4EFB-AD9E-EC3350E7A3FA}"/>
              </a:ext>
            </a:extLst>
          </p:cNvPr>
          <p:cNvSpPr>
            <a:spLocks noGrp="1"/>
          </p:cNvSpPr>
          <p:nvPr>
            <p:ph idx="1"/>
          </p:nvPr>
        </p:nvSpPr>
        <p:spPr>
          <a:xfrm>
            <a:off x="677334" y="1263396"/>
            <a:ext cx="10477086" cy="5171256"/>
          </a:xfrm>
        </p:spPr>
        <p:txBody>
          <a:bodyPr vert="horz" lIns="91440" tIns="45720" rIns="91440" bIns="45720" rtlCol="0" anchor="t">
            <a:noAutofit/>
          </a:bodyPr>
          <a:lstStyle/>
          <a:p>
            <a:pPr algn="just"/>
            <a:r>
              <a:rPr lang="en-US" sz="2800" dirty="0">
                <a:ea typeface="+mn-lt"/>
                <a:cs typeface="+mn-lt"/>
              </a:rPr>
              <a:t>The process through which different projects are evaluated is known as capital budgeting.</a:t>
            </a:r>
            <a:endParaRPr lang="en-US" sz="2800" dirty="0"/>
          </a:p>
          <a:p>
            <a:pPr algn="just"/>
            <a:r>
              <a:rPr lang="en-US" sz="2800" dirty="0">
                <a:ea typeface="+mn-lt"/>
                <a:cs typeface="+mn-lt"/>
              </a:rPr>
              <a:t>Capital budgeting is the firm’s formal process for the acquisition and investment of capital. It involves firm’s decisions to invest its current funds for addition, disposition, modification and replacement of fixed assets.</a:t>
            </a:r>
            <a:endParaRPr lang="en-US" sz="2800" dirty="0"/>
          </a:p>
          <a:p>
            <a:pPr algn="just"/>
            <a:r>
              <a:rPr lang="en-US" sz="2800" dirty="0" smtClean="0">
                <a:ea typeface="+mn-lt"/>
                <a:cs typeface="+mn-lt"/>
              </a:rPr>
              <a:t>“Capital budgeting is long term planning for making and financing proposed capital outlay”</a:t>
            </a:r>
            <a:r>
              <a:rPr lang="en-US" sz="2800" dirty="0">
                <a:ea typeface="+mn-lt"/>
                <a:cs typeface="+mn-lt"/>
              </a:rPr>
              <a:t>                                                                                                   </a:t>
            </a:r>
            <a:r>
              <a:rPr lang="en-US" sz="2800" b="1" dirty="0">
                <a:ea typeface="+mn-lt"/>
                <a:cs typeface="+mn-lt"/>
              </a:rPr>
              <a:t>Charles T </a:t>
            </a:r>
            <a:r>
              <a:rPr lang="en-US" sz="2800" b="1" dirty="0" err="1">
                <a:ea typeface="+mn-lt"/>
                <a:cs typeface="+mn-lt"/>
              </a:rPr>
              <a:t>Horngreen</a:t>
            </a:r>
            <a:r>
              <a:rPr lang="en-US" sz="2800" b="1" dirty="0">
                <a:ea typeface="+mn-lt"/>
                <a:cs typeface="+mn-lt"/>
              </a:rPr>
              <a:t>.</a:t>
            </a:r>
            <a:endParaRPr lang="en-US" sz="2800" b="1" dirty="0"/>
          </a:p>
        </p:txBody>
      </p:sp>
    </p:spTree>
    <p:extLst>
      <p:ext uri="{BB962C8B-B14F-4D97-AF65-F5344CB8AC3E}">
        <p14:creationId xmlns:p14="http://schemas.microsoft.com/office/powerpoint/2010/main" val="723596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2A8B2A-28B4-42EE-A595-75E1A0A74CDD}"/>
              </a:ext>
            </a:extLst>
          </p:cNvPr>
          <p:cNvSpPr>
            <a:spLocks noGrp="1"/>
          </p:cNvSpPr>
          <p:nvPr>
            <p:ph type="title"/>
          </p:nvPr>
        </p:nvSpPr>
        <p:spPr/>
        <p:txBody>
          <a:bodyPr/>
          <a:lstStyle/>
          <a:p>
            <a:r>
              <a:rPr lang="en-US" b="1">
                <a:ea typeface="+mj-lt"/>
                <a:cs typeface="+mj-lt"/>
              </a:rPr>
              <a:t>Capital Budgeting</a:t>
            </a:r>
            <a:endParaRPr lang="en-US"/>
          </a:p>
        </p:txBody>
      </p:sp>
      <p:sp>
        <p:nvSpPr>
          <p:cNvPr id="3" name="Content Placeholder 2">
            <a:extLst>
              <a:ext uri="{FF2B5EF4-FFF2-40B4-BE49-F238E27FC236}">
                <a16:creationId xmlns="" xmlns:a16="http://schemas.microsoft.com/office/drawing/2014/main" id="{67E8ABC3-137A-4EA1-9F86-29CB1A5879EA}"/>
              </a:ext>
            </a:extLst>
          </p:cNvPr>
          <p:cNvSpPr>
            <a:spLocks noGrp="1"/>
          </p:cNvSpPr>
          <p:nvPr>
            <p:ph idx="1"/>
          </p:nvPr>
        </p:nvSpPr>
        <p:spPr>
          <a:xfrm>
            <a:off x="363570" y="2177681"/>
            <a:ext cx="9481932" cy="4052204"/>
          </a:xfrm>
        </p:spPr>
        <p:txBody>
          <a:bodyPr vert="horz" lIns="91440" tIns="45720" rIns="91440" bIns="45720" rtlCol="0" anchor="t">
            <a:noAutofit/>
          </a:bodyPr>
          <a:lstStyle/>
          <a:p>
            <a:pPr algn="just"/>
            <a:r>
              <a:rPr lang="en-US" sz="2800" dirty="0" smtClean="0">
                <a:ea typeface="+mn-lt"/>
                <a:cs typeface="+mn-lt"/>
              </a:rPr>
              <a:t>"</a:t>
            </a:r>
            <a:r>
              <a:rPr lang="en-US" sz="2800" dirty="0">
                <a:ea typeface="+mn-lt"/>
                <a:cs typeface="+mn-lt"/>
              </a:rPr>
              <a:t>The decision making process by which a firm evaluates the  purchase of major fixed assets. It involves firm's decision to invest  its current funds for addition, disposition, modification and  replacement of fixed assets”. </a:t>
            </a:r>
            <a:endParaRPr lang="en-US" sz="2800" dirty="0"/>
          </a:p>
          <a:p>
            <a:pPr algn="just"/>
            <a:r>
              <a:rPr lang="en-US" sz="2800" dirty="0" smtClean="0">
                <a:highlight>
                  <a:srgbClr val="FFFF00"/>
                </a:highlight>
                <a:ea typeface="+mn-lt"/>
                <a:cs typeface="+mn-lt"/>
              </a:rPr>
              <a:t>“</a:t>
            </a:r>
            <a:r>
              <a:rPr lang="en-US" sz="2800" dirty="0">
                <a:highlight>
                  <a:srgbClr val="FFFF00"/>
                </a:highlight>
                <a:ea typeface="+mn-lt"/>
                <a:cs typeface="+mn-lt"/>
              </a:rPr>
              <a:t>Capital budgeting consists </a:t>
            </a:r>
            <a:r>
              <a:rPr lang="en-US" sz="2800" dirty="0" smtClean="0">
                <a:highlight>
                  <a:srgbClr val="FFFF00"/>
                </a:highlight>
                <a:ea typeface="+mn-lt"/>
                <a:cs typeface="+mn-lt"/>
              </a:rPr>
              <a:t>of planning and </a:t>
            </a:r>
            <a:r>
              <a:rPr lang="en-US" sz="2800" dirty="0">
                <a:highlight>
                  <a:srgbClr val="FFFF00"/>
                </a:highlight>
                <a:ea typeface="+mn-lt"/>
                <a:cs typeface="+mn-lt"/>
              </a:rPr>
              <a:t>development of available  capital for the purpose of maximizing the long term profitability of  the concern” – </a:t>
            </a:r>
            <a:r>
              <a:rPr lang="en-US" sz="2800" b="1" dirty="0">
                <a:highlight>
                  <a:srgbClr val="FFFF00"/>
                </a:highlight>
                <a:ea typeface="+mn-lt"/>
                <a:cs typeface="+mn-lt"/>
              </a:rPr>
              <a:t>Lynch </a:t>
            </a:r>
            <a:endParaRPr lang="en-US" sz="2800" b="1" dirty="0">
              <a:highlight>
                <a:srgbClr val="FFFF00"/>
              </a:highlight>
            </a:endParaRPr>
          </a:p>
          <a:p>
            <a:endParaRPr lang="en-US" dirty="0"/>
          </a:p>
        </p:txBody>
      </p:sp>
    </p:spTree>
    <p:extLst>
      <p:ext uri="{BB962C8B-B14F-4D97-AF65-F5344CB8AC3E}">
        <p14:creationId xmlns:p14="http://schemas.microsoft.com/office/powerpoint/2010/main" val="2771284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D8E02D-AA8A-48EC-B2CC-D762123C545E}"/>
              </a:ext>
            </a:extLst>
          </p:cNvPr>
          <p:cNvSpPr>
            <a:spLocks noGrp="1"/>
          </p:cNvSpPr>
          <p:nvPr>
            <p:ph type="title"/>
          </p:nvPr>
        </p:nvSpPr>
        <p:spPr/>
        <p:txBody>
          <a:bodyPr/>
          <a:lstStyle/>
          <a:p>
            <a:r>
              <a:rPr lang="en-US" b="1">
                <a:ea typeface="+mj-lt"/>
                <a:cs typeface="+mj-lt"/>
              </a:rPr>
              <a:t>Nature of Capital Budgeting</a:t>
            </a:r>
            <a:endParaRPr lang="en-US"/>
          </a:p>
        </p:txBody>
      </p:sp>
      <p:sp>
        <p:nvSpPr>
          <p:cNvPr id="3" name="Content Placeholder 2">
            <a:extLst>
              <a:ext uri="{FF2B5EF4-FFF2-40B4-BE49-F238E27FC236}">
                <a16:creationId xmlns="" xmlns:a16="http://schemas.microsoft.com/office/drawing/2014/main" id="{0EBA9556-33B0-4935-B4C4-F262E68439B4}"/>
              </a:ext>
            </a:extLst>
          </p:cNvPr>
          <p:cNvSpPr>
            <a:spLocks noGrp="1"/>
          </p:cNvSpPr>
          <p:nvPr>
            <p:ph idx="1"/>
          </p:nvPr>
        </p:nvSpPr>
        <p:spPr>
          <a:xfrm>
            <a:off x="408393" y="1521854"/>
            <a:ext cx="9358667" cy="4519508"/>
          </a:xfrm>
        </p:spPr>
        <p:txBody>
          <a:bodyPr vert="horz" lIns="91440" tIns="45720" rIns="91440" bIns="45720" rtlCol="0" anchor="t">
            <a:normAutofit/>
          </a:bodyPr>
          <a:lstStyle/>
          <a:p>
            <a:pPr algn="just"/>
            <a:r>
              <a:rPr lang="en-US" sz="2400" dirty="0" smtClean="0">
                <a:ea typeface="+mn-lt"/>
                <a:cs typeface="+mn-lt"/>
              </a:rPr>
              <a:t>Capital </a:t>
            </a:r>
            <a:r>
              <a:rPr lang="en-US" sz="2400" dirty="0">
                <a:ea typeface="+mn-lt"/>
                <a:cs typeface="+mn-lt"/>
              </a:rPr>
              <a:t>expenditure plans involve a huge investment in fixed assets. </a:t>
            </a:r>
            <a:endParaRPr lang="en-US" sz="2400" dirty="0"/>
          </a:p>
          <a:p>
            <a:pPr algn="just"/>
            <a:r>
              <a:rPr lang="en-US" sz="2400" dirty="0" smtClean="0">
                <a:ea typeface="+mn-lt"/>
                <a:cs typeface="+mn-lt"/>
              </a:rPr>
              <a:t>Capital </a:t>
            </a:r>
            <a:r>
              <a:rPr lang="en-US" sz="2400" dirty="0">
                <a:ea typeface="+mn-lt"/>
                <a:cs typeface="+mn-lt"/>
              </a:rPr>
              <a:t>expenditure once approved represents long-term investment  that cannot be </a:t>
            </a:r>
            <a:r>
              <a:rPr lang="en-US" sz="2400" dirty="0" smtClean="0">
                <a:ea typeface="+mn-lt"/>
                <a:cs typeface="+mn-lt"/>
              </a:rPr>
              <a:t>reversed </a:t>
            </a:r>
            <a:r>
              <a:rPr lang="en-US" sz="2400" dirty="0">
                <a:ea typeface="+mn-lt"/>
                <a:cs typeface="+mn-lt"/>
              </a:rPr>
              <a:t>or withdrawn without sustaining a loss. </a:t>
            </a:r>
            <a:endParaRPr lang="en-US" sz="2400" dirty="0"/>
          </a:p>
          <a:p>
            <a:pPr algn="just"/>
            <a:r>
              <a:rPr lang="en-US" sz="2400" dirty="0" smtClean="0">
                <a:ea typeface="+mn-lt"/>
                <a:cs typeface="+mn-lt"/>
              </a:rPr>
              <a:t>Preparation </a:t>
            </a:r>
            <a:r>
              <a:rPr lang="en-US" sz="2400" dirty="0">
                <a:ea typeface="+mn-lt"/>
                <a:cs typeface="+mn-lt"/>
              </a:rPr>
              <a:t>of capital budget plans involve forecasting of several  years profits in advance in order to judge the profitability of  projects. </a:t>
            </a:r>
          </a:p>
          <a:p>
            <a:pPr algn="just"/>
            <a:r>
              <a:rPr lang="en-US" sz="2400" dirty="0" smtClean="0">
                <a:ea typeface="+mn-lt"/>
                <a:cs typeface="+mn-lt"/>
              </a:rPr>
              <a:t>It </a:t>
            </a:r>
            <a:r>
              <a:rPr lang="en-US" sz="2400" dirty="0">
                <a:ea typeface="+mn-lt"/>
                <a:cs typeface="+mn-lt"/>
              </a:rPr>
              <a:t>may be asserted that ,decision regarding capital investment should  be taken very carefully so that the future plans of the company are  not affected adversely. </a:t>
            </a:r>
            <a:endParaRPr lang="en-US" sz="2400" dirty="0"/>
          </a:p>
          <a:p>
            <a:endParaRPr lang="en-US" dirty="0"/>
          </a:p>
        </p:txBody>
      </p:sp>
    </p:spTree>
    <p:extLst>
      <p:ext uri="{BB962C8B-B14F-4D97-AF65-F5344CB8AC3E}">
        <p14:creationId xmlns:p14="http://schemas.microsoft.com/office/powerpoint/2010/main" val="328934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9F837E-BD89-47D5-9464-642A65D8BC45}"/>
              </a:ext>
            </a:extLst>
          </p:cNvPr>
          <p:cNvSpPr>
            <a:spLocks noGrp="1"/>
          </p:cNvSpPr>
          <p:nvPr>
            <p:ph type="title"/>
          </p:nvPr>
        </p:nvSpPr>
        <p:spPr>
          <a:xfrm>
            <a:off x="677334" y="609600"/>
            <a:ext cx="9358667" cy="749300"/>
          </a:xfrm>
        </p:spPr>
        <p:txBody>
          <a:bodyPr/>
          <a:lstStyle/>
          <a:p>
            <a:r>
              <a:rPr lang="en-US" b="1">
                <a:ea typeface="+mj-lt"/>
                <a:cs typeface="+mj-lt"/>
              </a:rPr>
              <a:t>Need and Importance of Capital Budgeting</a:t>
            </a:r>
            <a:endParaRPr lang="en-US" dirty="0"/>
          </a:p>
        </p:txBody>
      </p:sp>
      <p:sp>
        <p:nvSpPr>
          <p:cNvPr id="3" name="Content Placeholder 2">
            <a:extLst>
              <a:ext uri="{FF2B5EF4-FFF2-40B4-BE49-F238E27FC236}">
                <a16:creationId xmlns="" xmlns:a16="http://schemas.microsoft.com/office/drawing/2014/main" id="{D9B816C2-782A-4941-A1FB-94288D51CFCA}"/>
              </a:ext>
            </a:extLst>
          </p:cNvPr>
          <p:cNvSpPr>
            <a:spLocks noGrp="1"/>
          </p:cNvSpPr>
          <p:nvPr>
            <p:ph idx="1"/>
          </p:nvPr>
        </p:nvSpPr>
        <p:spPr>
          <a:xfrm>
            <a:off x="374776" y="1364972"/>
            <a:ext cx="9874137" cy="4889301"/>
          </a:xfrm>
        </p:spPr>
        <p:txBody>
          <a:bodyPr vert="horz" lIns="91440" tIns="45720" rIns="91440" bIns="45720" rtlCol="0" anchor="t">
            <a:noAutofit/>
          </a:bodyPr>
          <a:lstStyle/>
          <a:p>
            <a:pPr algn="just"/>
            <a:r>
              <a:rPr lang="en-US" sz="2000">
                <a:ea typeface="+mn-lt"/>
                <a:cs typeface="+mn-lt"/>
              </a:rPr>
              <a:t>The  success  and  failure  of  business  mainly depends  on  how  the  available  resources  are being utilised. </a:t>
            </a:r>
            <a:endParaRPr lang="en-US" sz="2000"/>
          </a:p>
          <a:p>
            <a:pPr algn="just"/>
            <a:r>
              <a:rPr lang="en-US" sz="2000">
                <a:ea typeface="+mn-lt"/>
                <a:cs typeface="+mn-lt"/>
              </a:rPr>
              <a:t>Main tool of financial management.</a:t>
            </a:r>
            <a:endParaRPr lang="en-US" sz="2000"/>
          </a:p>
          <a:p>
            <a:pPr algn="just"/>
            <a:r>
              <a:rPr lang="en-US" sz="2000"/>
              <a:t>All types of</a:t>
            </a:r>
            <a:r>
              <a:rPr lang="en-US" sz="2000">
                <a:ea typeface="+mn-lt"/>
                <a:cs typeface="+mn-lt"/>
              </a:rPr>
              <a:t> capital budgeting  decisions  are  exposed  to  risk and uncertainty.</a:t>
            </a:r>
          </a:p>
          <a:p>
            <a:pPr algn="just"/>
            <a:r>
              <a:rPr lang="en-US" sz="2000">
                <a:ea typeface="+mn-lt"/>
                <a:cs typeface="+mn-lt"/>
              </a:rPr>
              <a:t>They are irreversible in nature.</a:t>
            </a:r>
            <a:endParaRPr lang="en-US" sz="2000"/>
          </a:p>
          <a:p>
            <a:pPr algn="just"/>
            <a:r>
              <a:rPr lang="en-US" sz="2000">
                <a:ea typeface="+mn-lt"/>
                <a:cs typeface="+mn-lt"/>
              </a:rPr>
              <a:t>Capital rationing gives sufficient scope for the financial manager to  evaluate different proposals and only viable project must be taken up for investment.</a:t>
            </a:r>
            <a:endParaRPr lang="en-US" sz="2000"/>
          </a:p>
          <a:p>
            <a:pPr algn="just"/>
            <a:r>
              <a:rPr lang="en-US" sz="2000">
                <a:ea typeface="+mn-lt"/>
                <a:cs typeface="+mn-lt"/>
              </a:rPr>
              <a:t>Capital  Budgeting  offers  effective  control  on  cost  of  capital expenditure projects. </a:t>
            </a:r>
            <a:endParaRPr lang="en-US" sz="2000"/>
          </a:p>
          <a:p>
            <a:pPr algn="just"/>
            <a:r>
              <a:rPr lang="en-US" sz="2000">
                <a:ea typeface="+mn-lt"/>
                <a:cs typeface="+mn-lt"/>
              </a:rPr>
              <a:t>It  helps  the  management  to  avoid  over  investment  and  under  investments. </a:t>
            </a:r>
            <a:endParaRPr lang="en-US" sz="2000"/>
          </a:p>
          <a:p>
            <a:endParaRPr lang="en-US" dirty="0"/>
          </a:p>
          <a:p>
            <a:endParaRPr lang="en-US" dirty="0"/>
          </a:p>
        </p:txBody>
      </p:sp>
    </p:spTree>
    <p:extLst>
      <p:ext uri="{BB962C8B-B14F-4D97-AF65-F5344CB8AC3E}">
        <p14:creationId xmlns:p14="http://schemas.microsoft.com/office/powerpoint/2010/main" val="532309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460461-9687-4843-AC10-7E29A0C08602}"/>
              </a:ext>
            </a:extLst>
          </p:cNvPr>
          <p:cNvSpPr>
            <a:spLocks noGrp="1"/>
          </p:cNvSpPr>
          <p:nvPr>
            <p:ph type="title"/>
          </p:nvPr>
        </p:nvSpPr>
        <p:spPr>
          <a:xfrm>
            <a:off x="677334" y="329453"/>
            <a:ext cx="8596668" cy="816536"/>
          </a:xfrm>
        </p:spPr>
        <p:txBody>
          <a:bodyPr>
            <a:normAutofit/>
          </a:bodyPr>
          <a:lstStyle/>
          <a:p>
            <a:r>
              <a:rPr lang="en-US" sz="4000" b="1"/>
              <a:t>Capital Budgeting-Process</a:t>
            </a:r>
            <a:endParaRPr lang="en-US" sz="4000" b="1" dirty="0"/>
          </a:p>
        </p:txBody>
      </p:sp>
      <p:sp>
        <p:nvSpPr>
          <p:cNvPr id="3" name="Content Placeholder 2">
            <a:extLst>
              <a:ext uri="{FF2B5EF4-FFF2-40B4-BE49-F238E27FC236}">
                <a16:creationId xmlns="" xmlns:a16="http://schemas.microsoft.com/office/drawing/2014/main" id="{E92BB5FE-5D20-4B7E-AB79-670A1E9F1BB7}"/>
              </a:ext>
            </a:extLst>
          </p:cNvPr>
          <p:cNvSpPr>
            <a:spLocks noGrp="1"/>
          </p:cNvSpPr>
          <p:nvPr>
            <p:ph idx="1"/>
          </p:nvPr>
        </p:nvSpPr>
        <p:spPr>
          <a:xfrm>
            <a:off x="677334" y="1028796"/>
            <a:ext cx="9493137" cy="5606476"/>
          </a:xfrm>
        </p:spPr>
        <p:txBody>
          <a:bodyPr vert="horz" lIns="91440" tIns="45720" rIns="91440" bIns="45720" rtlCol="0" anchor="t">
            <a:noAutofit/>
          </a:bodyPr>
          <a:lstStyle/>
          <a:p>
            <a:pPr algn="just"/>
            <a:r>
              <a:rPr lang="en-US" sz="2400" b="1">
                <a:ea typeface="+mn-lt"/>
                <a:cs typeface="+mn-lt"/>
              </a:rPr>
              <a:t>Initiating, </a:t>
            </a:r>
            <a:r>
              <a:rPr lang="en-US" sz="2400">
                <a:ea typeface="+mn-lt"/>
                <a:cs typeface="+mn-lt"/>
              </a:rPr>
              <a:t>generating and gathering investments ideas. </a:t>
            </a:r>
            <a:endParaRPr lang="en-US" sz="2400"/>
          </a:p>
          <a:p>
            <a:pPr algn="just"/>
            <a:r>
              <a:rPr lang="en-US" sz="2400" b="1">
                <a:ea typeface="+mn-lt"/>
                <a:cs typeface="+mn-lt"/>
              </a:rPr>
              <a:t>Analyzing </a:t>
            </a:r>
            <a:r>
              <a:rPr lang="en-US" sz="2400">
                <a:ea typeface="+mn-lt"/>
                <a:cs typeface="+mn-lt"/>
              </a:rPr>
              <a:t>the costs and benefits for proposed investments by: </a:t>
            </a:r>
            <a:endParaRPr lang="en-US" sz="2400"/>
          </a:p>
          <a:p>
            <a:pPr marL="0" indent="0" algn="just">
              <a:buNone/>
            </a:pPr>
            <a:r>
              <a:rPr lang="en-US" sz="2400">
                <a:ea typeface="+mn-lt"/>
                <a:cs typeface="+mn-lt"/>
              </a:rPr>
              <a:t>      –</a:t>
            </a:r>
            <a:r>
              <a:rPr lang="en-US" sz="2400" i="1">
                <a:ea typeface="+mn-lt"/>
                <a:cs typeface="+mn-lt"/>
              </a:rPr>
              <a:t>Forecasting </a:t>
            </a:r>
            <a:r>
              <a:rPr lang="en-US" sz="2400">
                <a:ea typeface="+mn-lt"/>
                <a:cs typeface="+mn-lt"/>
              </a:rPr>
              <a:t>costs and benefits for each investment. </a:t>
            </a:r>
          </a:p>
          <a:p>
            <a:pPr marL="0" indent="0" algn="just">
              <a:buNone/>
            </a:pPr>
            <a:r>
              <a:rPr lang="en-US" sz="2400">
                <a:ea typeface="+mn-lt"/>
                <a:cs typeface="+mn-lt"/>
              </a:rPr>
              <a:t>     –</a:t>
            </a:r>
            <a:r>
              <a:rPr lang="en-US" sz="2400" i="1">
                <a:ea typeface="+mn-lt"/>
                <a:cs typeface="+mn-lt"/>
              </a:rPr>
              <a:t>Evaluating </a:t>
            </a:r>
            <a:r>
              <a:rPr lang="en-US" sz="2400">
                <a:ea typeface="+mn-lt"/>
                <a:cs typeface="+mn-lt"/>
              </a:rPr>
              <a:t>the costs and benefits based on </a:t>
            </a:r>
            <a:r>
              <a:rPr lang="en-US" sz="2400" b="1">
                <a:ea typeface="+mn-lt"/>
                <a:cs typeface="+mn-lt"/>
              </a:rPr>
              <a:t>CB </a:t>
            </a:r>
            <a:r>
              <a:rPr lang="en-US" sz="2400">
                <a:ea typeface="+mn-lt"/>
                <a:cs typeface="+mn-lt"/>
              </a:rPr>
              <a:t>techniques. </a:t>
            </a:r>
            <a:endParaRPr lang="en-US" sz="2400"/>
          </a:p>
          <a:p>
            <a:pPr algn="just"/>
            <a:r>
              <a:rPr lang="en-US" sz="2400" b="1">
                <a:ea typeface="+mn-lt"/>
                <a:cs typeface="+mn-lt"/>
              </a:rPr>
              <a:t>Ranking </a:t>
            </a:r>
            <a:r>
              <a:rPr lang="en-US" sz="2400">
                <a:ea typeface="+mn-lt"/>
                <a:cs typeface="+mn-lt"/>
              </a:rPr>
              <a:t>the relative superiority of each investment alternative  based on financial performance worked out and choosing the best  investment opportunity from the given set of opportunities. </a:t>
            </a:r>
            <a:endParaRPr lang="en-US" sz="2400"/>
          </a:p>
          <a:p>
            <a:pPr algn="just"/>
            <a:r>
              <a:rPr lang="en-US" sz="2400" b="1">
                <a:ea typeface="+mn-lt"/>
                <a:cs typeface="+mn-lt"/>
              </a:rPr>
              <a:t>Implementing </a:t>
            </a:r>
            <a:r>
              <a:rPr lang="en-US" sz="2400">
                <a:ea typeface="+mn-lt"/>
                <a:cs typeface="+mn-lt"/>
              </a:rPr>
              <a:t>the investment alternative chosen. </a:t>
            </a:r>
            <a:endParaRPr lang="en-US" sz="2400"/>
          </a:p>
          <a:p>
            <a:pPr algn="just"/>
            <a:r>
              <a:rPr lang="en-US" sz="2400" b="1">
                <a:ea typeface="+mn-lt"/>
                <a:cs typeface="+mn-lt"/>
              </a:rPr>
              <a:t>Monitoring &amp; making follow-up </a:t>
            </a:r>
            <a:r>
              <a:rPr lang="en-US" sz="2400">
                <a:ea typeface="+mn-lt"/>
                <a:cs typeface="+mn-lt"/>
              </a:rPr>
              <a:t>on the investment made  on  regular basis to see how far this investment opportunity has been  effective in the given framework of the company to achieve its  desired objectives. </a:t>
            </a:r>
            <a:endParaRPr lang="en-US" sz="2400"/>
          </a:p>
          <a:p>
            <a:endParaRPr lang="en-US" dirty="0"/>
          </a:p>
        </p:txBody>
      </p:sp>
    </p:spTree>
    <p:extLst>
      <p:ext uri="{BB962C8B-B14F-4D97-AF65-F5344CB8AC3E}">
        <p14:creationId xmlns:p14="http://schemas.microsoft.com/office/powerpoint/2010/main" val="179010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49523B-C609-4155-BD18-F0957047E42C}"/>
              </a:ext>
            </a:extLst>
          </p:cNvPr>
          <p:cNvSpPr>
            <a:spLocks noGrp="1"/>
          </p:cNvSpPr>
          <p:nvPr>
            <p:ph type="title"/>
          </p:nvPr>
        </p:nvSpPr>
        <p:spPr>
          <a:xfrm>
            <a:off x="677334" y="251012"/>
            <a:ext cx="8596668" cy="850153"/>
          </a:xfrm>
        </p:spPr>
        <p:txBody>
          <a:bodyPr>
            <a:normAutofit/>
          </a:bodyPr>
          <a:lstStyle/>
          <a:p>
            <a:r>
              <a:rPr lang="en-US" sz="4000" b="1"/>
              <a:t>Need for Capital Budgeting</a:t>
            </a:r>
          </a:p>
        </p:txBody>
      </p:sp>
      <p:sp>
        <p:nvSpPr>
          <p:cNvPr id="3" name="Content Placeholder 2">
            <a:extLst>
              <a:ext uri="{FF2B5EF4-FFF2-40B4-BE49-F238E27FC236}">
                <a16:creationId xmlns="" xmlns:a16="http://schemas.microsoft.com/office/drawing/2014/main" id="{EA851195-0F6D-467A-93AB-2972909C48E1}"/>
              </a:ext>
            </a:extLst>
          </p:cNvPr>
          <p:cNvSpPr>
            <a:spLocks noGrp="1"/>
          </p:cNvSpPr>
          <p:nvPr>
            <p:ph idx="1"/>
          </p:nvPr>
        </p:nvSpPr>
        <p:spPr>
          <a:xfrm>
            <a:off x="374776" y="1185678"/>
            <a:ext cx="9784489" cy="4855684"/>
          </a:xfrm>
        </p:spPr>
        <p:txBody>
          <a:bodyPr vert="horz" lIns="91440" tIns="45720" rIns="91440" bIns="45720" rtlCol="0" anchor="t">
            <a:normAutofit lnSpcReduction="10000"/>
          </a:bodyPr>
          <a:lstStyle/>
          <a:p>
            <a:pPr algn="just">
              <a:lnSpc>
                <a:spcPct val="150000"/>
              </a:lnSpc>
            </a:pPr>
            <a:r>
              <a:rPr lang="en-US" sz="2400">
                <a:ea typeface="+mn-lt"/>
                <a:cs typeface="+mn-lt"/>
              </a:rPr>
              <a:t>As large sum of money is involved which influences the profitability of the firm  making capital budgeting an important task. </a:t>
            </a:r>
            <a:endParaRPr lang="en-US" sz="2400"/>
          </a:p>
          <a:p>
            <a:pPr algn="just">
              <a:lnSpc>
                <a:spcPct val="150000"/>
              </a:lnSpc>
            </a:pPr>
            <a:r>
              <a:rPr lang="en-US" sz="2400">
                <a:ea typeface="+mn-lt"/>
                <a:cs typeface="+mn-lt"/>
              </a:rPr>
              <a:t>Long term investment once made cannot be reversed without significant loss of  invested capital. The investment becomes sunk, and mistakes, rather than being  readily rectified, must often be borne until the firm can be withdrawn through  depreciation charges or liquidation. It influences the whole conduct of the  business for the years to come. </a:t>
            </a:r>
            <a:endParaRPr lang="en-US" sz="2400"/>
          </a:p>
          <a:p>
            <a:endParaRPr lang="en-US" dirty="0"/>
          </a:p>
        </p:txBody>
      </p:sp>
    </p:spTree>
    <p:extLst>
      <p:ext uri="{BB962C8B-B14F-4D97-AF65-F5344CB8AC3E}">
        <p14:creationId xmlns:p14="http://schemas.microsoft.com/office/powerpoint/2010/main" val="2879284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09471E-0F9D-4253-BC1B-4EF1AC9706E2}"/>
              </a:ext>
            </a:extLst>
          </p:cNvPr>
          <p:cNvSpPr>
            <a:spLocks noGrp="1"/>
          </p:cNvSpPr>
          <p:nvPr>
            <p:ph type="title"/>
          </p:nvPr>
        </p:nvSpPr>
        <p:spPr>
          <a:xfrm>
            <a:off x="677334" y="228600"/>
            <a:ext cx="8596668" cy="906183"/>
          </a:xfrm>
        </p:spPr>
        <p:txBody>
          <a:bodyPr/>
          <a:lstStyle/>
          <a:p>
            <a:r>
              <a:rPr lang="en-US" b="1">
                <a:ea typeface="+mj-lt"/>
                <a:cs typeface="+mj-lt"/>
              </a:rPr>
              <a:t>Need for Capital Budgeting</a:t>
            </a:r>
            <a:endParaRPr lang="en-US"/>
          </a:p>
        </p:txBody>
      </p:sp>
      <p:sp>
        <p:nvSpPr>
          <p:cNvPr id="3" name="Content Placeholder 2">
            <a:extLst>
              <a:ext uri="{FF2B5EF4-FFF2-40B4-BE49-F238E27FC236}">
                <a16:creationId xmlns="" xmlns:a16="http://schemas.microsoft.com/office/drawing/2014/main" id="{85A685A3-6FAA-4CD3-93AA-463B1B2A1F2F}"/>
              </a:ext>
            </a:extLst>
          </p:cNvPr>
          <p:cNvSpPr>
            <a:spLocks noGrp="1"/>
          </p:cNvSpPr>
          <p:nvPr>
            <p:ph idx="1"/>
          </p:nvPr>
        </p:nvSpPr>
        <p:spPr>
          <a:xfrm>
            <a:off x="677334" y="1443413"/>
            <a:ext cx="9224196" cy="4878096"/>
          </a:xfrm>
        </p:spPr>
        <p:txBody>
          <a:bodyPr vert="horz" lIns="91440" tIns="45720" rIns="91440" bIns="45720" rtlCol="0" anchor="t">
            <a:normAutofit lnSpcReduction="10000"/>
          </a:bodyPr>
          <a:lstStyle/>
          <a:p>
            <a:pPr algn="just">
              <a:lnSpc>
                <a:spcPct val="150000"/>
              </a:lnSpc>
            </a:pPr>
            <a:r>
              <a:rPr lang="en-US" sz="2400">
                <a:ea typeface="+mn-lt"/>
                <a:cs typeface="+mn-lt"/>
              </a:rPr>
              <a:t>Investment decision are the based on which the profit will be earned and probably  measured through the return on the capital. A proper mix of capital investment is  quite important to ensure adequate rate of return on investment, calling for the  need of capital budgeting. </a:t>
            </a:r>
            <a:endParaRPr lang="en-US" sz="2400"/>
          </a:p>
          <a:p>
            <a:pPr algn="just">
              <a:lnSpc>
                <a:spcPct val="150000"/>
              </a:lnSpc>
            </a:pPr>
            <a:r>
              <a:rPr lang="en-US" sz="2400">
                <a:ea typeface="+mn-lt"/>
                <a:cs typeface="+mn-lt"/>
              </a:rPr>
              <a:t>The Implication of long term investment decision are more extensive than those  of short run decision because of time factor involved, capital budgeting decision  are subject to the higher degree of risk and uncertainty than short run decision. </a:t>
            </a:r>
            <a:endParaRPr lang="en-US" sz="2400"/>
          </a:p>
          <a:p>
            <a:endParaRPr lang="en-US" dirty="0"/>
          </a:p>
        </p:txBody>
      </p:sp>
    </p:spTree>
    <p:extLst>
      <p:ext uri="{BB962C8B-B14F-4D97-AF65-F5344CB8AC3E}">
        <p14:creationId xmlns:p14="http://schemas.microsoft.com/office/powerpoint/2010/main" val="2322114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64CF93-4A92-4407-81BF-660816473CFF}"/>
              </a:ext>
            </a:extLst>
          </p:cNvPr>
          <p:cNvSpPr>
            <a:spLocks noGrp="1"/>
          </p:cNvSpPr>
          <p:nvPr>
            <p:ph type="title"/>
          </p:nvPr>
        </p:nvSpPr>
        <p:spPr/>
        <p:txBody>
          <a:bodyPr>
            <a:normAutofit/>
          </a:bodyPr>
          <a:lstStyle/>
          <a:p>
            <a:r>
              <a:rPr lang="en-US" sz="4000" b="1"/>
              <a:t>Capital budgeting Techniques</a:t>
            </a:r>
          </a:p>
        </p:txBody>
      </p:sp>
      <p:sp>
        <p:nvSpPr>
          <p:cNvPr id="3" name="Content Placeholder 2">
            <a:extLst>
              <a:ext uri="{FF2B5EF4-FFF2-40B4-BE49-F238E27FC236}">
                <a16:creationId xmlns="" xmlns:a16="http://schemas.microsoft.com/office/drawing/2014/main" id="{5EFE3E7E-17B0-49E1-B8C2-5F60E1FE2324}"/>
              </a:ext>
            </a:extLst>
          </p:cNvPr>
          <p:cNvSpPr>
            <a:spLocks noGrp="1"/>
          </p:cNvSpPr>
          <p:nvPr>
            <p:ph idx="1"/>
          </p:nvPr>
        </p:nvSpPr>
        <p:spPr>
          <a:xfrm>
            <a:off x="318746" y="1376178"/>
            <a:ext cx="10232726" cy="4967742"/>
          </a:xfrm>
        </p:spPr>
        <p:txBody>
          <a:bodyPr vert="horz" lIns="91440" tIns="45720" rIns="91440" bIns="45720" rtlCol="0" anchor="t">
            <a:normAutofit/>
          </a:bodyPr>
          <a:lstStyle/>
          <a:p>
            <a:pPr algn="just">
              <a:lnSpc>
                <a:spcPct val="150000"/>
              </a:lnSpc>
            </a:pPr>
            <a:r>
              <a:rPr lang="en-US" sz="2000">
                <a:ea typeface="+mn-lt"/>
                <a:cs typeface="+mn-lt"/>
              </a:rPr>
              <a:t>The capital budgeting appraisal methods are techniques of evaluation of investment proposal will help the company to decide upon the desirability of an investment proposal depending upon their; relative income generating capacity and rank them in order of their desirability. These methods provide the company a set of norms on the basis of which either it has to accept or reject the investment proposal. The most widely accepted techniques used in estimating the cost-returns of investment projects can be grouped under two categories.</a:t>
            </a:r>
            <a:endParaRPr lang="en-US" sz="2000"/>
          </a:p>
          <a:p>
            <a:pPr marL="0" indent="0" algn="just">
              <a:lnSpc>
                <a:spcPct val="150000"/>
              </a:lnSpc>
              <a:buNone/>
            </a:pPr>
            <a:r>
              <a:rPr lang="en-US" sz="2000">
                <a:ea typeface="+mn-lt"/>
                <a:cs typeface="+mn-lt"/>
              </a:rPr>
              <a:t>1. Traditional methods</a:t>
            </a:r>
            <a:endParaRPr lang="en-US" sz="2000"/>
          </a:p>
          <a:p>
            <a:pPr marL="0" indent="0" algn="just">
              <a:lnSpc>
                <a:spcPct val="150000"/>
              </a:lnSpc>
              <a:buNone/>
            </a:pPr>
            <a:r>
              <a:rPr lang="en-US" sz="2000">
                <a:ea typeface="+mn-lt"/>
                <a:cs typeface="+mn-lt"/>
              </a:rPr>
              <a:t>2. Discounted Cash flow methods</a:t>
            </a:r>
            <a:endParaRPr lang="en-US" sz="2000"/>
          </a:p>
        </p:txBody>
      </p:sp>
    </p:spTree>
    <p:extLst>
      <p:ext uri="{BB962C8B-B14F-4D97-AF65-F5344CB8AC3E}">
        <p14:creationId xmlns:p14="http://schemas.microsoft.com/office/powerpoint/2010/main" val="2703805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FC90F2-D268-4D82-A5AD-D16F1BF3FFD9}"/>
              </a:ext>
            </a:extLst>
          </p:cNvPr>
          <p:cNvSpPr>
            <a:spLocks noGrp="1"/>
          </p:cNvSpPr>
          <p:nvPr>
            <p:ph type="title"/>
          </p:nvPr>
        </p:nvSpPr>
        <p:spPr>
          <a:xfrm>
            <a:off x="677334" y="329453"/>
            <a:ext cx="8596668" cy="939800"/>
          </a:xfrm>
        </p:spPr>
        <p:txBody>
          <a:bodyPr>
            <a:normAutofit fontScale="90000"/>
          </a:bodyPr>
          <a:lstStyle/>
          <a:p>
            <a:r>
              <a:rPr lang="en-US" b="1">
                <a:ea typeface="+mj-lt"/>
                <a:cs typeface="+mj-lt"/>
              </a:rPr>
              <a:t>Capital budgeting Techniques</a:t>
            </a:r>
            <a:r>
              <a:rPr lang="en-US" b="1" dirty="0">
                <a:ea typeface="+mj-lt"/>
                <a:cs typeface="+mj-lt"/>
              </a:rPr>
              <a:t/>
            </a:r>
            <a:br>
              <a:rPr lang="en-US" b="1" dirty="0">
                <a:ea typeface="+mj-lt"/>
                <a:cs typeface="+mj-lt"/>
              </a:rPr>
            </a:br>
            <a:r>
              <a:rPr lang="en-US" b="1">
                <a:ea typeface="+mj-lt"/>
                <a:cs typeface="+mj-lt"/>
              </a:rPr>
              <a:t>Traditional Methods</a:t>
            </a:r>
            <a:endParaRPr lang="en-US">
              <a:ea typeface="+mj-lt"/>
              <a:cs typeface="+mj-lt"/>
            </a:endParaRPr>
          </a:p>
          <a:p>
            <a:endParaRPr lang="en-US" dirty="0"/>
          </a:p>
        </p:txBody>
      </p:sp>
      <p:sp>
        <p:nvSpPr>
          <p:cNvPr id="3" name="Content Placeholder 2">
            <a:extLst>
              <a:ext uri="{FF2B5EF4-FFF2-40B4-BE49-F238E27FC236}">
                <a16:creationId xmlns="" xmlns:a16="http://schemas.microsoft.com/office/drawing/2014/main" id="{483A4DCF-A411-4C47-A650-D09AAE0E0794}"/>
              </a:ext>
            </a:extLst>
          </p:cNvPr>
          <p:cNvSpPr>
            <a:spLocks noGrp="1"/>
          </p:cNvSpPr>
          <p:nvPr>
            <p:ph idx="1"/>
          </p:nvPr>
        </p:nvSpPr>
        <p:spPr>
          <a:xfrm>
            <a:off x="677334" y="1432207"/>
            <a:ext cx="8596668" cy="4609155"/>
          </a:xfrm>
        </p:spPr>
        <p:txBody>
          <a:bodyPr vert="horz" lIns="91440" tIns="45720" rIns="91440" bIns="45720" rtlCol="0" anchor="t">
            <a:normAutofit/>
          </a:bodyPr>
          <a:lstStyle/>
          <a:p>
            <a:pPr algn="just">
              <a:lnSpc>
                <a:spcPct val="150000"/>
              </a:lnSpc>
            </a:pPr>
            <a:r>
              <a:rPr lang="en-US" sz="2400">
                <a:ea typeface="+mn-lt"/>
                <a:cs typeface="+mn-lt"/>
              </a:rPr>
              <a:t>These methods are based on the principles to determine the desirability of an investment project on the basis of its useful life and expected returns. These method depend upon the accounting information available from the books of accounts of the company. These will not take into account the concept of ‘time value of money’, which is a significant factor to determine the desirability of a project in terms of present value</a:t>
            </a:r>
            <a:r>
              <a:rPr lang="en-US" sz="2400" dirty="0">
                <a:ea typeface="+mn-lt"/>
                <a:cs typeface="+mn-lt"/>
              </a:rPr>
              <a:t>.</a:t>
            </a:r>
            <a:endParaRPr lang="en-US" sz="2400"/>
          </a:p>
        </p:txBody>
      </p:sp>
    </p:spTree>
    <p:extLst>
      <p:ext uri="{BB962C8B-B14F-4D97-AF65-F5344CB8AC3E}">
        <p14:creationId xmlns:p14="http://schemas.microsoft.com/office/powerpoint/2010/main" val="276519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C3D952-B0E1-4A4E-9DCA-C0A33AAF069C}"/>
              </a:ext>
            </a:extLst>
          </p:cNvPr>
          <p:cNvSpPr>
            <a:spLocks noGrp="1"/>
          </p:cNvSpPr>
          <p:nvPr>
            <p:ph type="title"/>
          </p:nvPr>
        </p:nvSpPr>
        <p:spPr/>
        <p:txBody>
          <a:bodyPr>
            <a:normAutofit/>
          </a:bodyPr>
          <a:lstStyle/>
          <a:p>
            <a:r>
              <a:rPr lang="en-US" sz="4000" b="1"/>
              <a:t>Traditional Methods</a:t>
            </a:r>
          </a:p>
        </p:txBody>
      </p:sp>
      <p:sp>
        <p:nvSpPr>
          <p:cNvPr id="3" name="Content Placeholder 2">
            <a:extLst>
              <a:ext uri="{FF2B5EF4-FFF2-40B4-BE49-F238E27FC236}">
                <a16:creationId xmlns="" xmlns:a16="http://schemas.microsoft.com/office/drawing/2014/main" id="{3E7BC8D2-C5F7-4EB6-8B2B-A512DCB4BFA4}"/>
              </a:ext>
            </a:extLst>
          </p:cNvPr>
          <p:cNvSpPr>
            <a:spLocks noGrp="1"/>
          </p:cNvSpPr>
          <p:nvPr>
            <p:ph idx="1"/>
          </p:nvPr>
        </p:nvSpPr>
        <p:spPr>
          <a:xfrm>
            <a:off x="677334" y="2160589"/>
            <a:ext cx="8955256" cy="3880773"/>
          </a:xfrm>
        </p:spPr>
        <p:txBody>
          <a:bodyPr vert="horz" lIns="91440" tIns="45720" rIns="91440" bIns="45720" rtlCol="0" anchor="t">
            <a:normAutofit/>
          </a:bodyPr>
          <a:lstStyle/>
          <a:p>
            <a:pPr marL="0" indent="0">
              <a:lnSpc>
                <a:spcPct val="200000"/>
              </a:lnSpc>
              <a:buNone/>
            </a:pPr>
            <a:r>
              <a:rPr lang="en-US" sz="2800" dirty="0"/>
              <a:t>1. Payback Period Method(PB)</a:t>
            </a:r>
          </a:p>
          <a:p>
            <a:pPr marL="0" indent="0">
              <a:lnSpc>
                <a:spcPct val="200000"/>
              </a:lnSpc>
              <a:buNone/>
            </a:pPr>
            <a:r>
              <a:rPr lang="en-US" sz="2800" dirty="0" smtClean="0"/>
              <a:t>2. Accounting </a:t>
            </a:r>
            <a:r>
              <a:rPr lang="en-US" sz="2800" dirty="0"/>
              <a:t>or Average  Rate of Return Method(ARR)</a:t>
            </a:r>
          </a:p>
        </p:txBody>
      </p:sp>
    </p:spTree>
    <p:extLst>
      <p:ext uri="{BB962C8B-B14F-4D97-AF65-F5344CB8AC3E}">
        <p14:creationId xmlns:p14="http://schemas.microsoft.com/office/powerpoint/2010/main" val="1801696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1D592A-9C3D-4D7B-B33F-F890D071B466}"/>
              </a:ext>
            </a:extLst>
          </p:cNvPr>
          <p:cNvSpPr>
            <a:spLocks noGrp="1"/>
          </p:cNvSpPr>
          <p:nvPr>
            <p:ph type="title"/>
          </p:nvPr>
        </p:nvSpPr>
        <p:spPr>
          <a:xfrm>
            <a:off x="677334" y="318248"/>
            <a:ext cx="8596668" cy="738094"/>
          </a:xfrm>
        </p:spPr>
        <p:txBody>
          <a:bodyPr>
            <a:normAutofit fontScale="90000"/>
          </a:bodyPr>
          <a:lstStyle/>
          <a:p>
            <a:r>
              <a:rPr lang="en-US" sz="4000" b="1">
                <a:ea typeface="+mj-lt"/>
                <a:cs typeface="+mj-lt"/>
              </a:rPr>
              <a:t>Traditional Methods</a:t>
            </a:r>
            <a:r>
              <a:rPr lang="en-US" sz="4000" b="1" dirty="0">
                <a:ea typeface="+mj-lt"/>
                <a:cs typeface="+mj-lt"/>
              </a:rPr>
              <a:t/>
            </a:r>
            <a:br>
              <a:rPr lang="en-US" sz="4000" b="1" dirty="0">
                <a:ea typeface="+mj-lt"/>
                <a:cs typeface="+mj-lt"/>
              </a:rPr>
            </a:br>
            <a:endParaRPr lang="en-US" sz="4000" b="1">
              <a:ea typeface="+mj-lt"/>
              <a:cs typeface="+mj-lt"/>
            </a:endParaRPr>
          </a:p>
          <a:p>
            <a:endParaRPr lang="en-US" sz="4000" dirty="0"/>
          </a:p>
        </p:txBody>
      </p:sp>
      <p:sp>
        <p:nvSpPr>
          <p:cNvPr id="3" name="Content Placeholder 2">
            <a:extLst>
              <a:ext uri="{FF2B5EF4-FFF2-40B4-BE49-F238E27FC236}">
                <a16:creationId xmlns="" xmlns:a16="http://schemas.microsoft.com/office/drawing/2014/main" id="{4DA632D4-F60B-4005-95F3-50DABB7597B1}"/>
              </a:ext>
            </a:extLst>
          </p:cNvPr>
          <p:cNvSpPr>
            <a:spLocks noGrp="1"/>
          </p:cNvSpPr>
          <p:nvPr>
            <p:ph idx="1"/>
          </p:nvPr>
        </p:nvSpPr>
        <p:spPr>
          <a:xfrm>
            <a:off x="621305" y="849502"/>
            <a:ext cx="9997402" cy="5696123"/>
          </a:xfrm>
        </p:spPr>
        <p:txBody>
          <a:bodyPr vert="horz" lIns="91440" tIns="45720" rIns="91440" bIns="45720" rtlCol="0" anchor="t">
            <a:normAutofit fontScale="92500"/>
          </a:bodyPr>
          <a:lstStyle/>
          <a:p>
            <a:pPr marL="0" indent="0">
              <a:buNone/>
            </a:pPr>
            <a:r>
              <a:rPr lang="en-US" sz="2400" b="1" dirty="0"/>
              <a:t>Payback Period Method</a:t>
            </a:r>
          </a:p>
          <a:p>
            <a:pPr>
              <a:lnSpc>
                <a:spcPct val="110000"/>
              </a:lnSpc>
              <a:buNone/>
            </a:pPr>
            <a:r>
              <a:rPr lang="en-US" sz="2400" dirty="0">
                <a:ea typeface="+mn-lt"/>
                <a:cs typeface="+mn-lt"/>
              </a:rPr>
              <a:t>    It is the most popular and widely recognized traditional method of evaluation the investment proposals. It can be defined, as ‘the number of years required to recover the original cash out lay invested in a project’.</a:t>
            </a:r>
            <a:endParaRPr lang="en-US" dirty="0"/>
          </a:p>
          <a:p>
            <a:pPr>
              <a:lnSpc>
                <a:spcPct val="110000"/>
              </a:lnSpc>
              <a:buNone/>
            </a:pPr>
            <a:r>
              <a:rPr lang="en-US" sz="2400" b="1" dirty="0">
                <a:ea typeface="+mn-lt"/>
                <a:cs typeface="+mn-lt"/>
              </a:rPr>
              <a:t>According to Weston &amp; Brigham, </a:t>
            </a:r>
            <a:endParaRPr lang="en-US" b="1" dirty="0">
              <a:ea typeface="+mn-lt"/>
              <a:cs typeface="+mn-lt"/>
            </a:endParaRPr>
          </a:p>
          <a:p>
            <a:pPr>
              <a:lnSpc>
                <a:spcPct val="110000"/>
              </a:lnSpc>
              <a:buNone/>
            </a:pPr>
            <a:r>
              <a:rPr lang="en-US" sz="2400" b="1" dirty="0">
                <a:ea typeface="+mn-lt"/>
                <a:cs typeface="+mn-lt"/>
              </a:rPr>
              <a:t> </a:t>
            </a:r>
            <a:r>
              <a:rPr lang="en-US" sz="2400" dirty="0">
                <a:ea typeface="+mn-lt"/>
                <a:cs typeface="+mn-lt"/>
              </a:rPr>
              <a:t>   “The pay back period is the number of years it takes the firm to recover its original investment by net returns before depreciation, but after taxes”.</a:t>
            </a:r>
            <a:endParaRPr lang="en-US" dirty="0"/>
          </a:p>
          <a:p>
            <a:pPr>
              <a:lnSpc>
                <a:spcPct val="110000"/>
              </a:lnSpc>
              <a:buNone/>
            </a:pPr>
            <a:r>
              <a:rPr lang="en-US" sz="2400" b="1" dirty="0">
                <a:ea typeface="+mn-lt"/>
                <a:cs typeface="+mn-lt"/>
              </a:rPr>
              <a:t>According to James. C. </a:t>
            </a:r>
            <a:r>
              <a:rPr lang="en-US" sz="2400" b="1" dirty="0" err="1">
                <a:ea typeface="+mn-lt"/>
                <a:cs typeface="+mn-lt"/>
              </a:rPr>
              <a:t>Vanhorne</a:t>
            </a:r>
            <a:r>
              <a:rPr lang="en-US" sz="2400" b="1" dirty="0">
                <a:ea typeface="+mn-lt"/>
                <a:cs typeface="+mn-lt"/>
              </a:rPr>
              <a:t>, </a:t>
            </a:r>
            <a:endParaRPr lang="en-US" b="1" dirty="0">
              <a:ea typeface="+mn-lt"/>
              <a:cs typeface="+mn-lt"/>
            </a:endParaRPr>
          </a:p>
          <a:p>
            <a:pPr>
              <a:lnSpc>
                <a:spcPct val="110000"/>
              </a:lnSpc>
              <a:buNone/>
            </a:pPr>
            <a:r>
              <a:rPr lang="en-US" sz="2400" b="1" dirty="0">
                <a:ea typeface="+mn-lt"/>
                <a:cs typeface="+mn-lt"/>
              </a:rPr>
              <a:t> </a:t>
            </a:r>
            <a:r>
              <a:rPr lang="en-US" sz="2400" dirty="0">
                <a:ea typeface="+mn-lt"/>
                <a:cs typeface="+mn-lt"/>
              </a:rPr>
              <a:t>    “</a:t>
            </a:r>
            <a:r>
              <a:rPr lang="en-US" sz="2400" dirty="0">
                <a:highlight>
                  <a:srgbClr val="FFFF00"/>
                </a:highlight>
                <a:ea typeface="+mn-lt"/>
                <a:cs typeface="+mn-lt"/>
              </a:rPr>
              <a:t>The payback period is the number of years required to recover initial cash investment.</a:t>
            </a:r>
            <a:endParaRPr lang="en-US" dirty="0">
              <a:highlight>
                <a:srgbClr val="FFFF00"/>
              </a:highlight>
            </a:endParaRPr>
          </a:p>
          <a:p>
            <a:pPr>
              <a:buNone/>
            </a:pPr>
            <a:r>
              <a:rPr lang="en-US" sz="2400" b="1" dirty="0">
                <a:ea typeface="+mn-lt"/>
                <a:cs typeface="+mn-lt"/>
              </a:rPr>
              <a:t>Payback period </a:t>
            </a:r>
            <a:r>
              <a:rPr lang="en-US" sz="2400" dirty="0">
                <a:ea typeface="+mn-lt"/>
                <a:cs typeface="+mn-lt"/>
              </a:rPr>
              <a:t>=    C</a:t>
            </a:r>
            <a:r>
              <a:rPr lang="en-US" sz="2900" u="sng" dirty="0">
                <a:ea typeface="+mn-lt"/>
                <a:cs typeface="+mn-lt"/>
              </a:rPr>
              <a:t>𝒂𝒔𝒉 𝒐𝒖𝒕𝒍𝒂𝒚 (𝑶𝑹)𝑶𝒓𝒊𝒈𝒊𝒏𝒂𝒍 𝒄𝒐𝒔𝒕 𝒐𝒇 𝒑𝒓𝒐𝒋𝒆𝒄𝒕</a:t>
            </a:r>
            <a:endParaRPr lang="en-US" sz="2900" dirty="0"/>
          </a:p>
          <a:p>
            <a:pPr marL="0" indent="0">
              <a:buNone/>
            </a:pPr>
            <a:r>
              <a:rPr lang="en-US" sz="2400" dirty="0">
                <a:ea typeface="+mn-lt"/>
                <a:cs typeface="+mn-lt"/>
              </a:rPr>
              <a:t>                                                </a:t>
            </a:r>
            <a:r>
              <a:rPr lang="en-US" sz="3000" dirty="0">
                <a:ea typeface="+mn-lt"/>
                <a:cs typeface="+mn-lt"/>
              </a:rPr>
              <a:t>A</a:t>
            </a:r>
            <a:r>
              <a:rPr lang="en-US" sz="2900" dirty="0">
                <a:ea typeface="+mn-lt"/>
                <a:cs typeface="+mn-lt"/>
              </a:rPr>
              <a:t>𝒏𝒏𝒖𝒂𝒍 𝒄𝒂𝒔𝒉 𝒊𝒏𝒇𝒍𝒐𝒘</a:t>
            </a:r>
            <a:endParaRPr lang="en-US" sz="2900" dirty="0"/>
          </a:p>
        </p:txBody>
      </p:sp>
    </p:spTree>
    <p:extLst>
      <p:ext uri="{BB962C8B-B14F-4D97-AF65-F5344CB8AC3E}">
        <p14:creationId xmlns:p14="http://schemas.microsoft.com/office/powerpoint/2010/main" val="1393245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CEA25B-E963-07E4-3575-E27EC0EAFB62}"/>
              </a:ext>
            </a:extLst>
          </p:cNvPr>
          <p:cNvSpPr>
            <a:spLocks noGrp="1"/>
          </p:cNvSpPr>
          <p:nvPr>
            <p:ph type="title"/>
          </p:nvPr>
        </p:nvSpPr>
        <p:spPr/>
        <p:txBody>
          <a:bodyPr/>
          <a:lstStyle/>
          <a:p>
            <a:r>
              <a:rPr lang="en-US" b="0" i="0" dirty="0">
                <a:solidFill>
                  <a:srgbClr val="202124"/>
                </a:solidFill>
                <a:effectLst/>
                <a:latin typeface="arial" panose="020B0604020202020204" pitchFamily="34" charset="0"/>
              </a:rPr>
              <a:t>Average Rate of Return</a:t>
            </a:r>
            <a:endParaRPr lang="en-IN" dirty="0"/>
          </a:p>
        </p:txBody>
      </p:sp>
      <p:sp>
        <p:nvSpPr>
          <p:cNvPr id="3" name="Content Placeholder 2">
            <a:extLst>
              <a:ext uri="{FF2B5EF4-FFF2-40B4-BE49-F238E27FC236}">
                <a16:creationId xmlns="" xmlns:a16="http://schemas.microsoft.com/office/drawing/2014/main" id="{88B3013C-06DF-FF22-DE9D-B6B608F293A9}"/>
              </a:ext>
            </a:extLst>
          </p:cNvPr>
          <p:cNvSpPr>
            <a:spLocks noGrp="1"/>
          </p:cNvSpPr>
          <p:nvPr>
            <p:ph idx="1"/>
          </p:nvPr>
        </p:nvSpPr>
        <p:spPr>
          <a:xfrm>
            <a:off x="677334" y="2160589"/>
            <a:ext cx="10661226" cy="3880773"/>
          </a:xfrm>
        </p:spPr>
        <p:txBody>
          <a:bodyPr>
            <a:normAutofit/>
          </a:bodyPr>
          <a:lstStyle/>
          <a:p>
            <a:pPr algn="just"/>
            <a:r>
              <a:rPr lang="en-US" sz="3600" b="0" i="0" dirty="0">
                <a:solidFill>
                  <a:srgbClr val="202124"/>
                </a:solidFill>
                <a:effectLst/>
                <a:latin typeface="arial" panose="020B0604020202020204" pitchFamily="34" charset="0"/>
              </a:rPr>
              <a:t>The average rate of return is </a:t>
            </a:r>
            <a:r>
              <a:rPr lang="en-US" sz="3600" b="1" i="0" dirty="0">
                <a:solidFill>
                  <a:srgbClr val="202124"/>
                </a:solidFill>
                <a:effectLst/>
                <a:latin typeface="arial" panose="020B0604020202020204" pitchFamily="34" charset="0"/>
              </a:rPr>
              <a:t>the average annual amount of profit generated over the life of an investment</a:t>
            </a:r>
            <a:r>
              <a:rPr lang="en-US" sz="3600" b="0" i="0" dirty="0">
                <a:solidFill>
                  <a:srgbClr val="202124"/>
                </a:solidFill>
                <a:effectLst/>
                <a:latin typeface="arial" panose="020B0604020202020204" pitchFamily="34" charset="0"/>
              </a:rPr>
              <a:t>. </a:t>
            </a:r>
            <a:endParaRPr lang="en-IN" sz="3600" dirty="0"/>
          </a:p>
        </p:txBody>
      </p:sp>
    </p:spTree>
    <p:extLst>
      <p:ext uri="{BB962C8B-B14F-4D97-AF65-F5344CB8AC3E}">
        <p14:creationId xmlns:p14="http://schemas.microsoft.com/office/powerpoint/2010/main" val="1793274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E71CE4-E908-6852-8039-D73E99CE7566}"/>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C190258C-EFEF-8497-CC55-FCCEF4AE7582}"/>
              </a:ext>
            </a:extLst>
          </p:cNvPr>
          <p:cNvSpPr>
            <a:spLocks noGrp="1"/>
          </p:cNvSpPr>
          <p:nvPr>
            <p:ph idx="1"/>
          </p:nvPr>
        </p:nvSpPr>
        <p:spPr/>
        <p:txBody>
          <a:bodyPr/>
          <a:lstStyle/>
          <a:p>
            <a:endParaRPr lang="en-IN" dirty="0"/>
          </a:p>
        </p:txBody>
      </p:sp>
      <p:graphicFrame>
        <p:nvGraphicFramePr>
          <p:cNvPr id="5" name="Object 4">
            <a:extLst>
              <a:ext uri="{FF2B5EF4-FFF2-40B4-BE49-F238E27FC236}">
                <a16:creationId xmlns="" xmlns:a16="http://schemas.microsoft.com/office/drawing/2014/main" id="{61A3D2AF-B8B3-653A-A937-5C92E777A937}"/>
              </a:ext>
            </a:extLst>
          </p:cNvPr>
          <p:cNvGraphicFramePr>
            <a:graphicFrameLocks noChangeAspect="1"/>
          </p:cNvGraphicFramePr>
          <p:nvPr>
            <p:extLst>
              <p:ext uri="{D42A27DB-BD31-4B8C-83A1-F6EECF244321}">
                <p14:modId xmlns:p14="http://schemas.microsoft.com/office/powerpoint/2010/main" val="2151695518"/>
              </p:ext>
            </p:extLst>
          </p:nvPr>
        </p:nvGraphicFramePr>
        <p:xfrm>
          <a:off x="394636" y="308009"/>
          <a:ext cx="10048775" cy="5940392"/>
        </p:xfrm>
        <a:graphic>
          <a:graphicData uri="http://schemas.openxmlformats.org/presentationml/2006/ole">
            <mc:AlternateContent xmlns:mc="http://schemas.openxmlformats.org/markup-compatibility/2006">
              <mc:Choice xmlns:v="urn:schemas-microsoft-com:vml" Requires="v">
                <p:oleObj spid="_x0000_s1039" name="Bitmap Image" r:id="rId3" imgW="5683320" imgH="2279520" progId="PBrush">
                  <p:embed/>
                </p:oleObj>
              </mc:Choice>
              <mc:Fallback>
                <p:oleObj name="Bitmap Image" r:id="rId3" imgW="5683320" imgH="2279520" progId="PBrush">
                  <p:embed/>
                  <p:pic>
                    <p:nvPicPr>
                      <p:cNvPr id="0" name=""/>
                      <p:cNvPicPr/>
                      <p:nvPr/>
                    </p:nvPicPr>
                    <p:blipFill>
                      <a:blip r:embed="rId4"/>
                      <a:stretch>
                        <a:fillRect/>
                      </a:stretch>
                    </p:blipFill>
                    <p:spPr>
                      <a:xfrm>
                        <a:off x="394636" y="308009"/>
                        <a:ext cx="10048775" cy="5940392"/>
                      </a:xfrm>
                      <a:prstGeom prst="rect">
                        <a:avLst/>
                      </a:prstGeom>
                    </p:spPr>
                  </p:pic>
                </p:oleObj>
              </mc:Fallback>
            </mc:AlternateContent>
          </a:graphicData>
        </a:graphic>
      </p:graphicFrame>
    </p:spTree>
    <p:extLst>
      <p:ext uri="{BB962C8B-B14F-4D97-AF65-F5344CB8AC3E}">
        <p14:creationId xmlns:p14="http://schemas.microsoft.com/office/powerpoint/2010/main" val="28768569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office theme</Template>
  <TotalTime>139</TotalTime>
  <Words>292</Words>
  <Application>Microsoft Office PowerPoint</Application>
  <PresentationFormat>Widescreen</PresentationFormat>
  <Paragraphs>61</Paragraphs>
  <Slides>16</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4" baseType="lpstr">
      <vt:lpstr>Arial</vt:lpstr>
      <vt:lpstr>Arial</vt:lpstr>
      <vt:lpstr>Calibri</vt:lpstr>
      <vt:lpstr>Calibri Light</vt:lpstr>
      <vt:lpstr>Trebuchet MS</vt:lpstr>
      <vt:lpstr>Wingdings 3</vt:lpstr>
      <vt:lpstr>Facet</vt:lpstr>
      <vt:lpstr>Bitmap Image</vt:lpstr>
      <vt:lpstr>UNIT-III Profit Planning Techniques</vt:lpstr>
      <vt:lpstr>Profit Planning Techniques </vt:lpstr>
      <vt:lpstr>Capital Budgeting</vt:lpstr>
      <vt:lpstr>Capital Budgeting</vt:lpstr>
      <vt:lpstr>Capital Budgeting</vt:lpstr>
      <vt:lpstr>Nature of Capital Budgeting</vt:lpstr>
      <vt:lpstr>Need and Importance of Capital Budgeting</vt:lpstr>
      <vt:lpstr>Capital Budgeting-Process</vt:lpstr>
      <vt:lpstr>Need for Capital Budgeting</vt:lpstr>
      <vt:lpstr>Need for Capital Budgeting</vt:lpstr>
      <vt:lpstr>Capital budgeting Techniques</vt:lpstr>
      <vt:lpstr>Capital budgeting Techniques Traditional Methods </vt:lpstr>
      <vt:lpstr>Traditional Methods</vt:lpstr>
      <vt:lpstr>Traditional Methods  </vt:lpstr>
      <vt:lpstr>Average Rate of Return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Ravikumar Chintakindi</dc:creator>
  <cp:lastModifiedBy>DELL</cp:lastModifiedBy>
  <cp:revision>301</cp:revision>
  <dcterms:created xsi:type="dcterms:W3CDTF">2021-11-01T13:08:52Z</dcterms:created>
  <dcterms:modified xsi:type="dcterms:W3CDTF">2025-01-28T05:35:39Z</dcterms:modified>
</cp:coreProperties>
</file>