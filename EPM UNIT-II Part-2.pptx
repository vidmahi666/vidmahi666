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4" r:id="rId1"/>
    <p:sldMasterId id="2147483648" r:id="rId2"/>
  </p:sldMasterIdLst>
  <p:sldIdLst>
    <p:sldId id="256" r:id="rId3"/>
    <p:sldId id="267" r:id="rId4"/>
    <p:sldId id="268" r:id="rId5"/>
    <p:sldId id="258" r:id="rId6"/>
    <p:sldId id="270" r:id="rId7"/>
    <p:sldId id="271" r:id="rId8"/>
    <p:sldId id="259" r:id="rId9"/>
    <p:sldId id="261" r:id="rId10"/>
    <p:sldId id="272" r:id="rId11"/>
    <p:sldId id="263" r:id="rId12"/>
    <p:sldId id="264" r:id="rId13"/>
    <p:sldId id="273" r:id="rId14"/>
    <p:sldId id="265" r:id="rId15"/>
    <p:sldId id="266" r:id="rId16"/>
    <p:sldId id="275" r:id="rId17"/>
    <p:sldId id="277" r:id="rId18"/>
    <p:sldId id="278" r:id="rId19"/>
    <p:sldId id="279" r:id="rId20"/>
    <p:sldId id="280" r:id="rId21"/>
    <p:sldId id="303" r:id="rId22"/>
    <p:sldId id="281" r:id="rId23"/>
    <p:sldId id="282" r:id="rId24"/>
    <p:sldId id="284" r:id="rId25"/>
    <p:sldId id="304" r:id="rId26"/>
    <p:sldId id="286" r:id="rId27"/>
    <p:sldId id="290" r:id="rId28"/>
    <p:sldId id="291" r:id="rId29"/>
    <p:sldId id="292" r:id="rId30"/>
    <p:sldId id="301" r:id="rId31"/>
    <p:sldId id="293" r:id="rId32"/>
    <p:sldId id="295" r:id="rId33"/>
    <p:sldId id="299" r:id="rId34"/>
    <p:sldId id="294" r:id="rId35"/>
    <p:sldId id="296" r:id="rId36"/>
    <p:sldId id="298" r:id="rId37"/>
    <p:sldId id="297" r:id="rId38"/>
    <p:sldId id="288" r:id="rId39"/>
    <p:sldId id="308" r:id="rId40"/>
    <p:sldId id="305" r:id="rId41"/>
    <p:sldId id="287" r:id="rId42"/>
    <p:sldId id="307" r:id="rId43"/>
    <p:sldId id="306" r:id="rId44"/>
    <p:sldId id="276" r:id="rId4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F77233-FAAB-C96C-19D3-ECB30BA4C9F6}" v="2" dt="2021-10-25T13:07:34.942"/>
    <p1510:client id="{A886EAC6-31C0-424C-9A14-8FCFABC0542E}" v="90" dt="2021-10-26T15:58:52.326"/>
    <p1510:client id="{AACC1FF6-69FF-77E0-F505-61984BCB9F73}" v="389" dt="2021-10-23T10:16:27.363"/>
    <p1510:client id="{BF4B7678-341A-FA2A-7ACF-468E619C614D}" v="25" dt="2021-11-07T12:03:20.635"/>
    <p1510:client id="{DDC212A6-B585-859C-2886-B8999AAABD20}" v="17" dt="2021-10-27T14:04:36.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9" d="100"/>
          <a:sy n="89" d="100"/>
        </p:scale>
        <p:origin x="20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C41D16-42CB-444D-A26B-79553BC83A62}" type="doc">
      <dgm:prSet loTypeId="urn:microsoft.com/office/officeart/2005/8/layout/vList2" loCatId="list" qsTypeId="urn:microsoft.com/office/officeart/2005/8/quickstyle/simple2" qsCatId="simple" csTypeId="urn:microsoft.com/office/officeart/2005/8/colors/colorful1#1" csCatId="colorful" phldr="1"/>
      <dgm:spPr/>
      <dgm:t>
        <a:bodyPr/>
        <a:lstStyle/>
        <a:p>
          <a:endParaRPr lang="en-US"/>
        </a:p>
      </dgm:t>
    </dgm:pt>
    <dgm:pt modelId="{F629DEFC-43A9-436E-B3C1-7069EB627DF6}">
      <dgm:prSet/>
      <dgm:spPr/>
      <dgm:t>
        <a:bodyPr/>
        <a:lstStyle/>
        <a:p>
          <a:r>
            <a:rPr lang="en-GB" dirty="0"/>
            <a:t>Cost of fixed assets</a:t>
          </a:r>
          <a:endParaRPr lang="en-US" dirty="0"/>
        </a:p>
      </dgm:t>
    </dgm:pt>
    <dgm:pt modelId="{462D6814-334D-4CEE-8F96-5A9C647E08A5}" type="parTrans" cxnId="{F8B236B8-948C-4AB9-AD78-BBF02C5446B7}">
      <dgm:prSet/>
      <dgm:spPr/>
      <dgm:t>
        <a:bodyPr/>
        <a:lstStyle/>
        <a:p>
          <a:endParaRPr lang="en-US"/>
        </a:p>
      </dgm:t>
    </dgm:pt>
    <dgm:pt modelId="{DDEF9800-1C70-4A8D-98A3-A74A070CFBF6}" type="sibTrans" cxnId="{F8B236B8-948C-4AB9-AD78-BBF02C5446B7}">
      <dgm:prSet/>
      <dgm:spPr/>
      <dgm:t>
        <a:bodyPr/>
        <a:lstStyle/>
        <a:p>
          <a:endParaRPr lang="en-US"/>
        </a:p>
      </dgm:t>
    </dgm:pt>
    <dgm:pt modelId="{C99CA130-7178-49AC-A251-5DE401477E68}">
      <dgm:prSet/>
      <dgm:spPr/>
      <dgm:t>
        <a:bodyPr/>
        <a:lstStyle/>
        <a:p>
          <a:r>
            <a:rPr lang="en-GB" dirty="0"/>
            <a:t>Cost of current assets  </a:t>
          </a:r>
          <a:endParaRPr lang="en-US" dirty="0"/>
        </a:p>
      </dgm:t>
    </dgm:pt>
    <dgm:pt modelId="{CD354B1D-70C2-4419-9BB2-F4E9D27713DB}" type="parTrans" cxnId="{ACD9CCB6-4DC8-4719-AEB2-DE6B55608D67}">
      <dgm:prSet/>
      <dgm:spPr/>
      <dgm:t>
        <a:bodyPr/>
        <a:lstStyle/>
        <a:p>
          <a:endParaRPr lang="en-US"/>
        </a:p>
      </dgm:t>
    </dgm:pt>
    <dgm:pt modelId="{FFFD9550-4792-49C8-85BC-90FE74857FF9}" type="sibTrans" cxnId="{ACD9CCB6-4DC8-4719-AEB2-DE6B55608D67}">
      <dgm:prSet/>
      <dgm:spPr/>
      <dgm:t>
        <a:bodyPr/>
        <a:lstStyle/>
        <a:p>
          <a:endParaRPr lang="en-US"/>
        </a:p>
      </dgm:t>
    </dgm:pt>
    <dgm:pt modelId="{CD395054-EF55-4002-A165-4E2B43EA2567}">
      <dgm:prSet/>
      <dgm:spPr/>
      <dgm:t>
        <a:bodyPr/>
        <a:lstStyle/>
        <a:p>
          <a:pPr rtl="0"/>
          <a:r>
            <a:rPr lang="en-GB" dirty="0"/>
            <a:t>Cost of promotion</a:t>
          </a:r>
          <a:r>
            <a:rPr lang="en-GB" dirty="0">
              <a:latin typeface="Corbel" panose="020B0503020204020204"/>
            </a:rPr>
            <a:t> </a:t>
          </a:r>
          <a:endParaRPr lang="en-US" dirty="0">
            <a:latin typeface="Corbel" panose="020B0503020204020204"/>
          </a:endParaRPr>
        </a:p>
      </dgm:t>
    </dgm:pt>
    <dgm:pt modelId="{0AEDF9B1-1D37-4CFE-9870-C815C75D0D4B}" type="parTrans" cxnId="{C037F841-A684-4D09-AEDD-78B586F734C1}">
      <dgm:prSet/>
      <dgm:spPr/>
      <dgm:t>
        <a:bodyPr/>
        <a:lstStyle/>
        <a:p>
          <a:endParaRPr lang="en-US"/>
        </a:p>
      </dgm:t>
    </dgm:pt>
    <dgm:pt modelId="{B2673788-A78B-4625-8AA5-9989600B627E}" type="sibTrans" cxnId="{C037F841-A684-4D09-AEDD-78B586F734C1}">
      <dgm:prSet/>
      <dgm:spPr/>
      <dgm:t>
        <a:bodyPr/>
        <a:lstStyle/>
        <a:p>
          <a:endParaRPr lang="en-US"/>
        </a:p>
      </dgm:t>
    </dgm:pt>
    <dgm:pt modelId="{218E68AE-3C2F-4579-A7EF-BFC25074374E}">
      <dgm:prSet/>
      <dgm:spPr/>
      <dgm:t>
        <a:bodyPr/>
        <a:lstStyle/>
        <a:p>
          <a:r>
            <a:rPr lang="en-GB" dirty="0"/>
            <a:t>Cost of intangible </a:t>
          </a:r>
          <a:r>
            <a:rPr lang="en-GB" dirty="0">
              <a:latin typeface="Corbel" panose="020B0503020204020204"/>
            </a:rPr>
            <a:t>assets</a:t>
          </a:r>
          <a:r>
            <a:rPr lang="en-GB" dirty="0"/>
            <a:t> </a:t>
          </a:r>
          <a:endParaRPr lang="en-US" dirty="0"/>
        </a:p>
      </dgm:t>
    </dgm:pt>
    <dgm:pt modelId="{50CC87B4-2B32-4D41-9670-91BD55BD9D7F}" type="parTrans" cxnId="{B96D5D99-9BD3-4399-BC04-83D85FC951FF}">
      <dgm:prSet/>
      <dgm:spPr/>
      <dgm:t>
        <a:bodyPr/>
        <a:lstStyle/>
        <a:p>
          <a:endParaRPr lang="en-US"/>
        </a:p>
      </dgm:t>
    </dgm:pt>
    <dgm:pt modelId="{C2B9D5D3-13DE-46A9-8275-6E46BB66E531}" type="sibTrans" cxnId="{B96D5D99-9BD3-4399-BC04-83D85FC951FF}">
      <dgm:prSet/>
      <dgm:spPr/>
      <dgm:t>
        <a:bodyPr/>
        <a:lstStyle/>
        <a:p>
          <a:endParaRPr lang="en-US"/>
        </a:p>
      </dgm:t>
    </dgm:pt>
    <dgm:pt modelId="{5F2E6166-6261-444E-88B2-44D00EF05F55}">
      <dgm:prSet phldr="0"/>
      <dgm:spPr/>
      <dgm:t>
        <a:bodyPr/>
        <a:lstStyle/>
        <a:p>
          <a:r>
            <a:rPr lang="en-GB" dirty="0">
              <a:latin typeface="Corbel" panose="020B0503020204020204"/>
            </a:rPr>
            <a:t>Cost of establishing the business</a:t>
          </a:r>
          <a:endParaRPr lang="en-GB" dirty="0"/>
        </a:p>
      </dgm:t>
    </dgm:pt>
    <dgm:pt modelId="{B6AB1790-18F2-450A-8CF3-E53F4CF8C202}" type="parTrans" cxnId="{F366FC88-03F5-4E39-8CD1-D90D56BED772}">
      <dgm:prSet/>
      <dgm:spPr/>
    </dgm:pt>
    <dgm:pt modelId="{D93743ED-B609-4863-825A-7DD62D8C048F}" type="sibTrans" cxnId="{F366FC88-03F5-4E39-8CD1-D90D56BED772}">
      <dgm:prSet/>
      <dgm:spPr/>
    </dgm:pt>
    <dgm:pt modelId="{EB5B8AA7-1612-4AAE-8187-5B802512BE31}" type="pres">
      <dgm:prSet presAssocID="{43C41D16-42CB-444D-A26B-79553BC83A62}" presName="linear" presStyleCnt="0">
        <dgm:presLayoutVars>
          <dgm:animLvl val="lvl"/>
          <dgm:resizeHandles val="exact"/>
        </dgm:presLayoutVars>
      </dgm:prSet>
      <dgm:spPr/>
      <dgm:t>
        <a:bodyPr/>
        <a:lstStyle/>
        <a:p>
          <a:endParaRPr lang="en-US"/>
        </a:p>
      </dgm:t>
    </dgm:pt>
    <dgm:pt modelId="{9F8380A3-954D-4ABC-A96E-D1E9443375D9}" type="pres">
      <dgm:prSet presAssocID="{F629DEFC-43A9-436E-B3C1-7069EB627DF6}" presName="parentText" presStyleLbl="node1" presStyleIdx="0" presStyleCnt="5">
        <dgm:presLayoutVars>
          <dgm:chMax val="0"/>
          <dgm:bulletEnabled val="1"/>
        </dgm:presLayoutVars>
      </dgm:prSet>
      <dgm:spPr/>
      <dgm:t>
        <a:bodyPr/>
        <a:lstStyle/>
        <a:p>
          <a:endParaRPr lang="en-US"/>
        </a:p>
      </dgm:t>
    </dgm:pt>
    <dgm:pt modelId="{68D34F06-FF0E-4515-AAE0-874D602C5C9F}" type="pres">
      <dgm:prSet presAssocID="{DDEF9800-1C70-4A8D-98A3-A74A070CFBF6}" presName="spacer" presStyleCnt="0"/>
      <dgm:spPr/>
    </dgm:pt>
    <dgm:pt modelId="{889F9975-FF76-44FC-A36C-1EB9DD0A86B6}" type="pres">
      <dgm:prSet presAssocID="{C99CA130-7178-49AC-A251-5DE401477E68}" presName="parentText" presStyleLbl="node1" presStyleIdx="1" presStyleCnt="5">
        <dgm:presLayoutVars>
          <dgm:chMax val="0"/>
          <dgm:bulletEnabled val="1"/>
        </dgm:presLayoutVars>
      </dgm:prSet>
      <dgm:spPr/>
      <dgm:t>
        <a:bodyPr/>
        <a:lstStyle/>
        <a:p>
          <a:endParaRPr lang="en-US"/>
        </a:p>
      </dgm:t>
    </dgm:pt>
    <dgm:pt modelId="{093602F1-99CA-436C-B19F-0CFDD14C1C12}" type="pres">
      <dgm:prSet presAssocID="{FFFD9550-4792-49C8-85BC-90FE74857FF9}" presName="spacer" presStyleCnt="0"/>
      <dgm:spPr/>
    </dgm:pt>
    <dgm:pt modelId="{42A1B997-86DA-4635-8574-416E33B2A510}" type="pres">
      <dgm:prSet presAssocID="{CD395054-EF55-4002-A165-4E2B43EA2567}" presName="parentText" presStyleLbl="node1" presStyleIdx="2" presStyleCnt="5">
        <dgm:presLayoutVars>
          <dgm:chMax val="0"/>
          <dgm:bulletEnabled val="1"/>
        </dgm:presLayoutVars>
      </dgm:prSet>
      <dgm:spPr/>
      <dgm:t>
        <a:bodyPr/>
        <a:lstStyle/>
        <a:p>
          <a:endParaRPr lang="en-US"/>
        </a:p>
      </dgm:t>
    </dgm:pt>
    <dgm:pt modelId="{C883C4A0-AB1A-4B45-82B0-DD50E9A0EB6C}" type="pres">
      <dgm:prSet presAssocID="{B2673788-A78B-4625-8AA5-9989600B627E}" presName="spacer" presStyleCnt="0"/>
      <dgm:spPr/>
    </dgm:pt>
    <dgm:pt modelId="{29814D3F-CA19-4D64-A9DB-36A3FB2C0DCC}" type="pres">
      <dgm:prSet presAssocID="{5F2E6166-6261-444E-88B2-44D00EF05F55}" presName="parentText" presStyleLbl="node1" presStyleIdx="3" presStyleCnt="5">
        <dgm:presLayoutVars>
          <dgm:chMax val="0"/>
          <dgm:bulletEnabled val="1"/>
        </dgm:presLayoutVars>
      </dgm:prSet>
      <dgm:spPr/>
      <dgm:t>
        <a:bodyPr/>
        <a:lstStyle/>
        <a:p>
          <a:endParaRPr lang="en-US"/>
        </a:p>
      </dgm:t>
    </dgm:pt>
    <dgm:pt modelId="{65222500-784F-4830-AE2C-A025DB4B8070}" type="pres">
      <dgm:prSet presAssocID="{D93743ED-B609-4863-825A-7DD62D8C048F}" presName="spacer" presStyleCnt="0"/>
      <dgm:spPr/>
    </dgm:pt>
    <dgm:pt modelId="{0B366AB5-A46D-438F-BB05-AAC99803136D}" type="pres">
      <dgm:prSet presAssocID="{218E68AE-3C2F-4579-A7EF-BFC25074374E}" presName="parentText" presStyleLbl="node1" presStyleIdx="4" presStyleCnt="5">
        <dgm:presLayoutVars>
          <dgm:chMax val="0"/>
          <dgm:bulletEnabled val="1"/>
        </dgm:presLayoutVars>
      </dgm:prSet>
      <dgm:spPr/>
      <dgm:t>
        <a:bodyPr/>
        <a:lstStyle/>
        <a:p>
          <a:endParaRPr lang="en-US"/>
        </a:p>
      </dgm:t>
    </dgm:pt>
  </dgm:ptLst>
  <dgm:cxnLst>
    <dgm:cxn modelId="{F8B236B8-948C-4AB9-AD78-BBF02C5446B7}" srcId="{43C41D16-42CB-444D-A26B-79553BC83A62}" destId="{F629DEFC-43A9-436E-B3C1-7069EB627DF6}" srcOrd="0" destOrd="0" parTransId="{462D6814-334D-4CEE-8F96-5A9C647E08A5}" sibTransId="{DDEF9800-1C70-4A8D-98A3-A74A070CFBF6}"/>
    <dgm:cxn modelId="{8FD7C5D6-9E58-48B0-9225-DA90A8EC86B7}" type="presOf" srcId="{5F2E6166-6261-444E-88B2-44D00EF05F55}" destId="{29814D3F-CA19-4D64-A9DB-36A3FB2C0DCC}" srcOrd="0" destOrd="0" presId="urn:microsoft.com/office/officeart/2005/8/layout/vList2"/>
    <dgm:cxn modelId="{B74E29AC-7775-44C9-8257-0CA628C51703}" type="presOf" srcId="{43C41D16-42CB-444D-A26B-79553BC83A62}" destId="{EB5B8AA7-1612-4AAE-8187-5B802512BE31}" srcOrd="0" destOrd="0" presId="urn:microsoft.com/office/officeart/2005/8/layout/vList2"/>
    <dgm:cxn modelId="{C037F841-A684-4D09-AEDD-78B586F734C1}" srcId="{43C41D16-42CB-444D-A26B-79553BC83A62}" destId="{CD395054-EF55-4002-A165-4E2B43EA2567}" srcOrd="2" destOrd="0" parTransId="{0AEDF9B1-1D37-4CFE-9870-C815C75D0D4B}" sibTransId="{B2673788-A78B-4625-8AA5-9989600B627E}"/>
    <dgm:cxn modelId="{80A69D5E-1A6E-4F9F-862A-8C3D2B098B7B}" type="presOf" srcId="{218E68AE-3C2F-4579-A7EF-BFC25074374E}" destId="{0B366AB5-A46D-438F-BB05-AAC99803136D}" srcOrd="0" destOrd="0" presId="urn:microsoft.com/office/officeart/2005/8/layout/vList2"/>
    <dgm:cxn modelId="{7E65CA5D-6EE3-47D1-84A1-924D647E6AE1}" type="presOf" srcId="{CD395054-EF55-4002-A165-4E2B43EA2567}" destId="{42A1B997-86DA-4635-8574-416E33B2A510}" srcOrd="0" destOrd="0" presId="urn:microsoft.com/office/officeart/2005/8/layout/vList2"/>
    <dgm:cxn modelId="{F366FC88-03F5-4E39-8CD1-D90D56BED772}" srcId="{43C41D16-42CB-444D-A26B-79553BC83A62}" destId="{5F2E6166-6261-444E-88B2-44D00EF05F55}" srcOrd="3" destOrd="0" parTransId="{B6AB1790-18F2-450A-8CF3-E53F4CF8C202}" sibTransId="{D93743ED-B609-4863-825A-7DD62D8C048F}"/>
    <dgm:cxn modelId="{DFCCB376-8404-452F-B104-850B7810014D}" type="presOf" srcId="{C99CA130-7178-49AC-A251-5DE401477E68}" destId="{889F9975-FF76-44FC-A36C-1EB9DD0A86B6}" srcOrd="0" destOrd="0" presId="urn:microsoft.com/office/officeart/2005/8/layout/vList2"/>
    <dgm:cxn modelId="{ACD9CCB6-4DC8-4719-AEB2-DE6B55608D67}" srcId="{43C41D16-42CB-444D-A26B-79553BC83A62}" destId="{C99CA130-7178-49AC-A251-5DE401477E68}" srcOrd="1" destOrd="0" parTransId="{CD354B1D-70C2-4419-9BB2-F4E9D27713DB}" sibTransId="{FFFD9550-4792-49C8-85BC-90FE74857FF9}"/>
    <dgm:cxn modelId="{B96D5D99-9BD3-4399-BC04-83D85FC951FF}" srcId="{43C41D16-42CB-444D-A26B-79553BC83A62}" destId="{218E68AE-3C2F-4579-A7EF-BFC25074374E}" srcOrd="4" destOrd="0" parTransId="{50CC87B4-2B32-4D41-9670-91BD55BD9D7F}" sibTransId="{C2B9D5D3-13DE-46A9-8275-6E46BB66E531}"/>
    <dgm:cxn modelId="{5925A271-28A5-480E-85FF-67C820F82E19}" type="presOf" srcId="{F629DEFC-43A9-436E-B3C1-7069EB627DF6}" destId="{9F8380A3-954D-4ABC-A96E-D1E9443375D9}" srcOrd="0" destOrd="0" presId="urn:microsoft.com/office/officeart/2005/8/layout/vList2"/>
    <dgm:cxn modelId="{A1991CE8-A580-4B05-ADEC-2DC0F751AE92}" type="presParOf" srcId="{EB5B8AA7-1612-4AAE-8187-5B802512BE31}" destId="{9F8380A3-954D-4ABC-A96E-D1E9443375D9}" srcOrd="0" destOrd="0" presId="urn:microsoft.com/office/officeart/2005/8/layout/vList2"/>
    <dgm:cxn modelId="{B6AB3F2A-CD66-4F76-83E4-FEAB924E7ED8}" type="presParOf" srcId="{EB5B8AA7-1612-4AAE-8187-5B802512BE31}" destId="{68D34F06-FF0E-4515-AAE0-874D602C5C9F}" srcOrd="1" destOrd="0" presId="urn:microsoft.com/office/officeart/2005/8/layout/vList2"/>
    <dgm:cxn modelId="{94BEA74A-568C-4B0B-A4FD-ACADC6C56799}" type="presParOf" srcId="{EB5B8AA7-1612-4AAE-8187-5B802512BE31}" destId="{889F9975-FF76-44FC-A36C-1EB9DD0A86B6}" srcOrd="2" destOrd="0" presId="urn:microsoft.com/office/officeart/2005/8/layout/vList2"/>
    <dgm:cxn modelId="{5969AC2F-2F0C-4128-9F33-1C6B84094C4A}" type="presParOf" srcId="{EB5B8AA7-1612-4AAE-8187-5B802512BE31}" destId="{093602F1-99CA-436C-B19F-0CFDD14C1C12}" srcOrd="3" destOrd="0" presId="urn:microsoft.com/office/officeart/2005/8/layout/vList2"/>
    <dgm:cxn modelId="{A6299D69-37A3-465B-AB54-D7B2F09BEABA}" type="presParOf" srcId="{EB5B8AA7-1612-4AAE-8187-5B802512BE31}" destId="{42A1B997-86DA-4635-8574-416E33B2A510}" srcOrd="4" destOrd="0" presId="urn:microsoft.com/office/officeart/2005/8/layout/vList2"/>
    <dgm:cxn modelId="{FE8F3D32-E4C9-497D-9B2A-D1FA85BF4682}" type="presParOf" srcId="{EB5B8AA7-1612-4AAE-8187-5B802512BE31}" destId="{C883C4A0-AB1A-4B45-82B0-DD50E9A0EB6C}" srcOrd="5" destOrd="0" presId="urn:microsoft.com/office/officeart/2005/8/layout/vList2"/>
    <dgm:cxn modelId="{22F1F38C-2452-4775-8294-2A868F192B79}" type="presParOf" srcId="{EB5B8AA7-1612-4AAE-8187-5B802512BE31}" destId="{29814D3F-CA19-4D64-A9DB-36A3FB2C0DCC}" srcOrd="6" destOrd="0" presId="urn:microsoft.com/office/officeart/2005/8/layout/vList2"/>
    <dgm:cxn modelId="{2705B608-D0B3-4008-BEA9-21BE50B002FF}" type="presParOf" srcId="{EB5B8AA7-1612-4AAE-8187-5B802512BE31}" destId="{65222500-784F-4830-AE2C-A025DB4B8070}" srcOrd="7" destOrd="0" presId="urn:microsoft.com/office/officeart/2005/8/layout/vList2"/>
    <dgm:cxn modelId="{C367EE74-3BCC-475E-A199-6091CD606A2C}" type="presParOf" srcId="{EB5B8AA7-1612-4AAE-8187-5B802512BE31}" destId="{0B366AB5-A46D-438F-BB05-AAC99803136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094A59-382D-46D8-8BE8-F27D5D768F0E}" type="doc">
      <dgm:prSet loTypeId="urn:microsoft.com/office/officeart/2005/8/layout/cycle6" loCatId="cycle" qsTypeId="urn:microsoft.com/office/officeart/2005/8/quickstyle/simple2" qsCatId="simple" csTypeId="urn:microsoft.com/office/officeart/2005/8/colors/colorful1#2" csCatId="colorful"/>
      <dgm:spPr/>
      <dgm:t>
        <a:bodyPr/>
        <a:lstStyle/>
        <a:p>
          <a:endParaRPr lang="en-US"/>
        </a:p>
      </dgm:t>
    </dgm:pt>
    <dgm:pt modelId="{F0AED33E-4783-42EE-B192-248BCAED8174}">
      <dgm:prSet/>
      <dgm:spPr/>
      <dgm:t>
        <a:bodyPr/>
        <a:lstStyle/>
        <a:p>
          <a:r>
            <a:rPr lang="en-GB" dirty="0"/>
            <a:t>Fixed Capital</a:t>
          </a:r>
          <a:endParaRPr lang="en-US" dirty="0"/>
        </a:p>
      </dgm:t>
    </dgm:pt>
    <dgm:pt modelId="{FD39745F-E5B7-4E3C-B390-6D429E75A654}" type="parTrans" cxnId="{03E835A1-0040-4254-A2D2-B75F057F366B}">
      <dgm:prSet/>
      <dgm:spPr/>
      <dgm:t>
        <a:bodyPr/>
        <a:lstStyle/>
        <a:p>
          <a:endParaRPr lang="en-US"/>
        </a:p>
      </dgm:t>
    </dgm:pt>
    <dgm:pt modelId="{2E880332-F0C1-4291-9DD5-AEE18CFC6DBD}" type="sibTrans" cxnId="{03E835A1-0040-4254-A2D2-B75F057F366B}">
      <dgm:prSet/>
      <dgm:spPr/>
      <dgm:t>
        <a:bodyPr/>
        <a:lstStyle/>
        <a:p>
          <a:endParaRPr lang="en-US" dirty="0"/>
        </a:p>
      </dgm:t>
    </dgm:pt>
    <dgm:pt modelId="{91412490-9D0A-4B73-832C-E93E0FE918A8}">
      <dgm:prSet/>
      <dgm:spPr/>
      <dgm:t>
        <a:bodyPr/>
        <a:lstStyle/>
        <a:p>
          <a:r>
            <a:rPr lang="en-GB" dirty="0"/>
            <a:t>Working Capital</a:t>
          </a:r>
          <a:endParaRPr lang="en-US" dirty="0"/>
        </a:p>
      </dgm:t>
    </dgm:pt>
    <dgm:pt modelId="{9A0B7D8A-8FAC-4E05-880A-36FD0ECC18AA}" type="parTrans" cxnId="{2D55D28A-E904-4435-97F6-EA1F389BCF58}">
      <dgm:prSet/>
      <dgm:spPr/>
      <dgm:t>
        <a:bodyPr/>
        <a:lstStyle/>
        <a:p>
          <a:endParaRPr lang="en-US"/>
        </a:p>
      </dgm:t>
    </dgm:pt>
    <dgm:pt modelId="{FC997BCD-78CA-4AAA-AF40-494B3DD81F08}" type="sibTrans" cxnId="{2D55D28A-E904-4435-97F6-EA1F389BCF58}">
      <dgm:prSet/>
      <dgm:spPr/>
      <dgm:t>
        <a:bodyPr/>
        <a:lstStyle/>
        <a:p>
          <a:endParaRPr lang="en-US" dirty="0"/>
        </a:p>
      </dgm:t>
    </dgm:pt>
    <dgm:pt modelId="{91CAFC90-79FB-47F6-B022-E3C3209C1A74}" type="pres">
      <dgm:prSet presAssocID="{F6094A59-382D-46D8-8BE8-F27D5D768F0E}" presName="cycle" presStyleCnt="0">
        <dgm:presLayoutVars>
          <dgm:dir/>
          <dgm:resizeHandles val="exact"/>
        </dgm:presLayoutVars>
      </dgm:prSet>
      <dgm:spPr/>
      <dgm:t>
        <a:bodyPr/>
        <a:lstStyle/>
        <a:p>
          <a:endParaRPr lang="en-US"/>
        </a:p>
      </dgm:t>
    </dgm:pt>
    <dgm:pt modelId="{2A0A73CA-224E-4C99-B718-37A0B28334DC}" type="pres">
      <dgm:prSet presAssocID="{F0AED33E-4783-42EE-B192-248BCAED8174}" presName="node" presStyleLbl="node1" presStyleIdx="0" presStyleCnt="2">
        <dgm:presLayoutVars>
          <dgm:bulletEnabled val="1"/>
        </dgm:presLayoutVars>
      </dgm:prSet>
      <dgm:spPr/>
      <dgm:t>
        <a:bodyPr/>
        <a:lstStyle/>
        <a:p>
          <a:endParaRPr lang="en-US"/>
        </a:p>
      </dgm:t>
    </dgm:pt>
    <dgm:pt modelId="{26DC9CF6-CDCA-44D4-B383-55440F9F43BF}" type="pres">
      <dgm:prSet presAssocID="{F0AED33E-4783-42EE-B192-248BCAED8174}" presName="spNode" presStyleCnt="0"/>
      <dgm:spPr/>
    </dgm:pt>
    <dgm:pt modelId="{8BD4373D-212D-4320-AD95-98FCA010286F}" type="pres">
      <dgm:prSet presAssocID="{2E880332-F0C1-4291-9DD5-AEE18CFC6DBD}" presName="sibTrans" presStyleLbl="sibTrans1D1" presStyleIdx="0" presStyleCnt="2"/>
      <dgm:spPr/>
      <dgm:t>
        <a:bodyPr/>
        <a:lstStyle/>
        <a:p>
          <a:endParaRPr lang="en-US"/>
        </a:p>
      </dgm:t>
    </dgm:pt>
    <dgm:pt modelId="{ED3A624C-56B2-4C20-A881-D6068353E361}" type="pres">
      <dgm:prSet presAssocID="{91412490-9D0A-4B73-832C-E93E0FE918A8}" presName="node" presStyleLbl="node1" presStyleIdx="1" presStyleCnt="2">
        <dgm:presLayoutVars>
          <dgm:bulletEnabled val="1"/>
        </dgm:presLayoutVars>
      </dgm:prSet>
      <dgm:spPr/>
      <dgm:t>
        <a:bodyPr/>
        <a:lstStyle/>
        <a:p>
          <a:endParaRPr lang="en-US"/>
        </a:p>
      </dgm:t>
    </dgm:pt>
    <dgm:pt modelId="{45239CE3-649F-482C-B166-37E42A362D6A}" type="pres">
      <dgm:prSet presAssocID="{91412490-9D0A-4B73-832C-E93E0FE918A8}" presName="spNode" presStyleCnt="0"/>
      <dgm:spPr/>
    </dgm:pt>
    <dgm:pt modelId="{461DBB25-3008-4969-A20F-B0CC443AE48F}" type="pres">
      <dgm:prSet presAssocID="{FC997BCD-78CA-4AAA-AF40-494B3DD81F08}" presName="sibTrans" presStyleLbl="sibTrans1D1" presStyleIdx="1" presStyleCnt="2"/>
      <dgm:spPr/>
      <dgm:t>
        <a:bodyPr/>
        <a:lstStyle/>
        <a:p>
          <a:endParaRPr lang="en-US"/>
        </a:p>
      </dgm:t>
    </dgm:pt>
  </dgm:ptLst>
  <dgm:cxnLst>
    <dgm:cxn modelId="{0294D61C-4A1A-4404-B36C-7BAE232A9BD0}" type="presOf" srcId="{2E880332-F0C1-4291-9DD5-AEE18CFC6DBD}" destId="{8BD4373D-212D-4320-AD95-98FCA010286F}" srcOrd="0" destOrd="0" presId="urn:microsoft.com/office/officeart/2005/8/layout/cycle6"/>
    <dgm:cxn modelId="{8E70BFDC-F249-4B25-BB80-8BB012C9CC32}" type="presOf" srcId="{F6094A59-382D-46D8-8BE8-F27D5D768F0E}" destId="{91CAFC90-79FB-47F6-B022-E3C3209C1A74}" srcOrd="0" destOrd="0" presId="urn:microsoft.com/office/officeart/2005/8/layout/cycle6"/>
    <dgm:cxn modelId="{8C67135E-EF7A-4126-B0F0-CFD70CDCDFC7}" type="presOf" srcId="{FC997BCD-78CA-4AAA-AF40-494B3DD81F08}" destId="{461DBB25-3008-4969-A20F-B0CC443AE48F}" srcOrd="0" destOrd="0" presId="urn:microsoft.com/office/officeart/2005/8/layout/cycle6"/>
    <dgm:cxn modelId="{184E8277-8E1E-403A-8EA2-192B8E53C2E5}" type="presOf" srcId="{F0AED33E-4783-42EE-B192-248BCAED8174}" destId="{2A0A73CA-224E-4C99-B718-37A0B28334DC}" srcOrd="0" destOrd="0" presId="urn:microsoft.com/office/officeart/2005/8/layout/cycle6"/>
    <dgm:cxn modelId="{03E835A1-0040-4254-A2D2-B75F057F366B}" srcId="{F6094A59-382D-46D8-8BE8-F27D5D768F0E}" destId="{F0AED33E-4783-42EE-B192-248BCAED8174}" srcOrd="0" destOrd="0" parTransId="{FD39745F-E5B7-4E3C-B390-6D429E75A654}" sibTransId="{2E880332-F0C1-4291-9DD5-AEE18CFC6DBD}"/>
    <dgm:cxn modelId="{1E78E762-C9C5-46E0-AE72-120D214D165D}" type="presOf" srcId="{91412490-9D0A-4B73-832C-E93E0FE918A8}" destId="{ED3A624C-56B2-4C20-A881-D6068353E361}" srcOrd="0" destOrd="0" presId="urn:microsoft.com/office/officeart/2005/8/layout/cycle6"/>
    <dgm:cxn modelId="{2D55D28A-E904-4435-97F6-EA1F389BCF58}" srcId="{F6094A59-382D-46D8-8BE8-F27D5D768F0E}" destId="{91412490-9D0A-4B73-832C-E93E0FE918A8}" srcOrd="1" destOrd="0" parTransId="{9A0B7D8A-8FAC-4E05-880A-36FD0ECC18AA}" sibTransId="{FC997BCD-78CA-4AAA-AF40-494B3DD81F08}"/>
    <dgm:cxn modelId="{163B3795-F9B5-4121-86A1-6E9D32FFE7C4}" type="presParOf" srcId="{91CAFC90-79FB-47F6-B022-E3C3209C1A74}" destId="{2A0A73CA-224E-4C99-B718-37A0B28334DC}" srcOrd="0" destOrd="0" presId="urn:microsoft.com/office/officeart/2005/8/layout/cycle6"/>
    <dgm:cxn modelId="{BA25E414-67C1-412D-A497-5EDA94FF52A3}" type="presParOf" srcId="{91CAFC90-79FB-47F6-B022-E3C3209C1A74}" destId="{26DC9CF6-CDCA-44D4-B383-55440F9F43BF}" srcOrd="1" destOrd="0" presId="urn:microsoft.com/office/officeart/2005/8/layout/cycle6"/>
    <dgm:cxn modelId="{157F160D-013E-4AF4-9B43-6704639068D7}" type="presParOf" srcId="{91CAFC90-79FB-47F6-B022-E3C3209C1A74}" destId="{8BD4373D-212D-4320-AD95-98FCA010286F}" srcOrd="2" destOrd="0" presId="urn:microsoft.com/office/officeart/2005/8/layout/cycle6"/>
    <dgm:cxn modelId="{526E88F7-4FFF-46BA-B285-C2BF940837F7}" type="presParOf" srcId="{91CAFC90-79FB-47F6-B022-E3C3209C1A74}" destId="{ED3A624C-56B2-4C20-A881-D6068353E361}" srcOrd="3" destOrd="0" presId="urn:microsoft.com/office/officeart/2005/8/layout/cycle6"/>
    <dgm:cxn modelId="{CE4B7794-3F38-43C0-BECC-CB0FFEEF360F}" type="presParOf" srcId="{91CAFC90-79FB-47F6-B022-E3C3209C1A74}" destId="{45239CE3-649F-482C-B166-37E42A362D6A}" srcOrd="4" destOrd="0" presId="urn:microsoft.com/office/officeart/2005/8/layout/cycle6"/>
    <dgm:cxn modelId="{5AA636D0-ED75-4538-A506-CAFA18FDDBFD}" type="presParOf" srcId="{91CAFC90-79FB-47F6-B022-E3C3209C1A74}" destId="{461DBB25-3008-4969-A20F-B0CC443AE48F}" srcOrd="5"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7926DF-678A-445A-8BA5-3B7893E4BD08}"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IN"/>
        </a:p>
      </dgm:t>
    </dgm:pt>
    <dgm:pt modelId="{BEE5F9BA-A0B1-4B87-9E3B-E6223A603616}">
      <dgm:prSet phldrT="[Text]"/>
      <dgm:spPr/>
      <dgm:t>
        <a:bodyPr/>
        <a:lstStyle/>
        <a:p>
          <a:r>
            <a:rPr lang="en-US" dirty="0"/>
            <a:t>On the Basis of Concept</a:t>
          </a:r>
          <a:endParaRPr lang="en-IN" dirty="0"/>
        </a:p>
      </dgm:t>
    </dgm:pt>
    <dgm:pt modelId="{3983AF32-4E5A-4CB9-9B5A-5EB7E6F4FCD3}" type="parTrans" cxnId="{B3B08855-AD9E-4B9A-B6AF-A7175C7C91B2}">
      <dgm:prSet/>
      <dgm:spPr/>
      <dgm:t>
        <a:bodyPr/>
        <a:lstStyle/>
        <a:p>
          <a:endParaRPr lang="en-IN"/>
        </a:p>
      </dgm:t>
    </dgm:pt>
    <dgm:pt modelId="{4A9AC8C7-3F80-4873-B461-7F5B031CA322}" type="sibTrans" cxnId="{B3B08855-AD9E-4B9A-B6AF-A7175C7C91B2}">
      <dgm:prSet/>
      <dgm:spPr/>
      <dgm:t>
        <a:bodyPr/>
        <a:lstStyle/>
        <a:p>
          <a:endParaRPr lang="en-IN"/>
        </a:p>
      </dgm:t>
    </dgm:pt>
    <dgm:pt modelId="{0BA47D96-E731-4730-BA6A-CB29B503F912}">
      <dgm:prSet phldrT="[Text]"/>
      <dgm:spPr/>
      <dgm:t>
        <a:bodyPr/>
        <a:lstStyle/>
        <a:p>
          <a:r>
            <a:rPr lang="en-US" dirty="0"/>
            <a:t>Gross Working Capital</a:t>
          </a:r>
          <a:endParaRPr lang="en-IN" dirty="0"/>
        </a:p>
      </dgm:t>
    </dgm:pt>
    <dgm:pt modelId="{C245633E-2057-4377-8A82-77F869714E8A}" type="parTrans" cxnId="{632EDA25-A875-42C3-9D18-814D31F085F1}">
      <dgm:prSet/>
      <dgm:spPr/>
      <dgm:t>
        <a:bodyPr/>
        <a:lstStyle/>
        <a:p>
          <a:endParaRPr lang="en-IN"/>
        </a:p>
      </dgm:t>
    </dgm:pt>
    <dgm:pt modelId="{23FE53E2-FF22-4F71-8E4D-9183CEB782B4}" type="sibTrans" cxnId="{632EDA25-A875-42C3-9D18-814D31F085F1}">
      <dgm:prSet/>
      <dgm:spPr/>
      <dgm:t>
        <a:bodyPr/>
        <a:lstStyle/>
        <a:p>
          <a:endParaRPr lang="en-IN"/>
        </a:p>
      </dgm:t>
    </dgm:pt>
    <dgm:pt modelId="{10F7B463-806E-4C94-9857-7E21EE027305}">
      <dgm:prSet phldrT="[Text]"/>
      <dgm:spPr/>
      <dgm:t>
        <a:bodyPr/>
        <a:lstStyle/>
        <a:p>
          <a:r>
            <a:rPr lang="en-US" dirty="0"/>
            <a:t>Net Working Capital</a:t>
          </a:r>
          <a:endParaRPr lang="en-IN" dirty="0"/>
        </a:p>
      </dgm:t>
    </dgm:pt>
    <dgm:pt modelId="{E31D02A2-214C-4BA4-B522-5C51CE7AD2EF}" type="parTrans" cxnId="{51102020-69FC-4280-967B-B153A8198492}">
      <dgm:prSet/>
      <dgm:spPr/>
      <dgm:t>
        <a:bodyPr/>
        <a:lstStyle/>
        <a:p>
          <a:endParaRPr lang="en-IN"/>
        </a:p>
      </dgm:t>
    </dgm:pt>
    <dgm:pt modelId="{EDC25B59-39A9-46FA-9D18-BDC1A61D271C}" type="sibTrans" cxnId="{51102020-69FC-4280-967B-B153A8198492}">
      <dgm:prSet/>
      <dgm:spPr/>
      <dgm:t>
        <a:bodyPr/>
        <a:lstStyle/>
        <a:p>
          <a:endParaRPr lang="en-IN"/>
        </a:p>
      </dgm:t>
    </dgm:pt>
    <dgm:pt modelId="{06063F9A-F6E1-4AC6-B904-4C690D4CA9C5}">
      <dgm:prSet phldrT="[Text]"/>
      <dgm:spPr/>
      <dgm:t>
        <a:bodyPr/>
        <a:lstStyle/>
        <a:p>
          <a:r>
            <a:rPr lang="en-US" dirty="0"/>
            <a:t>On the Basis of Time </a:t>
          </a:r>
          <a:endParaRPr lang="en-IN" dirty="0"/>
        </a:p>
      </dgm:t>
    </dgm:pt>
    <dgm:pt modelId="{89E0B94F-D68C-411F-8D75-625FABD04004}" type="parTrans" cxnId="{2C271083-0625-4344-81F9-ECECA539468A}">
      <dgm:prSet/>
      <dgm:spPr/>
      <dgm:t>
        <a:bodyPr/>
        <a:lstStyle/>
        <a:p>
          <a:endParaRPr lang="en-IN"/>
        </a:p>
      </dgm:t>
    </dgm:pt>
    <dgm:pt modelId="{F7A599C8-C8A6-4443-B681-62D375425AC3}" type="sibTrans" cxnId="{2C271083-0625-4344-81F9-ECECA539468A}">
      <dgm:prSet/>
      <dgm:spPr/>
      <dgm:t>
        <a:bodyPr/>
        <a:lstStyle/>
        <a:p>
          <a:endParaRPr lang="en-IN"/>
        </a:p>
      </dgm:t>
    </dgm:pt>
    <dgm:pt modelId="{CCEB6DEE-7C96-41D6-94B5-0BC9AA4066A1}">
      <dgm:prSet phldrT="[Text]"/>
      <dgm:spPr/>
      <dgm:t>
        <a:bodyPr/>
        <a:lstStyle/>
        <a:p>
          <a:pPr>
            <a:buNone/>
          </a:pPr>
          <a:r>
            <a:rPr lang="en-US" dirty="0"/>
            <a:t>Permanent</a:t>
          </a:r>
        </a:p>
        <a:p>
          <a:pPr>
            <a:buFont typeface="Arial" panose="020B0604020202020204" pitchFamily="34" charset="0"/>
            <a:buChar char="•"/>
          </a:pPr>
          <a:r>
            <a:rPr lang="en-US" dirty="0"/>
            <a:t>--Regular</a:t>
          </a:r>
        </a:p>
        <a:p>
          <a:pPr>
            <a:buFont typeface="Arial" panose="020B0604020202020204" pitchFamily="34" charset="0"/>
            <a:buChar char="•"/>
          </a:pPr>
          <a:r>
            <a:rPr lang="en-US" dirty="0"/>
            <a:t>--Reserve </a:t>
          </a:r>
          <a:endParaRPr lang="en-IN" dirty="0"/>
        </a:p>
      </dgm:t>
    </dgm:pt>
    <dgm:pt modelId="{5F8AF900-F363-4EAB-82A0-90C53C419477}" type="parTrans" cxnId="{04CF1308-ADA9-4FF7-8960-FC957522DCF5}">
      <dgm:prSet/>
      <dgm:spPr/>
      <dgm:t>
        <a:bodyPr/>
        <a:lstStyle/>
        <a:p>
          <a:endParaRPr lang="en-IN"/>
        </a:p>
      </dgm:t>
    </dgm:pt>
    <dgm:pt modelId="{B79A0A3B-207E-4024-A438-5035E5716977}" type="sibTrans" cxnId="{04CF1308-ADA9-4FF7-8960-FC957522DCF5}">
      <dgm:prSet/>
      <dgm:spPr/>
      <dgm:t>
        <a:bodyPr/>
        <a:lstStyle/>
        <a:p>
          <a:endParaRPr lang="en-IN"/>
        </a:p>
      </dgm:t>
    </dgm:pt>
    <dgm:pt modelId="{AF718C58-ADFE-4BAB-94D9-389197FDDF40}">
      <dgm:prSet phldrT="[Text]"/>
      <dgm:spPr/>
      <dgm:t>
        <a:bodyPr/>
        <a:lstStyle/>
        <a:p>
          <a:r>
            <a:rPr lang="en-US" dirty="0"/>
            <a:t>Temporary</a:t>
          </a:r>
        </a:p>
        <a:p>
          <a:r>
            <a:rPr lang="en-US" dirty="0"/>
            <a:t>--Seasonal</a:t>
          </a:r>
        </a:p>
        <a:p>
          <a:r>
            <a:rPr lang="en-US" dirty="0"/>
            <a:t>--Special</a:t>
          </a:r>
          <a:endParaRPr lang="en-IN" dirty="0"/>
        </a:p>
      </dgm:t>
    </dgm:pt>
    <dgm:pt modelId="{EE8612B0-398B-433C-95CD-F9ABF4DD251E}" type="parTrans" cxnId="{D64666BA-D9F8-47D2-9380-636BE8E81F76}">
      <dgm:prSet/>
      <dgm:spPr/>
      <dgm:t>
        <a:bodyPr/>
        <a:lstStyle/>
        <a:p>
          <a:endParaRPr lang="en-IN"/>
        </a:p>
      </dgm:t>
    </dgm:pt>
    <dgm:pt modelId="{1EF5590E-C3DB-4201-80B4-C59141372881}" type="sibTrans" cxnId="{D64666BA-D9F8-47D2-9380-636BE8E81F76}">
      <dgm:prSet/>
      <dgm:spPr/>
      <dgm:t>
        <a:bodyPr/>
        <a:lstStyle/>
        <a:p>
          <a:endParaRPr lang="en-IN"/>
        </a:p>
      </dgm:t>
    </dgm:pt>
    <dgm:pt modelId="{681EBF3B-423B-450B-A8EA-69D115A7C26D}" type="pres">
      <dgm:prSet presAssocID="{B07926DF-678A-445A-8BA5-3B7893E4BD08}" presName="diagram" presStyleCnt="0">
        <dgm:presLayoutVars>
          <dgm:chPref val="1"/>
          <dgm:dir/>
          <dgm:animOne val="branch"/>
          <dgm:animLvl val="lvl"/>
          <dgm:resizeHandles/>
        </dgm:presLayoutVars>
      </dgm:prSet>
      <dgm:spPr/>
      <dgm:t>
        <a:bodyPr/>
        <a:lstStyle/>
        <a:p>
          <a:endParaRPr lang="en-US"/>
        </a:p>
      </dgm:t>
    </dgm:pt>
    <dgm:pt modelId="{DE0D02FB-7862-43FC-8C5E-069AF7341631}" type="pres">
      <dgm:prSet presAssocID="{BEE5F9BA-A0B1-4B87-9E3B-E6223A603616}" presName="root" presStyleCnt="0"/>
      <dgm:spPr/>
    </dgm:pt>
    <dgm:pt modelId="{414069DB-5368-4F5C-B3DF-5306EB40E98B}" type="pres">
      <dgm:prSet presAssocID="{BEE5F9BA-A0B1-4B87-9E3B-E6223A603616}" presName="rootComposite" presStyleCnt="0"/>
      <dgm:spPr/>
    </dgm:pt>
    <dgm:pt modelId="{B4CAA03E-2E73-4E64-A565-D4537B951C06}" type="pres">
      <dgm:prSet presAssocID="{BEE5F9BA-A0B1-4B87-9E3B-E6223A603616}" presName="rootText" presStyleLbl="node1" presStyleIdx="0" presStyleCnt="2"/>
      <dgm:spPr/>
      <dgm:t>
        <a:bodyPr/>
        <a:lstStyle/>
        <a:p>
          <a:endParaRPr lang="en-US"/>
        </a:p>
      </dgm:t>
    </dgm:pt>
    <dgm:pt modelId="{72F27BD9-B91D-41A7-9FF5-87FCCBDBB827}" type="pres">
      <dgm:prSet presAssocID="{BEE5F9BA-A0B1-4B87-9E3B-E6223A603616}" presName="rootConnector" presStyleLbl="node1" presStyleIdx="0" presStyleCnt="2"/>
      <dgm:spPr/>
      <dgm:t>
        <a:bodyPr/>
        <a:lstStyle/>
        <a:p>
          <a:endParaRPr lang="en-US"/>
        </a:p>
      </dgm:t>
    </dgm:pt>
    <dgm:pt modelId="{43A12EC4-1C01-4AB5-9B10-3297F654B07D}" type="pres">
      <dgm:prSet presAssocID="{BEE5F9BA-A0B1-4B87-9E3B-E6223A603616}" presName="childShape" presStyleCnt="0"/>
      <dgm:spPr/>
    </dgm:pt>
    <dgm:pt modelId="{9F8F4482-CB9A-4261-8227-542649E3B01B}" type="pres">
      <dgm:prSet presAssocID="{C245633E-2057-4377-8A82-77F869714E8A}" presName="Name13" presStyleLbl="parChTrans1D2" presStyleIdx="0" presStyleCnt="4"/>
      <dgm:spPr/>
      <dgm:t>
        <a:bodyPr/>
        <a:lstStyle/>
        <a:p>
          <a:endParaRPr lang="en-US"/>
        </a:p>
      </dgm:t>
    </dgm:pt>
    <dgm:pt modelId="{1A6AE3C2-BD4C-4F09-A070-36C3A4EC4B69}" type="pres">
      <dgm:prSet presAssocID="{0BA47D96-E731-4730-BA6A-CB29B503F912}" presName="childText" presStyleLbl="bgAcc1" presStyleIdx="0" presStyleCnt="4">
        <dgm:presLayoutVars>
          <dgm:bulletEnabled val="1"/>
        </dgm:presLayoutVars>
      </dgm:prSet>
      <dgm:spPr/>
      <dgm:t>
        <a:bodyPr/>
        <a:lstStyle/>
        <a:p>
          <a:endParaRPr lang="en-US"/>
        </a:p>
      </dgm:t>
    </dgm:pt>
    <dgm:pt modelId="{A858420B-8771-4B55-97AF-27E5CB0AA762}" type="pres">
      <dgm:prSet presAssocID="{E31D02A2-214C-4BA4-B522-5C51CE7AD2EF}" presName="Name13" presStyleLbl="parChTrans1D2" presStyleIdx="1" presStyleCnt="4"/>
      <dgm:spPr/>
      <dgm:t>
        <a:bodyPr/>
        <a:lstStyle/>
        <a:p>
          <a:endParaRPr lang="en-US"/>
        </a:p>
      </dgm:t>
    </dgm:pt>
    <dgm:pt modelId="{94F76ECD-D5AB-4446-A530-D94AFB994D14}" type="pres">
      <dgm:prSet presAssocID="{10F7B463-806E-4C94-9857-7E21EE027305}" presName="childText" presStyleLbl="bgAcc1" presStyleIdx="1" presStyleCnt="4">
        <dgm:presLayoutVars>
          <dgm:bulletEnabled val="1"/>
        </dgm:presLayoutVars>
      </dgm:prSet>
      <dgm:spPr/>
      <dgm:t>
        <a:bodyPr/>
        <a:lstStyle/>
        <a:p>
          <a:endParaRPr lang="en-US"/>
        </a:p>
      </dgm:t>
    </dgm:pt>
    <dgm:pt modelId="{C427FF1E-B131-489F-A16A-FFE3508C8A9C}" type="pres">
      <dgm:prSet presAssocID="{06063F9A-F6E1-4AC6-B904-4C690D4CA9C5}" presName="root" presStyleCnt="0"/>
      <dgm:spPr/>
    </dgm:pt>
    <dgm:pt modelId="{DEB4EB9A-2683-4898-A338-D7A33848AF50}" type="pres">
      <dgm:prSet presAssocID="{06063F9A-F6E1-4AC6-B904-4C690D4CA9C5}" presName="rootComposite" presStyleCnt="0"/>
      <dgm:spPr/>
    </dgm:pt>
    <dgm:pt modelId="{6C02BF0A-04B5-4F97-93F0-4DDF5DD4E10E}" type="pres">
      <dgm:prSet presAssocID="{06063F9A-F6E1-4AC6-B904-4C690D4CA9C5}" presName="rootText" presStyleLbl="node1" presStyleIdx="1" presStyleCnt="2"/>
      <dgm:spPr/>
      <dgm:t>
        <a:bodyPr/>
        <a:lstStyle/>
        <a:p>
          <a:endParaRPr lang="en-US"/>
        </a:p>
      </dgm:t>
    </dgm:pt>
    <dgm:pt modelId="{25C7D1E0-B21D-4812-A3BB-886314DF1296}" type="pres">
      <dgm:prSet presAssocID="{06063F9A-F6E1-4AC6-B904-4C690D4CA9C5}" presName="rootConnector" presStyleLbl="node1" presStyleIdx="1" presStyleCnt="2"/>
      <dgm:spPr/>
      <dgm:t>
        <a:bodyPr/>
        <a:lstStyle/>
        <a:p>
          <a:endParaRPr lang="en-US"/>
        </a:p>
      </dgm:t>
    </dgm:pt>
    <dgm:pt modelId="{6A773F5A-FCFD-4C01-AC93-5B6E05887A1C}" type="pres">
      <dgm:prSet presAssocID="{06063F9A-F6E1-4AC6-B904-4C690D4CA9C5}" presName="childShape" presStyleCnt="0"/>
      <dgm:spPr/>
    </dgm:pt>
    <dgm:pt modelId="{D8DAB656-0C65-4A94-8B7E-BB9E991421FD}" type="pres">
      <dgm:prSet presAssocID="{5F8AF900-F363-4EAB-82A0-90C53C419477}" presName="Name13" presStyleLbl="parChTrans1D2" presStyleIdx="2" presStyleCnt="4"/>
      <dgm:spPr/>
      <dgm:t>
        <a:bodyPr/>
        <a:lstStyle/>
        <a:p>
          <a:endParaRPr lang="en-US"/>
        </a:p>
      </dgm:t>
    </dgm:pt>
    <dgm:pt modelId="{A7D12906-D86F-4C0F-8869-0E712CBC7FB3}" type="pres">
      <dgm:prSet presAssocID="{CCEB6DEE-7C96-41D6-94B5-0BC9AA4066A1}" presName="childText" presStyleLbl="bgAcc1" presStyleIdx="2" presStyleCnt="4">
        <dgm:presLayoutVars>
          <dgm:bulletEnabled val="1"/>
        </dgm:presLayoutVars>
      </dgm:prSet>
      <dgm:spPr/>
      <dgm:t>
        <a:bodyPr/>
        <a:lstStyle/>
        <a:p>
          <a:endParaRPr lang="en-US"/>
        </a:p>
      </dgm:t>
    </dgm:pt>
    <dgm:pt modelId="{AF7821A0-A88B-4520-AE99-CBA71B0915FD}" type="pres">
      <dgm:prSet presAssocID="{EE8612B0-398B-433C-95CD-F9ABF4DD251E}" presName="Name13" presStyleLbl="parChTrans1D2" presStyleIdx="3" presStyleCnt="4"/>
      <dgm:spPr/>
      <dgm:t>
        <a:bodyPr/>
        <a:lstStyle/>
        <a:p>
          <a:endParaRPr lang="en-US"/>
        </a:p>
      </dgm:t>
    </dgm:pt>
    <dgm:pt modelId="{5D6F7AEA-7C4C-4C17-AA30-9CD8B5C3E3C7}" type="pres">
      <dgm:prSet presAssocID="{AF718C58-ADFE-4BAB-94D9-389197FDDF40}" presName="childText" presStyleLbl="bgAcc1" presStyleIdx="3" presStyleCnt="4">
        <dgm:presLayoutVars>
          <dgm:bulletEnabled val="1"/>
        </dgm:presLayoutVars>
      </dgm:prSet>
      <dgm:spPr/>
      <dgm:t>
        <a:bodyPr/>
        <a:lstStyle/>
        <a:p>
          <a:endParaRPr lang="en-US"/>
        </a:p>
      </dgm:t>
    </dgm:pt>
  </dgm:ptLst>
  <dgm:cxnLst>
    <dgm:cxn modelId="{5847B52A-2FAC-4CD3-A1BB-A841610BA66A}" type="presOf" srcId="{10F7B463-806E-4C94-9857-7E21EE027305}" destId="{94F76ECD-D5AB-4446-A530-D94AFB994D14}" srcOrd="0" destOrd="0" presId="urn:microsoft.com/office/officeart/2005/8/layout/hierarchy3"/>
    <dgm:cxn modelId="{27287914-F696-49DE-8602-E2538AEF42A1}" type="presOf" srcId="{AF718C58-ADFE-4BAB-94D9-389197FDDF40}" destId="{5D6F7AEA-7C4C-4C17-AA30-9CD8B5C3E3C7}" srcOrd="0" destOrd="0" presId="urn:microsoft.com/office/officeart/2005/8/layout/hierarchy3"/>
    <dgm:cxn modelId="{68E5C97C-457F-498F-A705-5994127D29FF}" type="presOf" srcId="{E31D02A2-214C-4BA4-B522-5C51CE7AD2EF}" destId="{A858420B-8771-4B55-97AF-27E5CB0AA762}" srcOrd="0" destOrd="0" presId="urn:microsoft.com/office/officeart/2005/8/layout/hierarchy3"/>
    <dgm:cxn modelId="{2C271083-0625-4344-81F9-ECECA539468A}" srcId="{B07926DF-678A-445A-8BA5-3B7893E4BD08}" destId="{06063F9A-F6E1-4AC6-B904-4C690D4CA9C5}" srcOrd="1" destOrd="0" parTransId="{89E0B94F-D68C-411F-8D75-625FABD04004}" sibTransId="{F7A599C8-C8A6-4443-B681-62D375425AC3}"/>
    <dgm:cxn modelId="{D64666BA-D9F8-47D2-9380-636BE8E81F76}" srcId="{06063F9A-F6E1-4AC6-B904-4C690D4CA9C5}" destId="{AF718C58-ADFE-4BAB-94D9-389197FDDF40}" srcOrd="1" destOrd="0" parTransId="{EE8612B0-398B-433C-95CD-F9ABF4DD251E}" sibTransId="{1EF5590E-C3DB-4201-80B4-C59141372881}"/>
    <dgm:cxn modelId="{B3B08855-AD9E-4B9A-B6AF-A7175C7C91B2}" srcId="{B07926DF-678A-445A-8BA5-3B7893E4BD08}" destId="{BEE5F9BA-A0B1-4B87-9E3B-E6223A603616}" srcOrd="0" destOrd="0" parTransId="{3983AF32-4E5A-4CB9-9B5A-5EB7E6F4FCD3}" sibTransId="{4A9AC8C7-3F80-4873-B461-7F5B031CA322}"/>
    <dgm:cxn modelId="{AA6124FC-9706-4DEF-AF25-E9BFF3EB294D}" type="presOf" srcId="{06063F9A-F6E1-4AC6-B904-4C690D4CA9C5}" destId="{25C7D1E0-B21D-4812-A3BB-886314DF1296}" srcOrd="1" destOrd="0" presId="urn:microsoft.com/office/officeart/2005/8/layout/hierarchy3"/>
    <dgm:cxn modelId="{632EDA25-A875-42C3-9D18-814D31F085F1}" srcId="{BEE5F9BA-A0B1-4B87-9E3B-E6223A603616}" destId="{0BA47D96-E731-4730-BA6A-CB29B503F912}" srcOrd="0" destOrd="0" parTransId="{C245633E-2057-4377-8A82-77F869714E8A}" sibTransId="{23FE53E2-FF22-4F71-8E4D-9183CEB782B4}"/>
    <dgm:cxn modelId="{A80E141F-69A9-417B-BD1F-57533EDDCEDC}" type="presOf" srcId="{BEE5F9BA-A0B1-4B87-9E3B-E6223A603616}" destId="{72F27BD9-B91D-41A7-9FF5-87FCCBDBB827}" srcOrd="1" destOrd="0" presId="urn:microsoft.com/office/officeart/2005/8/layout/hierarchy3"/>
    <dgm:cxn modelId="{0F220393-00E9-4BFF-9826-8B88916927ED}" type="presOf" srcId="{CCEB6DEE-7C96-41D6-94B5-0BC9AA4066A1}" destId="{A7D12906-D86F-4C0F-8869-0E712CBC7FB3}" srcOrd="0" destOrd="0" presId="urn:microsoft.com/office/officeart/2005/8/layout/hierarchy3"/>
    <dgm:cxn modelId="{04CF1308-ADA9-4FF7-8960-FC957522DCF5}" srcId="{06063F9A-F6E1-4AC6-B904-4C690D4CA9C5}" destId="{CCEB6DEE-7C96-41D6-94B5-0BC9AA4066A1}" srcOrd="0" destOrd="0" parTransId="{5F8AF900-F363-4EAB-82A0-90C53C419477}" sibTransId="{B79A0A3B-207E-4024-A438-5035E5716977}"/>
    <dgm:cxn modelId="{51102020-69FC-4280-967B-B153A8198492}" srcId="{BEE5F9BA-A0B1-4B87-9E3B-E6223A603616}" destId="{10F7B463-806E-4C94-9857-7E21EE027305}" srcOrd="1" destOrd="0" parTransId="{E31D02A2-214C-4BA4-B522-5C51CE7AD2EF}" sibTransId="{EDC25B59-39A9-46FA-9D18-BDC1A61D271C}"/>
    <dgm:cxn modelId="{2BE97A3B-E10E-4067-85A7-13E5FE4872C9}" type="presOf" srcId="{C245633E-2057-4377-8A82-77F869714E8A}" destId="{9F8F4482-CB9A-4261-8227-542649E3B01B}" srcOrd="0" destOrd="0" presId="urn:microsoft.com/office/officeart/2005/8/layout/hierarchy3"/>
    <dgm:cxn modelId="{A716EFBD-863A-45D7-BB84-F0E0244DD254}" type="presOf" srcId="{BEE5F9BA-A0B1-4B87-9E3B-E6223A603616}" destId="{B4CAA03E-2E73-4E64-A565-D4537B951C06}" srcOrd="0" destOrd="0" presId="urn:microsoft.com/office/officeart/2005/8/layout/hierarchy3"/>
    <dgm:cxn modelId="{ED881914-7B35-481E-A76D-3843E6328D6A}" type="presOf" srcId="{0BA47D96-E731-4730-BA6A-CB29B503F912}" destId="{1A6AE3C2-BD4C-4F09-A070-36C3A4EC4B69}" srcOrd="0" destOrd="0" presId="urn:microsoft.com/office/officeart/2005/8/layout/hierarchy3"/>
    <dgm:cxn modelId="{37E61B3B-0DD5-456E-9DA8-603EBB281CAB}" type="presOf" srcId="{5F8AF900-F363-4EAB-82A0-90C53C419477}" destId="{D8DAB656-0C65-4A94-8B7E-BB9E991421FD}" srcOrd="0" destOrd="0" presId="urn:microsoft.com/office/officeart/2005/8/layout/hierarchy3"/>
    <dgm:cxn modelId="{8381EF2E-8C5F-46AD-AA97-78F05879CC6F}" type="presOf" srcId="{B07926DF-678A-445A-8BA5-3B7893E4BD08}" destId="{681EBF3B-423B-450B-A8EA-69D115A7C26D}" srcOrd="0" destOrd="0" presId="urn:microsoft.com/office/officeart/2005/8/layout/hierarchy3"/>
    <dgm:cxn modelId="{0FE5EFE4-D1F4-4BB4-BE61-39DE105E337A}" type="presOf" srcId="{EE8612B0-398B-433C-95CD-F9ABF4DD251E}" destId="{AF7821A0-A88B-4520-AE99-CBA71B0915FD}" srcOrd="0" destOrd="0" presId="urn:microsoft.com/office/officeart/2005/8/layout/hierarchy3"/>
    <dgm:cxn modelId="{EC73F27A-E0EC-43BD-B9EB-F433FD725FD0}" type="presOf" srcId="{06063F9A-F6E1-4AC6-B904-4C690D4CA9C5}" destId="{6C02BF0A-04B5-4F97-93F0-4DDF5DD4E10E}" srcOrd="0" destOrd="0" presId="urn:microsoft.com/office/officeart/2005/8/layout/hierarchy3"/>
    <dgm:cxn modelId="{F382EE54-12FA-499C-BF6D-5F0DFD2525D7}" type="presParOf" srcId="{681EBF3B-423B-450B-A8EA-69D115A7C26D}" destId="{DE0D02FB-7862-43FC-8C5E-069AF7341631}" srcOrd="0" destOrd="0" presId="urn:microsoft.com/office/officeart/2005/8/layout/hierarchy3"/>
    <dgm:cxn modelId="{365E9F06-7A51-4981-8333-762D516E5126}" type="presParOf" srcId="{DE0D02FB-7862-43FC-8C5E-069AF7341631}" destId="{414069DB-5368-4F5C-B3DF-5306EB40E98B}" srcOrd="0" destOrd="0" presId="urn:microsoft.com/office/officeart/2005/8/layout/hierarchy3"/>
    <dgm:cxn modelId="{8A2ED21A-24AD-4713-93CD-3FE8769E3AA6}" type="presParOf" srcId="{414069DB-5368-4F5C-B3DF-5306EB40E98B}" destId="{B4CAA03E-2E73-4E64-A565-D4537B951C06}" srcOrd="0" destOrd="0" presId="urn:microsoft.com/office/officeart/2005/8/layout/hierarchy3"/>
    <dgm:cxn modelId="{427BE847-53BC-4CF9-9B1A-DD6D388B1EC2}" type="presParOf" srcId="{414069DB-5368-4F5C-B3DF-5306EB40E98B}" destId="{72F27BD9-B91D-41A7-9FF5-87FCCBDBB827}" srcOrd="1" destOrd="0" presId="urn:microsoft.com/office/officeart/2005/8/layout/hierarchy3"/>
    <dgm:cxn modelId="{32133BBE-5973-42F9-BDEE-33485579D54A}" type="presParOf" srcId="{DE0D02FB-7862-43FC-8C5E-069AF7341631}" destId="{43A12EC4-1C01-4AB5-9B10-3297F654B07D}" srcOrd="1" destOrd="0" presId="urn:microsoft.com/office/officeart/2005/8/layout/hierarchy3"/>
    <dgm:cxn modelId="{B1381811-43D8-4508-840E-A55C511F5503}" type="presParOf" srcId="{43A12EC4-1C01-4AB5-9B10-3297F654B07D}" destId="{9F8F4482-CB9A-4261-8227-542649E3B01B}" srcOrd="0" destOrd="0" presId="urn:microsoft.com/office/officeart/2005/8/layout/hierarchy3"/>
    <dgm:cxn modelId="{6E6A2D67-ECEA-4F64-9AB9-B73CAA56CC42}" type="presParOf" srcId="{43A12EC4-1C01-4AB5-9B10-3297F654B07D}" destId="{1A6AE3C2-BD4C-4F09-A070-36C3A4EC4B69}" srcOrd="1" destOrd="0" presId="urn:microsoft.com/office/officeart/2005/8/layout/hierarchy3"/>
    <dgm:cxn modelId="{DFDC59FD-A76B-4D40-ABCF-B5048DF71BCB}" type="presParOf" srcId="{43A12EC4-1C01-4AB5-9B10-3297F654B07D}" destId="{A858420B-8771-4B55-97AF-27E5CB0AA762}" srcOrd="2" destOrd="0" presId="urn:microsoft.com/office/officeart/2005/8/layout/hierarchy3"/>
    <dgm:cxn modelId="{C384E862-6BD0-4306-AD7D-7B4944CA94FF}" type="presParOf" srcId="{43A12EC4-1C01-4AB5-9B10-3297F654B07D}" destId="{94F76ECD-D5AB-4446-A530-D94AFB994D14}" srcOrd="3" destOrd="0" presId="urn:microsoft.com/office/officeart/2005/8/layout/hierarchy3"/>
    <dgm:cxn modelId="{286AA52A-1F55-4465-AC57-606123B7390C}" type="presParOf" srcId="{681EBF3B-423B-450B-A8EA-69D115A7C26D}" destId="{C427FF1E-B131-489F-A16A-FFE3508C8A9C}" srcOrd="1" destOrd="0" presId="urn:microsoft.com/office/officeart/2005/8/layout/hierarchy3"/>
    <dgm:cxn modelId="{00B13659-BC66-410B-9999-D647C5228AB9}" type="presParOf" srcId="{C427FF1E-B131-489F-A16A-FFE3508C8A9C}" destId="{DEB4EB9A-2683-4898-A338-D7A33848AF50}" srcOrd="0" destOrd="0" presId="urn:microsoft.com/office/officeart/2005/8/layout/hierarchy3"/>
    <dgm:cxn modelId="{A87B68C4-219D-47E2-9011-AF972D2319BE}" type="presParOf" srcId="{DEB4EB9A-2683-4898-A338-D7A33848AF50}" destId="{6C02BF0A-04B5-4F97-93F0-4DDF5DD4E10E}" srcOrd="0" destOrd="0" presId="urn:microsoft.com/office/officeart/2005/8/layout/hierarchy3"/>
    <dgm:cxn modelId="{893BB14E-BB50-4400-A91B-89929AED43E5}" type="presParOf" srcId="{DEB4EB9A-2683-4898-A338-D7A33848AF50}" destId="{25C7D1E0-B21D-4812-A3BB-886314DF1296}" srcOrd="1" destOrd="0" presId="urn:microsoft.com/office/officeart/2005/8/layout/hierarchy3"/>
    <dgm:cxn modelId="{D2F606EC-87AB-4661-B113-5DDFE0FF11A1}" type="presParOf" srcId="{C427FF1E-B131-489F-A16A-FFE3508C8A9C}" destId="{6A773F5A-FCFD-4C01-AC93-5B6E05887A1C}" srcOrd="1" destOrd="0" presId="urn:microsoft.com/office/officeart/2005/8/layout/hierarchy3"/>
    <dgm:cxn modelId="{9E3B6127-941C-4E7D-A2F1-CCE752C91EFD}" type="presParOf" srcId="{6A773F5A-FCFD-4C01-AC93-5B6E05887A1C}" destId="{D8DAB656-0C65-4A94-8B7E-BB9E991421FD}" srcOrd="0" destOrd="0" presId="urn:microsoft.com/office/officeart/2005/8/layout/hierarchy3"/>
    <dgm:cxn modelId="{CA3028DC-1F89-413A-A316-6FEBC48B92EB}" type="presParOf" srcId="{6A773F5A-FCFD-4C01-AC93-5B6E05887A1C}" destId="{A7D12906-D86F-4C0F-8869-0E712CBC7FB3}" srcOrd="1" destOrd="0" presId="urn:microsoft.com/office/officeart/2005/8/layout/hierarchy3"/>
    <dgm:cxn modelId="{AE5AC2A9-ACDC-4120-A28D-F3E3836B914F}" type="presParOf" srcId="{6A773F5A-FCFD-4C01-AC93-5B6E05887A1C}" destId="{AF7821A0-A88B-4520-AE99-CBA71B0915FD}" srcOrd="2" destOrd="0" presId="urn:microsoft.com/office/officeart/2005/8/layout/hierarchy3"/>
    <dgm:cxn modelId="{6151F101-3E56-4EE0-991D-9A0376C1EC1D}" type="presParOf" srcId="{6A773F5A-FCFD-4C01-AC93-5B6E05887A1C}" destId="{5D6F7AEA-7C4C-4C17-AA30-9CD8B5C3E3C7}"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C6A0051-AB2E-477F-8617-1CAF106EEEEC}" type="doc">
      <dgm:prSet loTypeId="urn:microsoft.com/office/officeart/2005/8/layout/hierarchy3" loCatId="hierarchy" qsTypeId="urn:microsoft.com/office/officeart/2005/8/quickstyle/simple4" qsCatId="simple" csTypeId="urn:microsoft.com/office/officeart/2005/8/colors/colorful1#3" csCatId="colorful"/>
      <dgm:spPr/>
      <dgm:t>
        <a:bodyPr/>
        <a:lstStyle/>
        <a:p>
          <a:endParaRPr lang="en-US"/>
        </a:p>
      </dgm:t>
    </dgm:pt>
    <dgm:pt modelId="{96BE2C9E-02C9-4CD2-97D2-C9199C8CA598}">
      <dgm:prSet/>
      <dgm:spPr/>
      <dgm:t>
        <a:bodyPr/>
        <a:lstStyle/>
        <a:p>
          <a:r>
            <a:rPr lang="en-GB"/>
            <a:t>Gross Working Capital</a:t>
          </a:r>
          <a:endParaRPr lang="en-US"/>
        </a:p>
      </dgm:t>
    </dgm:pt>
    <dgm:pt modelId="{A3EF0ED8-CE68-4529-90A5-A055D63C8EF5}" type="parTrans" cxnId="{4502C756-470C-4CE0-A2CC-52493A19A223}">
      <dgm:prSet/>
      <dgm:spPr/>
      <dgm:t>
        <a:bodyPr/>
        <a:lstStyle/>
        <a:p>
          <a:endParaRPr lang="en-US"/>
        </a:p>
      </dgm:t>
    </dgm:pt>
    <dgm:pt modelId="{A134EDCC-851A-4DF9-94DF-685790FB4BC1}" type="sibTrans" cxnId="{4502C756-470C-4CE0-A2CC-52493A19A223}">
      <dgm:prSet/>
      <dgm:spPr/>
      <dgm:t>
        <a:bodyPr/>
        <a:lstStyle/>
        <a:p>
          <a:endParaRPr lang="en-US"/>
        </a:p>
      </dgm:t>
    </dgm:pt>
    <dgm:pt modelId="{3E57AEFB-DDF5-4510-ACE0-27462D1D7E5C}">
      <dgm:prSet/>
      <dgm:spPr/>
      <dgm:t>
        <a:bodyPr/>
        <a:lstStyle/>
        <a:p>
          <a:r>
            <a:rPr lang="en-GB"/>
            <a:t>Net Working Capital</a:t>
          </a:r>
          <a:endParaRPr lang="en-US"/>
        </a:p>
      </dgm:t>
    </dgm:pt>
    <dgm:pt modelId="{BCA60F50-10B0-4672-AAD9-8A3FBB4D809B}" type="parTrans" cxnId="{99D50250-3868-4235-85EF-E86F76BAEB6C}">
      <dgm:prSet/>
      <dgm:spPr/>
      <dgm:t>
        <a:bodyPr/>
        <a:lstStyle/>
        <a:p>
          <a:endParaRPr lang="en-US"/>
        </a:p>
      </dgm:t>
    </dgm:pt>
    <dgm:pt modelId="{62D38D41-A2A8-455D-B50A-15565EFBE055}" type="sibTrans" cxnId="{99D50250-3868-4235-85EF-E86F76BAEB6C}">
      <dgm:prSet/>
      <dgm:spPr/>
      <dgm:t>
        <a:bodyPr/>
        <a:lstStyle/>
        <a:p>
          <a:endParaRPr lang="en-US"/>
        </a:p>
      </dgm:t>
    </dgm:pt>
    <dgm:pt modelId="{2B7AFEFC-0C6C-4C00-A1EE-38DE433F22F9}" type="pres">
      <dgm:prSet presAssocID="{6C6A0051-AB2E-477F-8617-1CAF106EEEEC}" presName="diagram" presStyleCnt="0">
        <dgm:presLayoutVars>
          <dgm:chPref val="1"/>
          <dgm:dir/>
          <dgm:animOne val="branch"/>
          <dgm:animLvl val="lvl"/>
          <dgm:resizeHandles/>
        </dgm:presLayoutVars>
      </dgm:prSet>
      <dgm:spPr/>
      <dgm:t>
        <a:bodyPr/>
        <a:lstStyle/>
        <a:p>
          <a:endParaRPr lang="en-US"/>
        </a:p>
      </dgm:t>
    </dgm:pt>
    <dgm:pt modelId="{89D56F09-B5DD-458F-A88D-AC5C869770EE}" type="pres">
      <dgm:prSet presAssocID="{96BE2C9E-02C9-4CD2-97D2-C9199C8CA598}" presName="root" presStyleCnt="0"/>
      <dgm:spPr/>
    </dgm:pt>
    <dgm:pt modelId="{A4A96F16-1F8F-4713-8358-3C1B6EF408BE}" type="pres">
      <dgm:prSet presAssocID="{96BE2C9E-02C9-4CD2-97D2-C9199C8CA598}" presName="rootComposite" presStyleCnt="0"/>
      <dgm:spPr/>
    </dgm:pt>
    <dgm:pt modelId="{4D779BAE-C49E-4DC9-A49C-D393DC84E660}" type="pres">
      <dgm:prSet presAssocID="{96BE2C9E-02C9-4CD2-97D2-C9199C8CA598}" presName="rootText" presStyleLbl="node1" presStyleIdx="0" presStyleCnt="2"/>
      <dgm:spPr/>
      <dgm:t>
        <a:bodyPr/>
        <a:lstStyle/>
        <a:p>
          <a:endParaRPr lang="en-US"/>
        </a:p>
      </dgm:t>
    </dgm:pt>
    <dgm:pt modelId="{5C52D2CD-4119-431B-8352-E554EAB19F67}" type="pres">
      <dgm:prSet presAssocID="{96BE2C9E-02C9-4CD2-97D2-C9199C8CA598}" presName="rootConnector" presStyleLbl="node1" presStyleIdx="0" presStyleCnt="2"/>
      <dgm:spPr/>
      <dgm:t>
        <a:bodyPr/>
        <a:lstStyle/>
        <a:p>
          <a:endParaRPr lang="en-US"/>
        </a:p>
      </dgm:t>
    </dgm:pt>
    <dgm:pt modelId="{EEF6DD9A-9480-439E-BC45-CBAFD9F8C79A}" type="pres">
      <dgm:prSet presAssocID="{96BE2C9E-02C9-4CD2-97D2-C9199C8CA598}" presName="childShape" presStyleCnt="0"/>
      <dgm:spPr/>
    </dgm:pt>
    <dgm:pt modelId="{4BEB1C41-5156-4F8C-BE9D-60E939BEF2E4}" type="pres">
      <dgm:prSet presAssocID="{3E57AEFB-DDF5-4510-ACE0-27462D1D7E5C}" presName="root" presStyleCnt="0"/>
      <dgm:spPr/>
    </dgm:pt>
    <dgm:pt modelId="{E6600C60-9DA3-4246-AF4E-9B96DED41248}" type="pres">
      <dgm:prSet presAssocID="{3E57AEFB-DDF5-4510-ACE0-27462D1D7E5C}" presName="rootComposite" presStyleCnt="0"/>
      <dgm:spPr/>
    </dgm:pt>
    <dgm:pt modelId="{3982F934-9DA7-47FA-B918-6A784D7996AA}" type="pres">
      <dgm:prSet presAssocID="{3E57AEFB-DDF5-4510-ACE0-27462D1D7E5C}" presName="rootText" presStyleLbl="node1" presStyleIdx="1" presStyleCnt="2"/>
      <dgm:spPr/>
      <dgm:t>
        <a:bodyPr/>
        <a:lstStyle/>
        <a:p>
          <a:endParaRPr lang="en-US"/>
        </a:p>
      </dgm:t>
    </dgm:pt>
    <dgm:pt modelId="{58683686-E4A0-4D64-8D1D-DFCC3FB71F3D}" type="pres">
      <dgm:prSet presAssocID="{3E57AEFB-DDF5-4510-ACE0-27462D1D7E5C}" presName="rootConnector" presStyleLbl="node1" presStyleIdx="1" presStyleCnt="2"/>
      <dgm:spPr/>
      <dgm:t>
        <a:bodyPr/>
        <a:lstStyle/>
        <a:p>
          <a:endParaRPr lang="en-US"/>
        </a:p>
      </dgm:t>
    </dgm:pt>
    <dgm:pt modelId="{91EE86B8-C32A-4A8E-8F81-C62A8C79E832}" type="pres">
      <dgm:prSet presAssocID="{3E57AEFB-DDF5-4510-ACE0-27462D1D7E5C}" presName="childShape" presStyleCnt="0"/>
      <dgm:spPr/>
    </dgm:pt>
  </dgm:ptLst>
  <dgm:cxnLst>
    <dgm:cxn modelId="{3FFB71C9-6963-49E7-A174-887074B01130}" type="presOf" srcId="{6C6A0051-AB2E-477F-8617-1CAF106EEEEC}" destId="{2B7AFEFC-0C6C-4C00-A1EE-38DE433F22F9}" srcOrd="0" destOrd="0" presId="urn:microsoft.com/office/officeart/2005/8/layout/hierarchy3"/>
    <dgm:cxn modelId="{4502C756-470C-4CE0-A2CC-52493A19A223}" srcId="{6C6A0051-AB2E-477F-8617-1CAF106EEEEC}" destId="{96BE2C9E-02C9-4CD2-97D2-C9199C8CA598}" srcOrd="0" destOrd="0" parTransId="{A3EF0ED8-CE68-4529-90A5-A055D63C8EF5}" sibTransId="{A134EDCC-851A-4DF9-94DF-685790FB4BC1}"/>
    <dgm:cxn modelId="{99D50250-3868-4235-85EF-E86F76BAEB6C}" srcId="{6C6A0051-AB2E-477F-8617-1CAF106EEEEC}" destId="{3E57AEFB-DDF5-4510-ACE0-27462D1D7E5C}" srcOrd="1" destOrd="0" parTransId="{BCA60F50-10B0-4672-AAD9-8A3FBB4D809B}" sibTransId="{62D38D41-A2A8-455D-B50A-15565EFBE055}"/>
    <dgm:cxn modelId="{56343021-959F-4DE7-9EF3-E6CC02587A7D}" type="presOf" srcId="{96BE2C9E-02C9-4CD2-97D2-C9199C8CA598}" destId="{5C52D2CD-4119-431B-8352-E554EAB19F67}" srcOrd="1" destOrd="0" presId="urn:microsoft.com/office/officeart/2005/8/layout/hierarchy3"/>
    <dgm:cxn modelId="{B6A311DB-48A3-40FB-B3C3-337936BBA8D3}" type="presOf" srcId="{3E57AEFB-DDF5-4510-ACE0-27462D1D7E5C}" destId="{58683686-E4A0-4D64-8D1D-DFCC3FB71F3D}" srcOrd="1" destOrd="0" presId="urn:microsoft.com/office/officeart/2005/8/layout/hierarchy3"/>
    <dgm:cxn modelId="{57965FBB-9665-462B-8794-6E0CA4E84E0F}" type="presOf" srcId="{3E57AEFB-DDF5-4510-ACE0-27462D1D7E5C}" destId="{3982F934-9DA7-47FA-B918-6A784D7996AA}" srcOrd="0" destOrd="0" presId="urn:microsoft.com/office/officeart/2005/8/layout/hierarchy3"/>
    <dgm:cxn modelId="{931B6FFA-CDB2-4B12-9297-26CC6ABC73C1}" type="presOf" srcId="{96BE2C9E-02C9-4CD2-97D2-C9199C8CA598}" destId="{4D779BAE-C49E-4DC9-A49C-D393DC84E660}" srcOrd="0" destOrd="0" presId="urn:microsoft.com/office/officeart/2005/8/layout/hierarchy3"/>
    <dgm:cxn modelId="{E985E3BA-29A7-4BB7-B516-8D7E24217974}" type="presParOf" srcId="{2B7AFEFC-0C6C-4C00-A1EE-38DE433F22F9}" destId="{89D56F09-B5DD-458F-A88D-AC5C869770EE}" srcOrd="0" destOrd="0" presId="urn:microsoft.com/office/officeart/2005/8/layout/hierarchy3"/>
    <dgm:cxn modelId="{9B4DA7BF-9F3A-4FA9-802A-2C7B6C28A793}" type="presParOf" srcId="{89D56F09-B5DD-458F-A88D-AC5C869770EE}" destId="{A4A96F16-1F8F-4713-8358-3C1B6EF408BE}" srcOrd="0" destOrd="0" presId="urn:microsoft.com/office/officeart/2005/8/layout/hierarchy3"/>
    <dgm:cxn modelId="{B078181C-17C6-4E7D-B022-B80212DCC5A7}" type="presParOf" srcId="{A4A96F16-1F8F-4713-8358-3C1B6EF408BE}" destId="{4D779BAE-C49E-4DC9-A49C-D393DC84E660}" srcOrd="0" destOrd="0" presId="urn:microsoft.com/office/officeart/2005/8/layout/hierarchy3"/>
    <dgm:cxn modelId="{0482072E-21DB-4F2D-A864-8347150CDE79}" type="presParOf" srcId="{A4A96F16-1F8F-4713-8358-3C1B6EF408BE}" destId="{5C52D2CD-4119-431B-8352-E554EAB19F67}" srcOrd="1" destOrd="0" presId="urn:microsoft.com/office/officeart/2005/8/layout/hierarchy3"/>
    <dgm:cxn modelId="{2AE50DB9-16A6-4725-B1B5-86105ED9DAB6}" type="presParOf" srcId="{89D56F09-B5DD-458F-A88D-AC5C869770EE}" destId="{EEF6DD9A-9480-439E-BC45-CBAFD9F8C79A}" srcOrd="1" destOrd="0" presId="urn:microsoft.com/office/officeart/2005/8/layout/hierarchy3"/>
    <dgm:cxn modelId="{590C52B4-71CE-496F-AE44-A10A33F5725B}" type="presParOf" srcId="{2B7AFEFC-0C6C-4C00-A1EE-38DE433F22F9}" destId="{4BEB1C41-5156-4F8C-BE9D-60E939BEF2E4}" srcOrd="1" destOrd="0" presId="urn:microsoft.com/office/officeart/2005/8/layout/hierarchy3"/>
    <dgm:cxn modelId="{080D70AF-571C-485C-B7E5-64FA4C849D64}" type="presParOf" srcId="{4BEB1C41-5156-4F8C-BE9D-60E939BEF2E4}" destId="{E6600C60-9DA3-4246-AF4E-9B96DED41248}" srcOrd="0" destOrd="0" presId="urn:microsoft.com/office/officeart/2005/8/layout/hierarchy3"/>
    <dgm:cxn modelId="{3A82D79E-E021-4929-8037-0B6C106B2CF4}" type="presParOf" srcId="{E6600C60-9DA3-4246-AF4E-9B96DED41248}" destId="{3982F934-9DA7-47FA-B918-6A784D7996AA}" srcOrd="0" destOrd="0" presId="urn:microsoft.com/office/officeart/2005/8/layout/hierarchy3"/>
    <dgm:cxn modelId="{6C3085EA-8329-4875-B29E-411EE8A2C8B7}" type="presParOf" srcId="{E6600C60-9DA3-4246-AF4E-9B96DED41248}" destId="{58683686-E4A0-4D64-8D1D-DFCC3FB71F3D}" srcOrd="1" destOrd="0" presId="urn:microsoft.com/office/officeart/2005/8/layout/hierarchy3"/>
    <dgm:cxn modelId="{BB5D8F48-B0EF-461E-8FF8-5CF10075F051}" type="presParOf" srcId="{4BEB1C41-5156-4F8C-BE9D-60E939BEF2E4}" destId="{91EE86B8-C32A-4A8E-8F81-C62A8C79E832}"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AF43D0-5E9C-4B48-872D-FB61726338F2}" type="doc">
      <dgm:prSet loTypeId="urn:microsoft.com/office/officeart/2005/8/layout/cycle6" loCatId="relationship" qsTypeId="urn:microsoft.com/office/officeart/2005/8/quickstyle/simple1" qsCatId="simple" csTypeId="urn:microsoft.com/office/officeart/2005/8/colors/accent1_2" csCatId="accent1" phldr="1"/>
      <dgm:spPr/>
      <dgm:t>
        <a:bodyPr/>
        <a:lstStyle/>
        <a:p>
          <a:endParaRPr lang="en-IN"/>
        </a:p>
      </dgm:t>
    </dgm:pt>
    <dgm:pt modelId="{24B6F8EB-764D-4157-A02F-5995C6A3E27A}">
      <dgm:prSet phldrT="[Text]"/>
      <dgm:spPr/>
      <dgm:t>
        <a:bodyPr/>
        <a:lstStyle/>
        <a:p>
          <a:r>
            <a:rPr lang="en-US" dirty="0"/>
            <a:t>Cash </a:t>
          </a:r>
          <a:endParaRPr lang="en-IN" dirty="0"/>
        </a:p>
      </dgm:t>
    </dgm:pt>
    <dgm:pt modelId="{217BE600-9A9D-44F4-B16F-31528D63291D}" type="parTrans" cxnId="{E3D5246D-FD39-4D84-AB59-F29F08CBD8DD}">
      <dgm:prSet/>
      <dgm:spPr/>
      <dgm:t>
        <a:bodyPr/>
        <a:lstStyle/>
        <a:p>
          <a:endParaRPr lang="en-IN"/>
        </a:p>
      </dgm:t>
    </dgm:pt>
    <dgm:pt modelId="{E2510268-4D8C-498E-8453-6B9FA02384BF}" type="sibTrans" cxnId="{E3D5246D-FD39-4D84-AB59-F29F08CBD8DD}">
      <dgm:prSet/>
      <dgm:spPr/>
      <dgm:t>
        <a:bodyPr/>
        <a:lstStyle/>
        <a:p>
          <a:endParaRPr lang="en-IN"/>
        </a:p>
      </dgm:t>
    </dgm:pt>
    <dgm:pt modelId="{0A753485-5324-4EFE-902A-40F68E9979C7}">
      <dgm:prSet phldrT="[Text]"/>
      <dgm:spPr/>
      <dgm:t>
        <a:bodyPr/>
        <a:lstStyle/>
        <a:p>
          <a:r>
            <a:rPr lang="en-US" dirty="0"/>
            <a:t>Raw Materials</a:t>
          </a:r>
          <a:endParaRPr lang="en-IN" dirty="0"/>
        </a:p>
      </dgm:t>
    </dgm:pt>
    <dgm:pt modelId="{74FE202B-72A2-4616-9476-E7DA4379671E}" type="parTrans" cxnId="{E3553540-9807-4F94-964F-B01B7285849E}">
      <dgm:prSet/>
      <dgm:spPr/>
      <dgm:t>
        <a:bodyPr/>
        <a:lstStyle/>
        <a:p>
          <a:endParaRPr lang="en-IN"/>
        </a:p>
      </dgm:t>
    </dgm:pt>
    <dgm:pt modelId="{FC3356E4-9B59-4F20-B403-A44E0986438A}" type="sibTrans" cxnId="{E3553540-9807-4F94-964F-B01B7285849E}">
      <dgm:prSet/>
      <dgm:spPr/>
      <dgm:t>
        <a:bodyPr/>
        <a:lstStyle/>
        <a:p>
          <a:endParaRPr lang="en-IN"/>
        </a:p>
      </dgm:t>
    </dgm:pt>
    <dgm:pt modelId="{5F1AD98D-E473-48BC-AC95-CED409553BDE}">
      <dgm:prSet phldrT="[Text]"/>
      <dgm:spPr/>
      <dgm:t>
        <a:bodyPr/>
        <a:lstStyle/>
        <a:p>
          <a:r>
            <a:rPr lang="en-US" dirty="0"/>
            <a:t>Finished Goods</a:t>
          </a:r>
          <a:endParaRPr lang="en-IN" dirty="0"/>
        </a:p>
      </dgm:t>
    </dgm:pt>
    <dgm:pt modelId="{86257FE7-D71C-473E-AA21-C86A1FD2C417}" type="parTrans" cxnId="{25AF80C3-2530-4171-9737-D0D59F36BC9D}">
      <dgm:prSet/>
      <dgm:spPr/>
      <dgm:t>
        <a:bodyPr/>
        <a:lstStyle/>
        <a:p>
          <a:endParaRPr lang="en-IN"/>
        </a:p>
      </dgm:t>
    </dgm:pt>
    <dgm:pt modelId="{AA000BAC-A3BD-43FF-9264-11294264BD9B}" type="sibTrans" cxnId="{25AF80C3-2530-4171-9737-D0D59F36BC9D}">
      <dgm:prSet/>
      <dgm:spPr/>
      <dgm:t>
        <a:bodyPr/>
        <a:lstStyle/>
        <a:p>
          <a:endParaRPr lang="en-IN"/>
        </a:p>
      </dgm:t>
    </dgm:pt>
    <dgm:pt modelId="{C33D04E3-B35A-4E57-9626-F9E37C118047}">
      <dgm:prSet phldrT="[Text]"/>
      <dgm:spPr/>
      <dgm:t>
        <a:bodyPr/>
        <a:lstStyle/>
        <a:p>
          <a:r>
            <a:rPr lang="en-US" dirty="0"/>
            <a:t>Sales</a:t>
          </a:r>
          <a:endParaRPr lang="en-IN" dirty="0"/>
        </a:p>
      </dgm:t>
    </dgm:pt>
    <dgm:pt modelId="{289E18B5-2E5C-4390-938E-8CF6EC088005}" type="parTrans" cxnId="{20F1A44C-E975-469E-9CF6-67E34A489C79}">
      <dgm:prSet/>
      <dgm:spPr/>
      <dgm:t>
        <a:bodyPr/>
        <a:lstStyle/>
        <a:p>
          <a:endParaRPr lang="en-IN"/>
        </a:p>
      </dgm:t>
    </dgm:pt>
    <dgm:pt modelId="{846AC66A-6B6D-4AA5-9E28-EF258210F620}" type="sibTrans" cxnId="{20F1A44C-E975-469E-9CF6-67E34A489C79}">
      <dgm:prSet/>
      <dgm:spPr/>
      <dgm:t>
        <a:bodyPr/>
        <a:lstStyle/>
        <a:p>
          <a:endParaRPr lang="en-IN"/>
        </a:p>
      </dgm:t>
    </dgm:pt>
    <dgm:pt modelId="{46AEF24D-429F-486F-9E82-BFC94C95D835}">
      <dgm:prSet phldrT="[Text]"/>
      <dgm:spPr/>
      <dgm:t>
        <a:bodyPr/>
        <a:lstStyle/>
        <a:p>
          <a:r>
            <a:rPr lang="en-US" dirty="0"/>
            <a:t>Debtors</a:t>
          </a:r>
          <a:endParaRPr lang="en-IN" dirty="0"/>
        </a:p>
      </dgm:t>
    </dgm:pt>
    <dgm:pt modelId="{3D89A59C-D66F-4C60-A09C-04F36A116908}" type="parTrans" cxnId="{C757F1A5-A87B-43F5-B564-17E152A0AFC7}">
      <dgm:prSet/>
      <dgm:spPr/>
      <dgm:t>
        <a:bodyPr/>
        <a:lstStyle/>
        <a:p>
          <a:endParaRPr lang="en-IN"/>
        </a:p>
      </dgm:t>
    </dgm:pt>
    <dgm:pt modelId="{D819A149-C044-4D41-BCFD-7BBBEA07DF1B}" type="sibTrans" cxnId="{C757F1A5-A87B-43F5-B564-17E152A0AFC7}">
      <dgm:prSet/>
      <dgm:spPr/>
      <dgm:t>
        <a:bodyPr/>
        <a:lstStyle/>
        <a:p>
          <a:endParaRPr lang="en-IN"/>
        </a:p>
      </dgm:t>
    </dgm:pt>
    <dgm:pt modelId="{B6DD2974-325E-41BA-93B6-241EE580191E}">
      <dgm:prSet phldrT="[Text]"/>
      <dgm:spPr/>
      <dgm:t>
        <a:bodyPr/>
        <a:lstStyle/>
        <a:p>
          <a:r>
            <a:rPr lang="en-US" dirty="0"/>
            <a:t>WIP</a:t>
          </a:r>
          <a:endParaRPr lang="en-IN" dirty="0"/>
        </a:p>
      </dgm:t>
    </dgm:pt>
    <dgm:pt modelId="{54B74770-EB1F-4036-AFFF-1693727E360D}" type="parTrans" cxnId="{6C169B3F-52D5-4942-87E4-56D98F0AA50E}">
      <dgm:prSet/>
      <dgm:spPr/>
      <dgm:t>
        <a:bodyPr/>
        <a:lstStyle/>
        <a:p>
          <a:endParaRPr lang="en-IN"/>
        </a:p>
      </dgm:t>
    </dgm:pt>
    <dgm:pt modelId="{AAABE3D7-6AEE-41CE-BE13-6057B44D3BA7}" type="sibTrans" cxnId="{6C169B3F-52D5-4942-87E4-56D98F0AA50E}">
      <dgm:prSet/>
      <dgm:spPr/>
      <dgm:t>
        <a:bodyPr/>
        <a:lstStyle/>
        <a:p>
          <a:endParaRPr lang="en-IN"/>
        </a:p>
      </dgm:t>
    </dgm:pt>
    <dgm:pt modelId="{8DE70244-9BB4-4B31-945F-01014C15C05D}" type="pres">
      <dgm:prSet presAssocID="{A4AF43D0-5E9C-4B48-872D-FB61726338F2}" presName="cycle" presStyleCnt="0">
        <dgm:presLayoutVars>
          <dgm:dir/>
          <dgm:resizeHandles val="exact"/>
        </dgm:presLayoutVars>
      </dgm:prSet>
      <dgm:spPr/>
      <dgm:t>
        <a:bodyPr/>
        <a:lstStyle/>
        <a:p>
          <a:endParaRPr lang="en-US"/>
        </a:p>
      </dgm:t>
    </dgm:pt>
    <dgm:pt modelId="{7DED6491-900D-47D5-B89A-3E0CB64CDEBC}" type="pres">
      <dgm:prSet presAssocID="{24B6F8EB-764D-4157-A02F-5995C6A3E27A}" presName="node" presStyleLbl="node1" presStyleIdx="0" presStyleCnt="6">
        <dgm:presLayoutVars>
          <dgm:bulletEnabled val="1"/>
        </dgm:presLayoutVars>
      </dgm:prSet>
      <dgm:spPr/>
      <dgm:t>
        <a:bodyPr/>
        <a:lstStyle/>
        <a:p>
          <a:endParaRPr lang="en-US"/>
        </a:p>
      </dgm:t>
    </dgm:pt>
    <dgm:pt modelId="{DC9A3D28-D43C-4352-A290-B7BB3E431D47}" type="pres">
      <dgm:prSet presAssocID="{24B6F8EB-764D-4157-A02F-5995C6A3E27A}" presName="spNode" presStyleCnt="0"/>
      <dgm:spPr/>
    </dgm:pt>
    <dgm:pt modelId="{797D10C8-EA90-4B2F-BBC9-B9AD6F4C7315}" type="pres">
      <dgm:prSet presAssocID="{E2510268-4D8C-498E-8453-6B9FA02384BF}" presName="sibTrans" presStyleLbl="sibTrans1D1" presStyleIdx="0" presStyleCnt="6"/>
      <dgm:spPr/>
      <dgm:t>
        <a:bodyPr/>
        <a:lstStyle/>
        <a:p>
          <a:endParaRPr lang="en-US"/>
        </a:p>
      </dgm:t>
    </dgm:pt>
    <dgm:pt modelId="{F3001EB3-B330-44B9-9B45-C58C9EA42752}" type="pres">
      <dgm:prSet presAssocID="{0A753485-5324-4EFE-902A-40F68E9979C7}" presName="node" presStyleLbl="node1" presStyleIdx="1" presStyleCnt="6">
        <dgm:presLayoutVars>
          <dgm:bulletEnabled val="1"/>
        </dgm:presLayoutVars>
      </dgm:prSet>
      <dgm:spPr/>
      <dgm:t>
        <a:bodyPr/>
        <a:lstStyle/>
        <a:p>
          <a:endParaRPr lang="en-US"/>
        </a:p>
      </dgm:t>
    </dgm:pt>
    <dgm:pt modelId="{F347E35E-8CC9-425C-86AD-FE16C9AB46FD}" type="pres">
      <dgm:prSet presAssocID="{0A753485-5324-4EFE-902A-40F68E9979C7}" presName="spNode" presStyleCnt="0"/>
      <dgm:spPr/>
    </dgm:pt>
    <dgm:pt modelId="{E0EC7344-4D68-4088-BEE3-3DCBF5D0787B}" type="pres">
      <dgm:prSet presAssocID="{FC3356E4-9B59-4F20-B403-A44E0986438A}" presName="sibTrans" presStyleLbl="sibTrans1D1" presStyleIdx="1" presStyleCnt="6"/>
      <dgm:spPr/>
      <dgm:t>
        <a:bodyPr/>
        <a:lstStyle/>
        <a:p>
          <a:endParaRPr lang="en-US"/>
        </a:p>
      </dgm:t>
    </dgm:pt>
    <dgm:pt modelId="{88563E0B-6C6F-49AF-831A-4858D3CF96D0}" type="pres">
      <dgm:prSet presAssocID="{B6DD2974-325E-41BA-93B6-241EE580191E}" presName="node" presStyleLbl="node1" presStyleIdx="2" presStyleCnt="6">
        <dgm:presLayoutVars>
          <dgm:bulletEnabled val="1"/>
        </dgm:presLayoutVars>
      </dgm:prSet>
      <dgm:spPr/>
      <dgm:t>
        <a:bodyPr/>
        <a:lstStyle/>
        <a:p>
          <a:endParaRPr lang="en-US"/>
        </a:p>
      </dgm:t>
    </dgm:pt>
    <dgm:pt modelId="{77134B97-83E2-42DE-852D-99EA641B4437}" type="pres">
      <dgm:prSet presAssocID="{B6DD2974-325E-41BA-93B6-241EE580191E}" presName="spNode" presStyleCnt="0"/>
      <dgm:spPr/>
    </dgm:pt>
    <dgm:pt modelId="{181B722A-D4D9-4495-9B47-FE0A0BB69840}" type="pres">
      <dgm:prSet presAssocID="{AAABE3D7-6AEE-41CE-BE13-6057B44D3BA7}" presName="sibTrans" presStyleLbl="sibTrans1D1" presStyleIdx="2" presStyleCnt="6"/>
      <dgm:spPr/>
      <dgm:t>
        <a:bodyPr/>
        <a:lstStyle/>
        <a:p>
          <a:endParaRPr lang="en-US"/>
        </a:p>
      </dgm:t>
    </dgm:pt>
    <dgm:pt modelId="{589BE652-E314-48BC-8EB1-CA9FE67E7C7A}" type="pres">
      <dgm:prSet presAssocID="{5F1AD98D-E473-48BC-AC95-CED409553BDE}" presName="node" presStyleLbl="node1" presStyleIdx="3" presStyleCnt="6">
        <dgm:presLayoutVars>
          <dgm:bulletEnabled val="1"/>
        </dgm:presLayoutVars>
      </dgm:prSet>
      <dgm:spPr/>
      <dgm:t>
        <a:bodyPr/>
        <a:lstStyle/>
        <a:p>
          <a:endParaRPr lang="en-US"/>
        </a:p>
      </dgm:t>
    </dgm:pt>
    <dgm:pt modelId="{749F8843-027F-4EA7-A7D7-07D2B1EA87C1}" type="pres">
      <dgm:prSet presAssocID="{5F1AD98D-E473-48BC-AC95-CED409553BDE}" presName="spNode" presStyleCnt="0"/>
      <dgm:spPr/>
    </dgm:pt>
    <dgm:pt modelId="{8BB970D4-2A0A-45E3-BF48-E21C15F68687}" type="pres">
      <dgm:prSet presAssocID="{AA000BAC-A3BD-43FF-9264-11294264BD9B}" presName="sibTrans" presStyleLbl="sibTrans1D1" presStyleIdx="3" presStyleCnt="6"/>
      <dgm:spPr/>
      <dgm:t>
        <a:bodyPr/>
        <a:lstStyle/>
        <a:p>
          <a:endParaRPr lang="en-US"/>
        </a:p>
      </dgm:t>
    </dgm:pt>
    <dgm:pt modelId="{238F3D03-3621-4EAC-8317-08E329F3E464}" type="pres">
      <dgm:prSet presAssocID="{C33D04E3-B35A-4E57-9626-F9E37C118047}" presName="node" presStyleLbl="node1" presStyleIdx="4" presStyleCnt="6">
        <dgm:presLayoutVars>
          <dgm:bulletEnabled val="1"/>
        </dgm:presLayoutVars>
      </dgm:prSet>
      <dgm:spPr/>
      <dgm:t>
        <a:bodyPr/>
        <a:lstStyle/>
        <a:p>
          <a:endParaRPr lang="en-US"/>
        </a:p>
      </dgm:t>
    </dgm:pt>
    <dgm:pt modelId="{64254693-9D6D-4BAB-8B26-AFC6BCE06736}" type="pres">
      <dgm:prSet presAssocID="{C33D04E3-B35A-4E57-9626-F9E37C118047}" presName="spNode" presStyleCnt="0"/>
      <dgm:spPr/>
    </dgm:pt>
    <dgm:pt modelId="{5DF0581A-32BE-4A09-A72B-63B44FF210A7}" type="pres">
      <dgm:prSet presAssocID="{846AC66A-6B6D-4AA5-9E28-EF258210F620}" presName="sibTrans" presStyleLbl="sibTrans1D1" presStyleIdx="4" presStyleCnt="6"/>
      <dgm:spPr/>
      <dgm:t>
        <a:bodyPr/>
        <a:lstStyle/>
        <a:p>
          <a:endParaRPr lang="en-US"/>
        </a:p>
      </dgm:t>
    </dgm:pt>
    <dgm:pt modelId="{894FF9AE-B972-4C47-84BF-77730CF65720}" type="pres">
      <dgm:prSet presAssocID="{46AEF24D-429F-486F-9E82-BFC94C95D835}" presName="node" presStyleLbl="node1" presStyleIdx="5" presStyleCnt="6">
        <dgm:presLayoutVars>
          <dgm:bulletEnabled val="1"/>
        </dgm:presLayoutVars>
      </dgm:prSet>
      <dgm:spPr/>
      <dgm:t>
        <a:bodyPr/>
        <a:lstStyle/>
        <a:p>
          <a:endParaRPr lang="en-US"/>
        </a:p>
      </dgm:t>
    </dgm:pt>
    <dgm:pt modelId="{7EE7020E-49CD-4FED-A084-92D0E02F610B}" type="pres">
      <dgm:prSet presAssocID="{46AEF24D-429F-486F-9E82-BFC94C95D835}" presName="spNode" presStyleCnt="0"/>
      <dgm:spPr/>
    </dgm:pt>
    <dgm:pt modelId="{8AE7BECC-894D-4B75-A3C5-2303316E20B7}" type="pres">
      <dgm:prSet presAssocID="{D819A149-C044-4D41-BCFD-7BBBEA07DF1B}" presName="sibTrans" presStyleLbl="sibTrans1D1" presStyleIdx="5" presStyleCnt="6"/>
      <dgm:spPr/>
      <dgm:t>
        <a:bodyPr/>
        <a:lstStyle/>
        <a:p>
          <a:endParaRPr lang="en-US"/>
        </a:p>
      </dgm:t>
    </dgm:pt>
  </dgm:ptLst>
  <dgm:cxnLst>
    <dgm:cxn modelId="{4BD4056B-816E-4B1A-A829-A5380EC3D893}" type="presOf" srcId="{D819A149-C044-4D41-BCFD-7BBBEA07DF1B}" destId="{8AE7BECC-894D-4B75-A3C5-2303316E20B7}" srcOrd="0" destOrd="0" presId="urn:microsoft.com/office/officeart/2005/8/layout/cycle6"/>
    <dgm:cxn modelId="{1BD24575-DBEE-442D-8146-30C8F8C33EE0}" type="presOf" srcId="{46AEF24D-429F-486F-9E82-BFC94C95D835}" destId="{894FF9AE-B972-4C47-84BF-77730CF65720}" srcOrd="0" destOrd="0" presId="urn:microsoft.com/office/officeart/2005/8/layout/cycle6"/>
    <dgm:cxn modelId="{0B1E11E2-4819-428C-B5D8-B98DBEA12801}" type="presOf" srcId="{FC3356E4-9B59-4F20-B403-A44E0986438A}" destId="{E0EC7344-4D68-4088-BEE3-3DCBF5D0787B}" srcOrd="0" destOrd="0" presId="urn:microsoft.com/office/officeart/2005/8/layout/cycle6"/>
    <dgm:cxn modelId="{6C169B3F-52D5-4942-87E4-56D98F0AA50E}" srcId="{A4AF43D0-5E9C-4B48-872D-FB61726338F2}" destId="{B6DD2974-325E-41BA-93B6-241EE580191E}" srcOrd="2" destOrd="0" parTransId="{54B74770-EB1F-4036-AFFF-1693727E360D}" sibTransId="{AAABE3D7-6AEE-41CE-BE13-6057B44D3BA7}"/>
    <dgm:cxn modelId="{C6429C61-50B4-490D-9795-43035ADC73F4}" type="presOf" srcId="{AA000BAC-A3BD-43FF-9264-11294264BD9B}" destId="{8BB970D4-2A0A-45E3-BF48-E21C15F68687}" srcOrd="0" destOrd="0" presId="urn:microsoft.com/office/officeart/2005/8/layout/cycle6"/>
    <dgm:cxn modelId="{CC6F41DA-EAC5-48F1-830C-C9FFA4D302F2}" type="presOf" srcId="{AAABE3D7-6AEE-41CE-BE13-6057B44D3BA7}" destId="{181B722A-D4D9-4495-9B47-FE0A0BB69840}" srcOrd="0" destOrd="0" presId="urn:microsoft.com/office/officeart/2005/8/layout/cycle6"/>
    <dgm:cxn modelId="{E3D5246D-FD39-4D84-AB59-F29F08CBD8DD}" srcId="{A4AF43D0-5E9C-4B48-872D-FB61726338F2}" destId="{24B6F8EB-764D-4157-A02F-5995C6A3E27A}" srcOrd="0" destOrd="0" parTransId="{217BE600-9A9D-44F4-B16F-31528D63291D}" sibTransId="{E2510268-4D8C-498E-8453-6B9FA02384BF}"/>
    <dgm:cxn modelId="{03A13EA8-378B-4403-BDBB-22A47F87D0F4}" type="presOf" srcId="{5F1AD98D-E473-48BC-AC95-CED409553BDE}" destId="{589BE652-E314-48BC-8EB1-CA9FE67E7C7A}" srcOrd="0" destOrd="0" presId="urn:microsoft.com/office/officeart/2005/8/layout/cycle6"/>
    <dgm:cxn modelId="{31B26DB3-859E-4C44-9761-A42F14101928}" type="presOf" srcId="{24B6F8EB-764D-4157-A02F-5995C6A3E27A}" destId="{7DED6491-900D-47D5-B89A-3E0CB64CDEBC}" srcOrd="0" destOrd="0" presId="urn:microsoft.com/office/officeart/2005/8/layout/cycle6"/>
    <dgm:cxn modelId="{0D4E5A29-B039-47C3-80A3-66DB2CA9F18A}" type="presOf" srcId="{846AC66A-6B6D-4AA5-9E28-EF258210F620}" destId="{5DF0581A-32BE-4A09-A72B-63B44FF210A7}" srcOrd="0" destOrd="0" presId="urn:microsoft.com/office/officeart/2005/8/layout/cycle6"/>
    <dgm:cxn modelId="{20F1A44C-E975-469E-9CF6-67E34A489C79}" srcId="{A4AF43D0-5E9C-4B48-872D-FB61726338F2}" destId="{C33D04E3-B35A-4E57-9626-F9E37C118047}" srcOrd="4" destOrd="0" parTransId="{289E18B5-2E5C-4390-938E-8CF6EC088005}" sibTransId="{846AC66A-6B6D-4AA5-9E28-EF258210F620}"/>
    <dgm:cxn modelId="{EF321C79-85B8-463C-866D-6A7FA9945F90}" type="presOf" srcId="{B6DD2974-325E-41BA-93B6-241EE580191E}" destId="{88563E0B-6C6F-49AF-831A-4858D3CF96D0}" srcOrd="0" destOrd="0" presId="urn:microsoft.com/office/officeart/2005/8/layout/cycle6"/>
    <dgm:cxn modelId="{A9B57CDA-4A09-412A-A1AF-FD4DC090C2B4}" type="presOf" srcId="{C33D04E3-B35A-4E57-9626-F9E37C118047}" destId="{238F3D03-3621-4EAC-8317-08E329F3E464}" srcOrd="0" destOrd="0" presId="urn:microsoft.com/office/officeart/2005/8/layout/cycle6"/>
    <dgm:cxn modelId="{E3553540-9807-4F94-964F-B01B7285849E}" srcId="{A4AF43D0-5E9C-4B48-872D-FB61726338F2}" destId="{0A753485-5324-4EFE-902A-40F68E9979C7}" srcOrd="1" destOrd="0" parTransId="{74FE202B-72A2-4616-9476-E7DA4379671E}" sibTransId="{FC3356E4-9B59-4F20-B403-A44E0986438A}"/>
    <dgm:cxn modelId="{C757F1A5-A87B-43F5-B564-17E152A0AFC7}" srcId="{A4AF43D0-5E9C-4B48-872D-FB61726338F2}" destId="{46AEF24D-429F-486F-9E82-BFC94C95D835}" srcOrd="5" destOrd="0" parTransId="{3D89A59C-D66F-4C60-A09C-04F36A116908}" sibTransId="{D819A149-C044-4D41-BCFD-7BBBEA07DF1B}"/>
    <dgm:cxn modelId="{DAD47455-38BA-44B4-8A9F-BF26F8B7B27C}" type="presOf" srcId="{A4AF43D0-5E9C-4B48-872D-FB61726338F2}" destId="{8DE70244-9BB4-4B31-945F-01014C15C05D}" srcOrd="0" destOrd="0" presId="urn:microsoft.com/office/officeart/2005/8/layout/cycle6"/>
    <dgm:cxn modelId="{C42F58D8-50DD-496F-9610-31D1C8440377}" type="presOf" srcId="{0A753485-5324-4EFE-902A-40F68E9979C7}" destId="{F3001EB3-B330-44B9-9B45-C58C9EA42752}" srcOrd="0" destOrd="0" presId="urn:microsoft.com/office/officeart/2005/8/layout/cycle6"/>
    <dgm:cxn modelId="{88C02FEF-A22B-4F0B-B391-45EB7568E49F}" type="presOf" srcId="{E2510268-4D8C-498E-8453-6B9FA02384BF}" destId="{797D10C8-EA90-4B2F-BBC9-B9AD6F4C7315}" srcOrd="0" destOrd="0" presId="urn:microsoft.com/office/officeart/2005/8/layout/cycle6"/>
    <dgm:cxn modelId="{25AF80C3-2530-4171-9737-D0D59F36BC9D}" srcId="{A4AF43D0-5E9C-4B48-872D-FB61726338F2}" destId="{5F1AD98D-E473-48BC-AC95-CED409553BDE}" srcOrd="3" destOrd="0" parTransId="{86257FE7-D71C-473E-AA21-C86A1FD2C417}" sibTransId="{AA000BAC-A3BD-43FF-9264-11294264BD9B}"/>
    <dgm:cxn modelId="{B261B0A3-5368-4824-8A7F-19B5ABB091EE}" type="presParOf" srcId="{8DE70244-9BB4-4B31-945F-01014C15C05D}" destId="{7DED6491-900D-47D5-B89A-3E0CB64CDEBC}" srcOrd="0" destOrd="0" presId="urn:microsoft.com/office/officeart/2005/8/layout/cycle6"/>
    <dgm:cxn modelId="{0260795C-8C88-447E-9FA5-336EF2FEFD11}" type="presParOf" srcId="{8DE70244-9BB4-4B31-945F-01014C15C05D}" destId="{DC9A3D28-D43C-4352-A290-B7BB3E431D47}" srcOrd="1" destOrd="0" presId="urn:microsoft.com/office/officeart/2005/8/layout/cycle6"/>
    <dgm:cxn modelId="{1B4D8377-D39C-4318-B00A-F996F631AF77}" type="presParOf" srcId="{8DE70244-9BB4-4B31-945F-01014C15C05D}" destId="{797D10C8-EA90-4B2F-BBC9-B9AD6F4C7315}" srcOrd="2" destOrd="0" presId="urn:microsoft.com/office/officeart/2005/8/layout/cycle6"/>
    <dgm:cxn modelId="{7E84A1F8-A64F-4563-A06D-215B792C08E0}" type="presParOf" srcId="{8DE70244-9BB4-4B31-945F-01014C15C05D}" destId="{F3001EB3-B330-44B9-9B45-C58C9EA42752}" srcOrd="3" destOrd="0" presId="urn:microsoft.com/office/officeart/2005/8/layout/cycle6"/>
    <dgm:cxn modelId="{116434C8-B1BC-4353-92B0-D5684FE5998F}" type="presParOf" srcId="{8DE70244-9BB4-4B31-945F-01014C15C05D}" destId="{F347E35E-8CC9-425C-86AD-FE16C9AB46FD}" srcOrd="4" destOrd="0" presId="urn:microsoft.com/office/officeart/2005/8/layout/cycle6"/>
    <dgm:cxn modelId="{5AE76106-C1B0-4D3F-8C17-897C238475EA}" type="presParOf" srcId="{8DE70244-9BB4-4B31-945F-01014C15C05D}" destId="{E0EC7344-4D68-4088-BEE3-3DCBF5D0787B}" srcOrd="5" destOrd="0" presId="urn:microsoft.com/office/officeart/2005/8/layout/cycle6"/>
    <dgm:cxn modelId="{A3BD8F99-EB43-4613-AEA1-80F0D58D74DB}" type="presParOf" srcId="{8DE70244-9BB4-4B31-945F-01014C15C05D}" destId="{88563E0B-6C6F-49AF-831A-4858D3CF96D0}" srcOrd="6" destOrd="0" presId="urn:microsoft.com/office/officeart/2005/8/layout/cycle6"/>
    <dgm:cxn modelId="{E8F48BE6-D087-4E67-8E71-E6A0C483B907}" type="presParOf" srcId="{8DE70244-9BB4-4B31-945F-01014C15C05D}" destId="{77134B97-83E2-42DE-852D-99EA641B4437}" srcOrd="7" destOrd="0" presId="urn:microsoft.com/office/officeart/2005/8/layout/cycle6"/>
    <dgm:cxn modelId="{C75E1147-FDAB-489D-A59D-5DE5DFD6117D}" type="presParOf" srcId="{8DE70244-9BB4-4B31-945F-01014C15C05D}" destId="{181B722A-D4D9-4495-9B47-FE0A0BB69840}" srcOrd="8" destOrd="0" presId="urn:microsoft.com/office/officeart/2005/8/layout/cycle6"/>
    <dgm:cxn modelId="{E980FEC7-BAA9-43A5-969E-6224D2F2351F}" type="presParOf" srcId="{8DE70244-9BB4-4B31-945F-01014C15C05D}" destId="{589BE652-E314-48BC-8EB1-CA9FE67E7C7A}" srcOrd="9" destOrd="0" presId="urn:microsoft.com/office/officeart/2005/8/layout/cycle6"/>
    <dgm:cxn modelId="{AA206B9E-B127-4DB6-8945-669210895616}" type="presParOf" srcId="{8DE70244-9BB4-4B31-945F-01014C15C05D}" destId="{749F8843-027F-4EA7-A7D7-07D2B1EA87C1}" srcOrd="10" destOrd="0" presId="urn:microsoft.com/office/officeart/2005/8/layout/cycle6"/>
    <dgm:cxn modelId="{EBCD5941-B46D-4600-87F5-3FEFBB233E1D}" type="presParOf" srcId="{8DE70244-9BB4-4B31-945F-01014C15C05D}" destId="{8BB970D4-2A0A-45E3-BF48-E21C15F68687}" srcOrd="11" destOrd="0" presId="urn:microsoft.com/office/officeart/2005/8/layout/cycle6"/>
    <dgm:cxn modelId="{108B2D1A-CC23-43FE-AEA7-F44BB5FB6F7A}" type="presParOf" srcId="{8DE70244-9BB4-4B31-945F-01014C15C05D}" destId="{238F3D03-3621-4EAC-8317-08E329F3E464}" srcOrd="12" destOrd="0" presId="urn:microsoft.com/office/officeart/2005/8/layout/cycle6"/>
    <dgm:cxn modelId="{E6BBCBD4-3889-4E06-9001-63261FAFA5C0}" type="presParOf" srcId="{8DE70244-9BB4-4B31-945F-01014C15C05D}" destId="{64254693-9D6D-4BAB-8B26-AFC6BCE06736}" srcOrd="13" destOrd="0" presId="urn:microsoft.com/office/officeart/2005/8/layout/cycle6"/>
    <dgm:cxn modelId="{891C06E3-85E3-438F-ACB2-D8B696A35179}" type="presParOf" srcId="{8DE70244-9BB4-4B31-945F-01014C15C05D}" destId="{5DF0581A-32BE-4A09-A72B-63B44FF210A7}" srcOrd="14" destOrd="0" presId="urn:microsoft.com/office/officeart/2005/8/layout/cycle6"/>
    <dgm:cxn modelId="{800111A0-D156-4794-8F9D-A972E2F0B3F2}" type="presParOf" srcId="{8DE70244-9BB4-4B31-945F-01014C15C05D}" destId="{894FF9AE-B972-4C47-84BF-77730CF65720}" srcOrd="15" destOrd="0" presId="urn:microsoft.com/office/officeart/2005/8/layout/cycle6"/>
    <dgm:cxn modelId="{0597E605-6807-4651-A20D-111304339FAC}" type="presParOf" srcId="{8DE70244-9BB4-4B31-945F-01014C15C05D}" destId="{7EE7020E-49CD-4FED-A084-92D0E02F610B}" srcOrd="16" destOrd="0" presId="urn:microsoft.com/office/officeart/2005/8/layout/cycle6"/>
    <dgm:cxn modelId="{D49CF9D7-21FA-4DCE-8C93-ACED061951B5}" type="presParOf" srcId="{8DE70244-9BB4-4B31-945F-01014C15C05D}" destId="{8AE7BECC-894D-4B75-A3C5-2303316E20B7}" srcOrd="1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C6A791-5A75-4144-8B83-F21BD50A274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D13C3FA9-A193-4D09-85D4-797588C4FCD7}">
      <dgm:prSet phldrT="[Text]" phldr="0"/>
      <dgm:spPr/>
      <dgm:t>
        <a:bodyPr/>
        <a:lstStyle/>
        <a:p>
          <a:pPr rtl="0"/>
          <a:r>
            <a:rPr lang="en-US" dirty="0">
              <a:latin typeface="Calibri Light" panose="020F0302020204030204"/>
            </a:rPr>
            <a:t>Short Term Sources</a:t>
          </a:r>
          <a:endParaRPr lang="en-US" dirty="0"/>
        </a:p>
      </dgm:t>
    </dgm:pt>
    <dgm:pt modelId="{C2CB0438-B2EC-47A6-9926-671C95F5EFCB}" type="parTrans" cxnId="{85449CBC-F9A4-4FF6-8D48-AB36FE98BD6F}">
      <dgm:prSet/>
      <dgm:spPr/>
      <dgm:t>
        <a:bodyPr/>
        <a:lstStyle/>
        <a:p>
          <a:endParaRPr lang="en-US"/>
        </a:p>
      </dgm:t>
    </dgm:pt>
    <dgm:pt modelId="{6791AA70-BABD-486F-8A73-B4FB66D2A77C}" type="sibTrans" cxnId="{85449CBC-F9A4-4FF6-8D48-AB36FE98BD6F}">
      <dgm:prSet/>
      <dgm:spPr/>
      <dgm:t>
        <a:bodyPr/>
        <a:lstStyle/>
        <a:p>
          <a:endParaRPr lang="en-US"/>
        </a:p>
      </dgm:t>
    </dgm:pt>
    <dgm:pt modelId="{9038A635-C5F0-4F3D-9FE1-FF6D16E20431}">
      <dgm:prSet phldrT="[Text]" phldr="0"/>
      <dgm:spPr/>
      <dgm:t>
        <a:bodyPr/>
        <a:lstStyle/>
        <a:p>
          <a:pPr rtl="0"/>
          <a:r>
            <a:rPr lang="en-US" dirty="0">
              <a:latin typeface="Calibri Light" panose="020F0302020204030204"/>
            </a:rPr>
            <a:t>Commercial / Trade Credit</a:t>
          </a:r>
          <a:endParaRPr lang="en-US" dirty="0"/>
        </a:p>
      </dgm:t>
    </dgm:pt>
    <dgm:pt modelId="{3CF72DD1-F39F-4F53-8E8E-DB2C5789E9AF}" type="parTrans" cxnId="{26A02945-E40C-4584-AA4A-DDBF6C18004E}">
      <dgm:prSet/>
      <dgm:spPr/>
      <dgm:t>
        <a:bodyPr/>
        <a:lstStyle/>
        <a:p>
          <a:endParaRPr lang="en-US"/>
        </a:p>
      </dgm:t>
    </dgm:pt>
    <dgm:pt modelId="{55E4AC04-B3E4-4DDF-87CD-BB88D769E5C1}" type="sibTrans" cxnId="{26A02945-E40C-4584-AA4A-DDBF6C18004E}">
      <dgm:prSet/>
      <dgm:spPr/>
      <dgm:t>
        <a:bodyPr/>
        <a:lstStyle/>
        <a:p>
          <a:endParaRPr lang="en-US"/>
        </a:p>
      </dgm:t>
    </dgm:pt>
    <dgm:pt modelId="{4588C490-D31A-4412-93D3-A3793DB30279}">
      <dgm:prSet phldrT="[Text]" phldr="0"/>
      <dgm:spPr/>
      <dgm:t>
        <a:bodyPr/>
        <a:lstStyle/>
        <a:p>
          <a:r>
            <a:rPr lang="en-US" dirty="0">
              <a:latin typeface="Calibri Light" panose="020F0302020204030204"/>
            </a:rPr>
            <a:t>Factoring</a:t>
          </a:r>
          <a:endParaRPr lang="en-US" dirty="0"/>
        </a:p>
      </dgm:t>
    </dgm:pt>
    <dgm:pt modelId="{C504E152-8648-4761-860A-B1F0B4B9B4FB}" type="parTrans" cxnId="{DF55F6FF-1E78-45D6-8233-AB187A599F0B}">
      <dgm:prSet/>
      <dgm:spPr/>
      <dgm:t>
        <a:bodyPr/>
        <a:lstStyle/>
        <a:p>
          <a:endParaRPr lang="en-US"/>
        </a:p>
      </dgm:t>
    </dgm:pt>
    <dgm:pt modelId="{7910F901-034E-4D22-8242-16C9E63E106F}" type="sibTrans" cxnId="{DF55F6FF-1E78-45D6-8233-AB187A599F0B}">
      <dgm:prSet/>
      <dgm:spPr/>
      <dgm:t>
        <a:bodyPr/>
        <a:lstStyle/>
        <a:p>
          <a:endParaRPr lang="en-US"/>
        </a:p>
      </dgm:t>
    </dgm:pt>
    <dgm:pt modelId="{A66DD62A-FD71-4537-8A9C-CB83CFEC2901}">
      <dgm:prSet phldrT="[Text]" phldr="0"/>
      <dgm:spPr/>
      <dgm:t>
        <a:bodyPr/>
        <a:lstStyle/>
        <a:p>
          <a:pPr rtl="0"/>
          <a:r>
            <a:rPr lang="en-US" dirty="0">
              <a:latin typeface="Calibri Light" panose="020F0302020204030204"/>
            </a:rPr>
            <a:t>Medium Term Sources</a:t>
          </a:r>
          <a:endParaRPr lang="en-US" dirty="0"/>
        </a:p>
      </dgm:t>
    </dgm:pt>
    <dgm:pt modelId="{4FF7D02D-9514-4BAE-9800-330B88368390}" type="parTrans" cxnId="{95BC4D14-09BD-4C61-AFB3-8406056C68FA}">
      <dgm:prSet/>
      <dgm:spPr/>
      <dgm:t>
        <a:bodyPr/>
        <a:lstStyle/>
        <a:p>
          <a:endParaRPr lang="en-US"/>
        </a:p>
      </dgm:t>
    </dgm:pt>
    <dgm:pt modelId="{06845BE8-F350-427F-B79D-EF6A8471E83A}" type="sibTrans" cxnId="{95BC4D14-09BD-4C61-AFB3-8406056C68FA}">
      <dgm:prSet/>
      <dgm:spPr/>
      <dgm:t>
        <a:bodyPr/>
        <a:lstStyle/>
        <a:p>
          <a:endParaRPr lang="en-US"/>
        </a:p>
      </dgm:t>
    </dgm:pt>
    <dgm:pt modelId="{F64B8A84-B536-48C0-9E22-1E8EE1714B5B}">
      <dgm:prSet phldrT="[Text]" phldr="0"/>
      <dgm:spPr/>
      <dgm:t>
        <a:bodyPr/>
        <a:lstStyle/>
        <a:p>
          <a:pPr rtl="0"/>
          <a:r>
            <a:rPr lang="en-US" dirty="0">
              <a:latin typeface="Calibri Light" panose="020F0302020204030204"/>
            </a:rPr>
            <a:t>Issue of Preference Shares</a:t>
          </a:r>
          <a:endParaRPr lang="en-US" dirty="0"/>
        </a:p>
      </dgm:t>
    </dgm:pt>
    <dgm:pt modelId="{FDC4ED67-BD04-47DE-A4F1-C223DD5F3C29}" type="parTrans" cxnId="{EBD550CE-57C1-4063-A796-D2CAE2CC0C31}">
      <dgm:prSet/>
      <dgm:spPr/>
      <dgm:t>
        <a:bodyPr/>
        <a:lstStyle/>
        <a:p>
          <a:endParaRPr lang="en-US"/>
        </a:p>
      </dgm:t>
    </dgm:pt>
    <dgm:pt modelId="{D433597E-68F0-45C1-8890-0E1A4E0CDA9D}" type="sibTrans" cxnId="{EBD550CE-57C1-4063-A796-D2CAE2CC0C31}">
      <dgm:prSet/>
      <dgm:spPr/>
      <dgm:t>
        <a:bodyPr/>
        <a:lstStyle/>
        <a:p>
          <a:endParaRPr lang="en-US"/>
        </a:p>
      </dgm:t>
    </dgm:pt>
    <dgm:pt modelId="{06F25BED-F21B-47AB-8E27-4C0BE1A5A296}">
      <dgm:prSet phldrT="[Text]" phldr="0"/>
      <dgm:spPr/>
      <dgm:t>
        <a:bodyPr/>
        <a:lstStyle/>
        <a:p>
          <a:pPr rtl="0"/>
          <a:r>
            <a:rPr lang="en-US" dirty="0">
              <a:latin typeface="Calibri Light" panose="020F0302020204030204"/>
            </a:rPr>
            <a:t>Issue of Debentures</a:t>
          </a:r>
          <a:endParaRPr lang="en-US" dirty="0"/>
        </a:p>
      </dgm:t>
    </dgm:pt>
    <dgm:pt modelId="{67C316C8-9B73-44F9-BDB4-61AB1E900095}" type="parTrans" cxnId="{CAF20B83-7AB3-482E-B38F-29D2F1367C66}">
      <dgm:prSet/>
      <dgm:spPr/>
      <dgm:t>
        <a:bodyPr/>
        <a:lstStyle/>
        <a:p>
          <a:endParaRPr lang="en-US"/>
        </a:p>
      </dgm:t>
    </dgm:pt>
    <dgm:pt modelId="{020A2623-A32F-41D1-8C62-F38F63A9AA95}" type="sibTrans" cxnId="{CAF20B83-7AB3-482E-B38F-29D2F1367C66}">
      <dgm:prSet/>
      <dgm:spPr/>
      <dgm:t>
        <a:bodyPr/>
        <a:lstStyle/>
        <a:p>
          <a:endParaRPr lang="en-US"/>
        </a:p>
      </dgm:t>
    </dgm:pt>
    <dgm:pt modelId="{A7D19864-F478-4BEE-BCCC-85FF726EFD77}">
      <dgm:prSet phldrT="[Text]" phldr="0"/>
      <dgm:spPr/>
      <dgm:t>
        <a:bodyPr/>
        <a:lstStyle/>
        <a:p>
          <a:pPr rtl="0"/>
          <a:r>
            <a:rPr lang="en-US" dirty="0">
              <a:latin typeface="Calibri Light" panose="020F0302020204030204"/>
            </a:rPr>
            <a:t>Long Term Sources</a:t>
          </a:r>
          <a:endParaRPr lang="en-US" dirty="0"/>
        </a:p>
      </dgm:t>
    </dgm:pt>
    <dgm:pt modelId="{C961B536-4C3C-49C8-9DA6-A31B5B1976CD}" type="parTrans" cxnId="{3772F8BD-B0B6-4E6D-BFE9-620FA38A9F7E}">
      <dgm:prSet/>
      <dgm:spPr/>
      <dgm:t>
        <a:bodyPr/>
        <a:lstStyle/>
        <a:p>
          <a:endParaRPr lang="en-US"/>
        </a:p>
      </dgm:t>
    </dgm:pt>
    <dgm:pt modelId="{EB729E2F-0617-4C3F-8681-6197B1E6AB3B}" type="sibTrans" cxnId="{3772F8BD-B0B6-4E6D-BFE9-620FA38A9F7E}">
      <dgm:prSet/>
      <dgm:spPr/>
      <dgm:t>
        <a:bodyPr/>
        <a:lstStyle/>
        <a:p>
          <a:endParaRPr lang="en-US"/>
        </a:p>
      </dgm:t>
    </dgm:pt>
    <dgm:pt modelId="{2CF2AEC0-1C67-496C-A937-881227713383}">
      <dgm:prSet phldrT="[Text]" phldr="0"/>
      <dgm:spPr/>
      <dgm:t>
        <a:bodyPr/>
        <a:lstStyle/>
        <a:p>
          <a:pPr rtl="0"/>
          <a:r>
            <a:rPr lang="en-US" dirty="0">
              <a:latin typeface="Calibri Light" panose="020F0302020204030204"/>
            </a:rPr>
            <a:t>Issue of Equity Shares</a:t>
          </a:r>
          <a:endParaRPr lang="en-US" dirty="0"/>
        </a:p>
      </dgm:t>
    </dgm:pt>
    <dgm:pt modelId="{A08214E0-0516-4888-88BA-AD0AD1031E00}" type="parTrans" cxnId="{11925D2C-5A4B-408E-87C5-70B291A6AE62}">
      <dgm:prSet/>
      <dgm:spPr/>
      <dgm:t>
        <a:bodyPr/>
        <a:lstStyle/>
        <a:p>
          <a:endParaRPr lang="en-US"/>
        </a:p>
      </dgm:t>
    </dgm:pt>
    <dgm:pt modelId="{D0ED6B3D-63AE-4E16-A28A-776E77E19779}" type="sibTrans" cxnId="{11925D2C-5A4B-408E-87C5-70B291A6AE62}">
      <dgm:prSet/>
      <dgm:spPr/>
      <dgm:t>
        <a:bodyPr/>
        <a:lstStyle/>
        <a:p>
          <a:endParaRPr lang="en-US"/>
        </a:p>
      </dgm:t>
    </dgm:pt>
    <dgm:pt modelId="{58A411CD-880E-4D1A-89D5-BD00687F5038}">
      <dgm:prSet phldrT="[Text]" phldr="0"/>
      <dgm:spPr/>
      <dgm:t>
        <a:bodyPr/>
        <a:lstStyle/>
        <a:p>
          <a:pPr rtl="0"/>
          <a:r>
            <a:rPr lang="en-US" dirty="0">
              <a:latin typeface="Calibri Light" panose="020F0302020204030204"/>
            </a:rPr>
            <a:t>Issue of Preference Shares</a:t>
          </a:r>
          <a:endParaRPr lang="en-US" dirty="0"/>
        </a:p>
      </dgm:t>
    </dgm:pt>
    <dgm:pt modelId="{31B92818-2A26-4437-BE0E-1BBB02B8286E}" type="parTrans" cxnId="{C4E904D8-F75C-4921-9C10-CAB36856F1A8}">
      <dgm:prSet/>
      <dgm:spPr/>
      <dgm:t>
        <a:bodyPr/>
        <a:lstStyle/>
        <a:p>
          <a:endParaRPr lang="en-US"/>
        </a:p>
      </dgm:t>
    </dgm:pt>
    <dgm:pt modelId="{150FD26A-72FF-4B63-B0B1-B4FF5BE32037}" type="sibTrans" cxnId="{C4E904D8-F75C-4921-9C10-CAB36856F1A8}">
      <dgm:prSet/>
      <dgm:spPr/>
      <dgm:t>
        <a:bodyPr/>
        <a:lstStyle/>
        <a:p>
          <a:endParaRPr lang="en-US"/>
        </a:p>
      </dgm:t>
    </dgm:pt>
    <dgm:pt modelId="{065210C5-3F68-4C21-A06B-2047228DEA1E}">
      <dgm:prSet phldr="0"/>
      <dgm:spPr/>
      <dgm:t>
        <a:bodyPr/>
        <a:lstStyle/>
        <a:p>
          <a:pPr rtl="0"/>
          <a:r>
            <a:rPr lang="en-US" dirty="0">
              <a:latin typeface="Calibri Light" panose="020F0302020204030204"/>
            </a:rPr>
            <a:t>Commercial Paper</a:t>
          </a:r>
        </a:p>
      </dgm:t>
    </dgm:pt>
    <dgm:pt modelId="{4C57E596-6BE1-4405-9961-1C5757F32023}" type="parTrans" cxnId="{C37D0AF8-DB5F-4200-BF23-818823BD97C8}">
      <dgm:prSet/>
      <dgm:spPr/>
    </dgm:pt>
    <dgm:pt modelId="{A1294C6F-A83F-40C8-8CC3-A7637A36128D}" type="sibTrans" cxnId="{C37D0AF8-DB5F-4200-BF23-818823BD97C8}">
      <dgm:prSet/>
      <dgm:spPr/>
    </dgm:pt>
    <dgm:pt modelId="{5FA02BA7-8C08-41DC-BA8A-BED324DC1433}">
      <dgm:prSet phldr="0"/>
      <dgm:spPr/>
      <dgm:t>
        <a:bodyPr/>
        <a:lstStyle/>
        <a:p>
          <a:pPr rtl="0"/>
          <a:r>
            <a:rPr lang="en-US" dirty="0">
              <a:latin typeface="Calibri Light" panose="020F0302020204030204"/>
            </a:rPr>
            <a:t>Public Deposits</a:t>
          </a:r>
        </a:p>
      </dgm:t>
    </dgm:pt>
    <dgm:pt modelId="{0A0070EF-EEC1-4139-A04F-6383EB367AEB}" type="parTrans" cxnId="{239F229A-10F6-4833-9413-9749DD66F316}">
      <dgm:prSet/>
      <dgm:spPr/>
    </dgm:pt>
    <dgm:pt modelId="{31C82C4F-2CBD-43B2-8046-32FCE68CADA2}" type="sibTrans" cxnId="{239F229A-10F6-4833-9413-9749DD66F316}">
      <dgm:prSet/>
      <dgm:spPr/>
    </dgm:pt>
    <dgm:pt modelId="{A1E6F075-9702-4A92-884F-E43E3C4C1C1F}">
      <dgm:prSet phldr="0"/>
      <dgm:spPr/>
      <dgm:t>
        <a:bodyPr/>
        <a:lstStyle/>
        <a:p>
          <a:pPr rtl="0"/>
          <a:r>
            <a:rPr lang="en-US" dirty="0"/>
            <a:t>Loans From Fianancial Instituitions</a:t>
          </a:r>
        </a:p>
      </dgm:t>
    </dgm:pt>
    <dgm:pt modelId="{85D715B8-8D7D-49D9-8D20-6A837724939B}" type="parTrans" cxnId="{68F7C6A6-D39C-4F60-B7D3-8741D345D846}">
      <dgm:prSet/>
      <dgm:spPr/>
    </dgm:pt>
    <dgm:pt modelId="{E887E23E-CBEC-43EB-952B-A239586599C4}" type="sibTrans" cxnId="{68F7C6A6-D39C-4F60-B7D3-8741D345D846}">
      <dgm:prSet/>
      <dgm:spPr/>
    </dgm:pt>
    <dgm:pt modelId="{692D8683-F555-45FE-8979-1A83CD9D3E6C}">
      <dgm:prSet phldr="0"/>
      <dgm:spPr/>
      <dgm:t>
        <a:bodyPr/>
        <a:lstStyle/>
        <a:p>
          <a:pPr rtl="0"/>
          <a:r>
            <a:rPr lang="en-US" dirty="0">
              <a:latin typeface="Calibri Light" panose="020F0302020204030204"/>
            </a:rPr>
            <a:t>Issue of Debentures</a:t>
          </a:r>
        </a:p>
      </dgm:t>
    </dgm:pt>
    <dgm:pt modelId="{09D6AA3C-F7B1-4F63-BEB6-D1DA4C87A9ED}" type="parTrans" cxnId="{0BC4287D-3A90-41CE-9450-7049C9E567CC}">
      <dgm:prSet/>
      <dgm:spPr/>
    </dgm:pt>
    <dgm:pt modelId="{AAA34147-1F79-43BD-A8FC-E1129FB0A6A3}" type="sibTrans" cxnId="{0BC4287D-3A90-41CE-9450-7049C9E567CC}">
      <dgm:prSet/>
      <dgm:spPr/>
    </dgm:pt>
    <dgm:pt modelId="{761AE283-8DC7-4E6A-A3D5-F2448DEAE060}">
      <dgm:prSet phldr="0"/>
      <dgm:spPr/>
      <dgm:t>
        <a:bodyPr/>
        <a:lstStyle/>
        <a:p>
          <a:pPr rtl="0"/>
          <a:r>
            <a:rPr lang="en-US" dirty="0">
              <a:latin typeface="Calibri Light" panose="020F0302020204030204"/>
            </a:rPr>
            <a:t>Loans from Fianancial Institutions</a:t>
          </a:r>
          <a:endParaRPr lang="en-US" dirty="0"/>
        </a:p>
      </dgm:t>
    </dgm:pt>
    <dgm:pt modelId="{45D5C544-2AB0-48A6-96E7-C419830247D9}" type="parTrans" cxnId="{39D1CF45-B0BE-4CC0-9B92-BBCA43D3018F}">
      <dgm:prSet/>
      <dgm:spPr/>
    </dgm:pt>
    <dgm:pt modelId="{AF5A97EF-2524-463E-B065-F5E7AB5CD670}" type="sibTrans" cxnId="{39D1CF45-B0BE-4CC0-9B92-BBCA43D3018F}">
      <dgm:prSet/>
      <dgm:spPr/>
    </dgm:pt>
    <dgm:pt modelId="{198E8DAE-568E-449B-83A1-B512CB72C568}">
      <dgm:prSet phldr="0"/>
      <dgm:spPr/>
      <dgm:t>
        <a:bodyPr/>
        <a:lstStyle/>
        <a:p>
          <a:pPr rtl="0"/>
          <a:r>
            <a:rPr lang="en-US" dirty="0">
              <a:latin typeface="Calibri Light" panose="020F0302020204030204"/>
            </a:rPr>
            <a:t>Customer Advances</a:t>
          </a:r>
        </a:p>
      </dgm:t>
    </dgm:pt>
    <dgm:pt modelId="{C2A4810B-B017-4787-8944-5D354CE63A14}" type="parTrans" cxnId="{8930A500-D8E5-441C-8871-E38B006510AE}">
      <dgm:prSet/>
      <dgm:spPr/>
    </dgm:pt>
    <dgm:pt modelId="{151C7C65-86CB-4676-B18F-B693E5A9FB6A}" type="sibTrans" cxnId="{8930A500-D8E5-441C-8871-E38B006510AE}">
      <dgm:prSet/>
      <dgm:spPr/>
    </dgm:pt>
    <dgm:pt modelId="{B1AE10F0-FA19-48D7-BAF1-614F75FB44AD}">
      <dgm:prSet phldr="0"/>
      <dgm:spPr/>
      <dgm:t>
        <a:bodyPr/>
        <a:lstStyle/>
        <a:p>
          <a:pPr rtl="0"/>
          <a:r>
            <a:rPr lang="en-US" dirty="0">
              <a:latin typeface="Calibri Light" panose="020F0302020204030204"/>
            </a:rPr>
            <a:t>Bill Discounting</a:t>
          </a:r>
        </a:p>
      </dgm:t>
    </dgm:pt>
    <dgm:pt modelId="{588CF655-6B34-457A-ABC7-8B229559EC28}" type="parTrans" cxnId="{17FA2281-A242-479A-8F23-344670D2B150}">
      <dgm:prSet/>
      <dgm:spPr/>
    </dgm:pt>
    <dgm:pt modelId="{3D8ACF5F-31A4-40CF-8987-DDD5EAC1DDB9}" type="sibTrans" cxnId="{17FA2281-A242-479A-8F23-344670D2B150}">
      <dgm:prSet/>
      <dgm:spPr/>
    </dgm:pt>
    <dgm:pt modelId="{4E6AEAB5-5409-46C3-9ABF-EEFC6E18EB72}">
      <dgm:prSet phldr="0"/>
      <dgm:spPr/>
      <dgm:t>
        <a:bodyPr/>
        <a:lstStyle/>
        <a:p>
          <a:pPr rtl="0"/>
          <a:r>
            <a:rPr lang="en-US" dirty="0">
              <a:latin typeface="Calibri Light" panose="020F0302020204030204"/>
            </a:rPr>
            <a:t>Bank Overdraft</a:t>
          </a:r>
        </a:p>
      </dgm:t>
    </dgm:pt>
    <dgm:pt modelId="{22C22E14-D0AD-43BC-92C4-74197AE43199}" type="parTrans" cxnId="{3385CA55-57A7-4431-9910-37E73AF20E4E}">
      <dgm:prSet/>
      <dgm:spPr/>
    </dgm:pt>
    <dgm:pt modelId="{99AB774F-F124-4544-95B5-1FFACEAABF64}" type="sibTrans" cxnId="{3385CA55-57A7-4431-9910-37E73AF20E4E}">
      <dgm:prSet/>
      <dgm:spPr/>
    </dgm:pt>
    <dgm:pt modelId="{C781635C-AD32-4A07-86AC-6F55120BF622}">
      <dgm:prSet phldr="0"/>
      <dgm:spPr/>
      <dgm:t>
        <a:bodyPr/>
        <a:lstStyle/>
        <a:p>
          <a:pPr rtl="0"/>
          <a:r>
            <a:rPr lang="en-US" dirty="0">
              <a:latin typeface="Calibri Light" panose="020F0302020204030204"/>
            </a:rPr>
            <a:t>Cash Credit</a:t>
          </a:r>
        </a:p>
      </dgm:t>
    </dgm:pt>
    <dgm:pt modelId="{0930A01E-B79F-43C0-A495-CE7DFBD52D1F}" type="parTrans" cxnId="{7DE34C47-8517-46B2-BB25-841203DA0FA2}">
      <dgm:prSet/>
      <dgm:spPr/>
    </dgm:pt>
    <dgm:pt modelId="{608AE570-24BF-41B7-A654-3D41F926FBCE}" type="sibTrans" cxnId="{7DE34C47-8517-46B2-BB25-841203DA0FA2}">
      <dgm:prSet/>
      <dgm:spPr/>
    </dgm:pt>
    <dgm:pt modelId="{4CFC3303-AE75-4C69-8E16-7B5F4535D3BE}">
      <dgm:prSet phldr="0"/>
      <dgm:spPr/>
      <dgm:t>
        <a:bodyPr/>
        <a:lstStyle/>
        <a:p>
          <a:pPr rtl="0"/>
          <a:r>
            <a:rPr lang="en-US" dirty="0">
              <a:latin typeface="Calibri Light" panose="020F0302020204030204"/>
            </a:rPr>
            <a:t>Hire Purchase and Leasing</a:t>
          </a:r>
        </a:p>
      </dgm:t>
    </dgm:pt>
    <dgm:pt modelId="{80F08B0D-2D4C-447B-B3AB-3F4C6A02A0B6}" type="parTrans" cxnId="{F0FCB384-1EEC-4E5B-A205-80B7E8B4B283}">
      <dgm:prSet/>
      <dgm:spPr/>
    </dgm:pt>
    <dgm:pt modelId="{F72EE196-DC2D-4AE9-8319-B02B60D1B7D4}" type="sibTrans" cxnId="{F0FCB384-1EEC-4E5B-A205-80B7E8B4B283}">
      <dgm:prSet/>
      <dgm:spPr/>
    </dgm:pt>
    <dgm:pt modelId="{FF23C117-3399-4C2F-80E3-DE876298DF4E}">
      <dgm:prSet phldr="0"/>
      <dgm:spPr/>
      <dgm:t>
        <a:bodyPr/>
        <a:lstStyle/>
        <a:p>
          <a:pPr rtl="0"/>
          <a:r>
            <a:rPr lang="en-US" dirty="0">
              <a:latin typeface="Calibri Light" panose="020F0302020204030204"/>
            </a:rPr>
            <a:t>Bond Loans</a:t>
          </a:r>
        </a:p>
      </dgm:t>
    </dgm:pt>
    <dgm:pt modelId="{BBB324B8-9125-4AC8-A872-E5C960C29381}" type="parTrans" cxnId="{D47A5313-7B5E-45C9-B25F-409D672184B1}">
      <dgm:prSet/>
      <dgm:spPr/>
    </dgm:pt>
    <dgm:pt modelId="{D6898D3B-1C93-4CCA-938D-59824359DCED}" type="sibTrans" cxnId="{D47A5313-7B5E-45C9-B25F-409D672184B1}">
      <dgm:prSet/>
      <dgm:spPr/>
    </dgm:pt>
    <dgm:pt modelId="{CF004109-40C2-4418-98D0-7CEC1E06159E}" type="pres">
      <dgm:prSet presAssocID="{4FC6A791-5A75-4144-8B83-F21BD50A274F}" presName="theList" presStyleCnt="0">
        <dgm:presLayoutVars>
          <dgm:dir/>
          <dgm:animLvl val="lvl"/>
          <dgm:resizeHandles val="exact"/>
        </dgm:presLayoutVars>
      </dgm:prSet>
      <dgm:spPr/>
      <dgm:t>
        <a:bodyPr/>
        <a:lstStyle/>
        <a:p>
          <a:endParaRPr lang="en-US"/>
        </a:p>
      </dgm:t>
    </dgm:pt>
    <dgm:pt modelId="{BDC4AD5F-3BA4-4E53-BD21-C83632578CC1}" type="pres">
      <dgm:prSet presAssocID="{D13C3FA9-A193-4D09-85D4-797588C4FCD7}" presName="compNode" presStyleCnt="0"/>
      <dgm:spPr/>
    </dgm:pt>
    <dgm:pt modelId="{861422ED-2B9C-4C84-B551-1FB09B514240}" type="pres">
      <dgm:prSet presAssocID="{D13C3FA9-A193-4D09-85D4-797588C4FCD7}" presName="aNode" presStyleLbl="bgShp" presStyleIdx="0" presStyleCnt="3"/>
      <dgm:spPr/>
      <dgm:t>
        <a:bodyPr/>
        <a:lstStyle/>
        <a:p>
          <a:endParaRPr lang="en-US"/>
        </a:p>
      </dgm:t>
    </dgm:pt>
    <dgm:pt modelId="{1CA663C6-BC9B-4FF5-9839-6CE88CB820AC}" type="pres">
      <dgm:prSet presAssocID="{D13C3FA9-A193-4D09-85D4-797588C4FCD7}" presName="textNode" presStyleLbl="bgShp" presStyleIdx="0" presStyleCnt="3"/>
      <dgm:spPr/>
      <dgm:t>
        <a:bodyPr/>
        <a:lstStyle/>
        <a:p>
          <a:endParaRPr lang="en-US"/>
        </a:p>
      </dgm:t>
    </dgm:pt>
    <dgm:pt modelId="{0544A7BC-A4F2-451B-AEF7-DBCD21CFB49B}" type="pres">
      <dgm:prSet presAssocID="{D13C3FA9-A193-4D09-85D4-797588C4FCD7}" presName="compChildNode" presStyleCnt="0"/>
      <dgm:spPr/>
    </dgm:pt>
    <dgm:pt modelId="{56DF333A-08E0-4629-AFC2-931C10F9385F}" type="pres">
      <dgm:prSet presAssocID="{D13C3FA9-A193-4D09-85D4-797588C4FCD7}" presName="theInnerList" presStyleCnt="0"/>
      <dgm:spPr/>
    </dgm:pt>
    <dgm:pt modelId="{7A4BF01E-2A97-48CE-A8D6-5B3109FE778B}" type="pres">
      <dgm:prSet presAssocID="{9038A635-C5F0-4F3D-9FE1-FF6D16E20431}" presName="childNode" presStyleLbl="node1" presStyleIdx="0" presStyleCnt="17">
        <dgm:presLayoutVars>
          <dgm:bulletEnabled val="1"/>
        </dgm:presLayoutVars>
      </dgm:prSet>
      <dgm:spPr/>
      <dgm:t>
        <a:bodyPr/>
        <a:lstStyle/>
        <a:p>
          <a:endParaRPr lang="en-US"/>
        </a:p>
      </dgm:t>
    </dgm:pt>
    <dgm:pt modelId="{768A7015-6B5E-4A60-8DB2-EDADC35EC863}" type="pres">
      <dgm:prSet presAssocID="{9038A635-C5F0-4F3D-9FE1-FF6D16E20431}" presName="aSpace2" presStyleCnt="0"/>
      <dgm:spPr/>
    </dgm:pt>
    <dgm:pt modelId="{7B8659BD-1312-490E-8C93-6B9936798E85}" type="pres">
      <dgm:prSet presAssocID="{198E8DAE-568E-449B-83A1-B512CB72C568}" presName="childNode" presStyleLbl="node1" presStyleIdx="1" presStyleCnt="17">
        <dgm:presLayoutVars>
          <dgm:bulletEnabled val="1"/>
        </dgm:presLayoutVars>
      </dgm:prSet>
      <dgm:spPr/>
      <dgm:t>
        <a:bodyPr/>
        <a:lstStyle/>
        <a:p>
          <a:endParaRPr lang="en-US"/>
        </a:p>
      </dgm:t>
    </dgm:pt>
    <dgm:pt modelId="{9D172584-8A4D-4D52-B3C7-287C53FDC483}" type="pres">
      <dgm:prSet presAssocID="{198E8DAE-568E-449B-83A1-B512CB72C568}" presName="aSpace2" presStyleCnt="0"/>
      <dgm:spPr/>
    </dgm:pt>
    <dgm:pt modelId="{6188D18F-2CCD-483E-A6F9-EC9723BEA5C9}" type="pres">
      <dgm:prSet presAssocID="{B1AE10F0-FA19-48D7-BAF1-614F75FB44AD}" presName="childNode" presStyleLbl="node1" presStyleIdx="2" presStyleCnt="17">
        <dgm:presLayoutVars>
          <dgm:bulletEnabled val="1"/>
        </dgm:presLayoutVars>
      </dgm:prSet>
      <dgm:spPr/>
      <dgm:t>
        <a:bodyPr/>
        <a:lstStyle/>
        <a:p>
          <a:endParaRPr lang="en-US"/>
        </a:p>
      </dgm:t>
    </dgm:pt>
    <dgm:pt modelId="{13F09E01-8937-4E7A-BDF6-FB9F65873864}" type="pres">
      <dgm:prSet presAssocID="{B1AE10F0-FA19-48D7-BAF1-614F75FB44AD}" presName="aSpace2" presStyleCnt="0"/>
      <dgm:spPr/>
    </dgm:pt>
    <dgm:pt modelId="{8D16C53E-E98B-4E7E-A835-83397C3A49BD}" type="pres">
      <dgm:prSet presAssocID="{4E6AEAB5-5409-46C3-9ABF-EEFC6E18EB72}" presName="childNode" presStyleLbl="node1" presStyleIdx="3" presStyleCnt="17">
        <dgm:presLayoutVars>
          <dgm:bulletEnabled val="1"/>
        </dgm:presLayoutVars>
      </dgm:prSet>
      <dgm:spPr/>
      <dgm:t>
        <a:bodyPr/>
        <a:lstStyle/>
        <a:p>
          <a:endParaRPr lang="en-US"/>
        </a:p>
      </dgm:t>
    </dgm:pt>
    <dgm:pt modelId="{425E2AD4-3AAD-439D-8ED3-5B03754FD739}" type="pres">
      <dgm:prSet presAssocID="{4E6AEAB5-5409-46C3-9ABF-EEFC6E18EB72}" presName="aSpace2" presStyleCnt="0"/>
      <dgm:spPr/>
    </dgm:pt>
    <dgm:pt modelId="{2716763F-7C8E-4A9A-B4D6-B85C6E411784}" type="pres">
      <dgm:prSet presAssocID="{C781635C-AD32-4A07-86AC-6F55120BF622}" presName="childNode" presStyleLbl="node1" presStyleIdx="4" presStyleCnt="17">
        <dgm:presLayoutVars>
          <dgm:bulletEnabled val="1"/>
        </dgm:presLayoutVars>
      </dgm:prSet>
      <dgm:spPr/>
      <dgm:t>
        <a:bodyPr/>
        <a:lstStyle/>
        <a:p>
          <a:endParaRPr lang="en-US"/>
        </a:p>
      </dgm:t>
    </dgm:pt>
    <dgm:pt modelId="{53BFB495-553A-4D53-82DB-173164F2344F}" type="pres">
      <dgm:prSet presAssocID="{C781635C-AD32-4A07-86AC-6F55120BF622}" presName="aSpace2" presStyleCnt="0"/>
      <dgm:spPr/>
    </dgm:pt>
    <dgm:pt modelId="{BBCAFF97-4869-4C3A-9F38-4F10CC03F67A}" type="pres">
      <dgm:prSet presAssocID="{4588C490-D31A-4412-93D3-A3793DB30279}" presName="childNode" presStyleLbl="node1" presStyleIdx="5" presStyleCnt="17">
        <dgm:presLayoutVars>
          <dgm:bulletEnabled val="1"/>
        </dgm:presLayoutVars>
      </dgm:prSet>
      <dgm:spPr/>
      <dgm:t>
        <a:bodyPr/>
        <a:lstStyle/>
        <a:p>
          <a:endParaRPr lang="en-US"/>
        </a:p>
      </dgm:t>
    </dgm:pt>
    <dgm:pt modelId="{581B8BA5-5680-4DFA-B042-099AF45FEB1A}" type="pres">
      <dgm:prSet presAssocID="{4588C490-D31A-4412-93D3-A3793DB30279}" presName="aSpace2" presStyleCnt="0"/>
      <dgm:spPr/>
    </dgm:pt>
    <dgm:pt modelId="{BA2F4A1F-5C4A-410C-8EB6-DFE195296DD7}" type="pres">
      <dgm:prSet presAssocID="{065210C5-3F68-4C21-A06B-2047228DEA1E}" presName="childNode" presStyleLbl="node1" presStyleIdx="6" presStyleCnt="17">
        <dgm:presLayoutVars>
          <dgm:bulletEnabled val="1"/>
        </dgm:presLayoutVars>
      </dgm:prSet>
      <dgm:spPr/>
      <dgm:t>
        <a:bodyPr/>
        <a:lstStyle/>
        <a:p>
          <a:endParaRPr lang="en-US"/>
        </a:p>
      </dgm:t>
    </dgm:pt>
    <dgm:pt modelId="{3390654C-D043-4560-9D61-2D6FF7D5FB49}" type="pres">
      <dgm:prSet presAssocID="{065210C5-3F68-4C21-A06B-2047228DEA1E}" presName="aSpace2" presStyleCnt="0"/>
      <dgm:spPr/>
    </dgm:pt>
    <dgm:pt modelId="{DFDFEF96-66CC-448F-9ABF-B2A8B9F8BFD1}" type="pres">
      <dgm:prSet presAssocID="{4CFC3303-AE75-4C69-8E16-7B5F4535D3BE}" presName="childNode" presStyleLbl="node1" presStyleIdx="7" presStyleCnt="17">
        <dgm:presLayoutVars>
          <dgm:bulletEnabled val="1"/>
        </dgm:presLayoutVars>
      </dgm:prSet>
      <dgm:spPr/>
      <dgm:t>
        <a:bodyPr/>
        <a:lstStyle/>
        <a:p>
          <a:endParaRPr lang="en-US"/>
        </a:p>
      </dgm:t>
    </dgm:pt>
    <dgm:pt modelId="{109CDACC-FC54-4145-A2FB-2C2D0129B705}" type="pres">
      <dgm:prSet presAssocID="{D13C3FA9-A193-4D09-85D4-797588C4FCD7}" presName="aSpace" presStyleCnt="0"/>
      <dgm:spPr/>
    </dgm:pt>
    <dgm:pt modelId="{79F181E1-8A41-4887-9AEA-DF0AAD0F79A6}" type="pres">
      <dgm:prSet presAssocID="{A66DD62A-FD71-4537-8A9C-CB83CFEC2901}" presName="compNode" presStyleCnt="0"/>
      <dgm:spPr/>
    </dgm:pt>
    <dgm:pt modelId="{B87203E0-B074-4BB7-9F6D-05A6ADA30F45}" type="pres">
      <dgm:prSet presAssocID="{A66DD62A-FD71-4537-8A9C-CB83CFEC2901}" presName="aNode" presStyleLbl="bgShp" presStyleIdx="1" presStyleCnt="3"/>
      <dgm:spPr/>
      <dgm:t>
        <a:bodyPr/>
        <a:lstStyle/>
        <a:p>
          <a:endParaRPr lang="en-US"/>
        </a:p>
      </dgm:t>
    </dgm:pt>
    <dgm:pt modelId="{9EF2DFD0-CEED-4311-9888-56664054F016}" type="pres">
      <dgm:prSet presAssocID="{A66DD62A-FD71-4537-8A9C-CB83CFEC2901}" presName="textNode" presStyleLbl="bgShp" presStyleIdx="1" presStyleCnt="3"/>
      <dgm:spPr/>
      <dgm:t>
        <a:bodyPr/>
        <a:lstStyle/>
        <a:p>
          <a:endParaRPr lang="en-US"/>
        </a:p>
      </dgm:t>
    </dgm:pt>
    <dgm:pt modelId="{3B41DB2F-3C62-4C9F-A5BA-8DD93B4C8B93}" type="pres">
      <dgm:prSet presAssocID="{A66DD62A-FD71-4537-8A9C-CB83CFEC2901}" presName="compChildNode" presStyleCnt="0"/>
      <dgm:spPr/>
    </dgm:pt>
    <dgm:pt modelId="{8ACADF64-F812-4F96-810B-0F6BD57F11E4}" type="pres">
      <dgm:prSet presAssocID="{A66DD62A-FD71-4537-8A9C-CB83CFEC2901}" presName="theInnerList" presStyleCnt="0"/>
      <dgm:spPr/>
    </dgm:pt>
    <dgm:pt modelId="{5EBBE8ED-D47E-47BB-A339-6F72A97E954A}" type="pres">
      <dgm:prSet presAssocID="{F64B8A84-B536-48C0-9E22-1E8EE1714B5B}" presName="childNode" presStyleLbl="node1" presStyleIdx="8" presStyleCnt="17">
        <dgm:presLayoutVars>
          <dgm:bulletEnabled val="1"/>
        </dgm:presLayoutVars>
      </dgm:prSet>
      <dgm:spPr/>
      <dgm:t>
        <a:bodyPr/>
        <a:lstStyle/>
        <a:p>
          <a:endParaRPr lang="en-US"/>
        </a:p>
      </dgm:t>
    </dgm:pt>
    <dgm:pt modelId="{B5E8F975-231B-4BD8-B5CA-58F40A0BDA67}" type="pres">
      <dgm:prSet presAssocID="{F64B8A84-B536-48C0-9E22-1E8EE1714B5B}" presName="aSpace2" presStyleCnt="0"/>
      <dgm:spPr/>
    </dgm:pt>
    <dgm:pt modelId="{4EE9CD01-3C24-4EF4-A21B-FB8D3EFFBAC0}" type="pres">
      <dgm:prSet presAssocID="{06F25BED-F21B-47AB-8E27-4C0BE1A5A296}" presName="childNode" presStyleLbl="node1" presStyleIdx="9" presStyleCnt="17">
        <dgm:presLayoutVars>
          <dgm:bulletEnabled val="1"/>
        </dgm:presLayoutVars>
      </dgm:prSet>
      <dgm:spPr/>
      <dgm:t>
        <a:bodyPr/>
        <a:lstStyle/>
        <a:p>
          <a:endParaRPr lang="en-US"/>
        </a:p>
      </dgm:t>
    </dgm:pt>
    <dgm:pt modelId="{DF3DE949-5520-4D3C-9B83-828D099CE8E6}" type="pres">
      <dgm:prSet presAssocID="{06F25BED-F21B-47AB-8E27-4C0BE1A5A296}" presName="aSpace2" presStyleCnt="0"/>
      <dgm:spPr/>
    </dgm:pt>
    <dgm:pt modelId="{FA191985-E31B-49EB-96A6-4B6535713D8B}" type="pres">
      <dgm:prSet presAssocID="{5FA02BA7-8C08-41DC-BA8A-BED324DC1433}" presName="childNode" presStyleLbl="node1" presStyleIdx="10" presStyleCnt="17">
        <dgm:presLayoutVars>
          <dgm:bulletEnabled val="1"/>
        </dgm:presLayoutVars>
      </dgm:prSet>
      <dgm:spPr/>
      <dgm:t>
        <a:bodyPr/>
        <a:lstStyle/>
        <a:p>
          <a:endParaRPr lang="en-US"/>
        </a:p>
      </dgm:t>
    </dgm:pt>
    <dgm:pt modelId="{6DD026C9-6217-474F-B5CA-7899183CB9C8}" type="pres">
      <dgm:prSet presAssocID="{5FA02BA7-8C08-41DC-BA8A-BED324DC1433}" presName="aSpace2" presStyleCnt="0"/>
      <dgm:spPr/>
    </dgm:pt>
    <dgm:pt modelId="{FC6A178C-3652-4826-B502-AED6BD15B0C4}" type="pres">
      <dgm:prSet presAssocID="{FF23C117-3399-4C2F-80E3-DE876298DF4E}" presName="childNode" presStyleLbl="node1" presStyleIdx="11" presStyleCnt="17">
        <dgm:presLayoutVars>
          <dgm:bulletEnabled val="1"/>
        </dgm:presLayoutVars>
      </dgm:prSet>
      <dgm:spPr/>
      <dgm:t>
        <a:bodyPr/>
        <a:lstStyle/>
        <a:p>
          <a:endParaRPr lang="en-US"/>
        </a:p>
      </dgm:t>
    </dgm:pt>
    <dgm:pt modelId="{E0C87E3F-43CC-46E6-8C8E-21AA7442F13A}" type="pres">
      <dgm:prSet presAssocID="{FF23C117-3399-4C2F-80E3-DE876298DF4E}" presName="aSpace2" presStyleCnt="0"/>
      <dgm:spPr/>
    </dgm:pt>
    <dgm:pt modelId="{34C241D6-D469-434D-82B3-4EA23B917185}" type="pres">
      <dgm:prSet presAssocID="{A1E6F075-9702-4A92-884F-E43E3C4C1C1F}" presName="childNode" presStyleLbl="node1" presStyleIdx="12" presStyleCnt="17">
        <dgm:presLayoutVars>
          <dgm:bulletEnabled val="1"/>
        </dgm:presLayoutVars>
      </dgm:prSet>
      <dgm:spPr/>
      <dgm:t>
        <a:bodyPr/>
        <a:lstStyle/>
        <a:p>
          <a:endParaRPr lang="en-US"/>
        </a:p>
      </dgm:t>
    </dgm:pt>
    <dgm:pt modelId="{2745E078-E2E4-42C7-95E5-259CB37AB09A}" type="pres">
      <dgm:prSet presAssocID="{A66DD62A-FD71-4537-8A9C-CB83CFEC2901}" presName="aSpace" presStyleCnt="0"/>
      <dgm:spPr/>
    </dgm:pt>
    <dgm:pt modelId="{184B5B13-C659-4FD9-97A7-E599BB43036B}" type="pres">
      <dgm:prSet presAssocID="{A7D19864-F478-4BEE-BCCC-85FF726EFD77}" presName="compNode" presStyleCnt="0"/>
      <dgm:spPr/>
    </dgm:pt>
    <dgm:pt modelId="{07A0974B-4A4F-40B5-99C3-D9AE4B803FA3}" type="pres">
      <dgm:prSet presAssocID="{A7D19864-F478-4BEE-BCCC-85FF726EFD77}" presName="aNode" presStyleLbl="bgShp" presStyleIdx="2" presStyleCnt="3"/>
      <dgm:spPr/>
      <dgm:t>
        <a:bodyPr/>
        <a:lstStyle/>
        <a:p>
          <a:endParaRPr lang="en-US"/>
        </a:p>
      </dgm:t>
    </dgm:pt>
    <dgm:pt modelId="{7DEA7F80-5A2C-4698-AFA3-4AFCA11E93FB}" type="pres">
      <dgm:prSet presAssocID="{A7D19864-F478-4BEE-BCCC-85FF726EFD77}" presName="textNode" presStyleLbl="bgShp" presStyleIdx="2" presStyleCnt="3"/>
      <dgm:spPr/>
      <dgm:t>
        <a:bodyPr/>
        <a:lstStyle/>
        <a:p>
          <a:endParaRPr lang="en-US"/>
        </a:p>
      </dgm:t>
    </dgm:pt>
    <dgm:pt modelId="{5C93673A-56F1-45CA-BFB2-D1E70FEB1D9A}" type="pres">
      <dgm:prSet presAssocID="{A7D19864-F478-4BEE-BCCC-85FF726EFD77}" presName="compChildNode" presStyleCnt="0"/>
      <dgm:spPr/>
    </dgm:pt>
    <dgm:pt modelId="{F085C8D5-007F-48A7-A0A6-EA913CFD25FD}" type="pres">
      <dgm:prSet presAssocID="{A7D19864-F478-4BEE-BCCC-85FF726EFD77}" presName="theInnerList" presStyleCnt="0"/>
      <dgm:spPr/>
    </dgm:pt>
    <dgm:pt modelId="{9FF2914D-763F-4E57-AFE1-8DC00FD16495}" type="pres">
      <dgm:prSet presAssocID="{2CF2AEC0-1C67-496C-A937-881227713383}" presName="childNode" presStyleLbl="node1" presStyleIdx="13" presStyleCnt="17">
        <dgm:presLayoutVars>
          <dgm:bulletEnabled val="1"/>
        </dgm:presLayoutVars>
      </dgm:prSet>
      <dgm:spPr/>
      <dgm:t>
        <a:bodyPr/>
        <a:lstStyle/>
        <a:p>
          <a:endParaRPr lang="en-US"/>
        </a:p>
      </dgm:t>
    </dgm:pt>
    <dgm:pt modelId="{F7DB841B-2980-4F61-B1D9-616E03F29B31}" type="pres">
      <dgm:prSet presAssocID="{2CF2AEC0-1C67-496C-A937-881227713383}" presName="aSpace2" presStyleCnt="0"/>
      <dgm:spPr/>
    </dgm:pt>
    <dgm:pt modelId="{7C1B8114-232F-4F23-9612-7E3B87CA6135}" type="pres">
      <dgm:prSet presAssocID="{58A411CD-880E-4D1A-89D5-BD00687F5038}" presName="childNode" presStyleLbl="node1" presStyleIdx="14" presStyleCnt="17">
        <dgm:presLayoutVars>
          <dgm:bulletEnabled val="1"/>
        </dgm:presLayoutVars>
      </dgm:prSet>
      <dgm:spPr/>
      <dgm:t>
        <a:bodyPr/>
        <a:lstStyle/>
        <a:p>
          <a:endParaRPr lang="en-US"/>
        </a:p>
      </dgm:t>
    </dgm:pt>
    <dgm:pt modelId="{D9BE823F-52F2-4A15-BAAB-1B50EA34414E}" type="pres">
      <dgm:prSet presAssocID="{58A411CD-880E-4D1A-89D5-BD00687F5038}" presName="aSpace2" presStyleCnt="0"/>
      <dgm:spPr/>
    </dgm:pt>
    <dgm:pt modelId="{CA5F9AC7-2332-46D0-A5AE-57C4A48BD1D9}" type="pres">
      <dgm:prSet presAssocID="{692D8683-F555-45FE-8979-1A83CD9D3E6C}" presName="childNode" presStyleLbl="node1" presStyleIdx="15" presStyleCnt="17">
        <dgm:presLayoutVars>
          <dgm:bulletEnabled val="1"/>
        </dgm:presLayoutVars>
      </dgm:prSet>
      <dgm:spPr/>
      <dgm:t>
        <a:bodyPr/>
        <a:lstStyle/>
        <a:p>
          <a:endParaRPr lang="en-US"/>
        </a:p>
      </dgm:t>
    </dgm:pt>
    <dgm:pt modelId="{076B0520-510D-484A-B733-D6F357B4E94C}" type="pres">
      <dgm:prSet presAssocID="{692D8683-F555-45FE-8979-1A83CD9D3E6C}" presName="aSpace2" presStyleCnt="0"/>
      <dgm:spPr/>
    </dgm:pt>
    <dgm:pt modelId="{5E9C1A7C-4124-4BDD-9A63-D71FEE32ED8C}" type="pres">
      <dgm:prSet presAssocID="{761AE283-8DC7-4E6A-A3D5-F2448DEAE060}" presName="childNode" presStyleLbl="node1" presStyleIdx="16" presStyleCnt="17">
        <dgm:presLayoutVars>
          <dgm:bulletEnabled val="1"/>
        </dgm:presLayoutVars>
      </dgm:prSet>
      <dgm:spPr/>
      <dgm:t>
        <a:bodyPr/>
        <a:lstStyle/>
        <a:p>
          <a:endParaRPr lang="en-US"/>
        </a:p>
      </dgm:t>
    </dgm:pt>
  </dgm:ptLst>
  <dgm:cxnLst>
    <dgm:cxn modelId="{1AFDC67B-E61C-403F-91AB-1C9712E200E5}" type="presOf" srcId="{9038A635-C5F0-4F3D-9FE1-FF6D16E20431}" destId="{7A4BF01E-2A97-48CE-A8D6-5B3109FE778B}" srcOrd="0" destOrd="0" presId="urn:microsoft.com/office/officeart/2005/8/layout/lProcess2"/>
    <dgm:cxn modelId="{DF55F6FF-1E78-45D6-8233-AB187A599F0B}" srcId="{D13C3FA9-A193-4D09-85D4-797588C4FCD7}" destId="{4588C490-D31A-4412-93D3-A3793DB30279}" srcOrd="5" destOrd="0" parTransId="{C504E152-8648-4761-860A-B1F0B4B9B4FB}" sibTransId="{7910F901-034E-4D22-8242-16C9E63E106F}"/>
    <dgm:cxn modelId="{4D8F2D6F-6E49-4532-9F7D-69994F2E9B1D}" type="presOf" srcId="{06F25BED-F21B-47AB-8E27-4C0BE1A5A296}" destId="{4EE9CD01-3C24-4EF4-A21B-FB8D3EFFBAC0}" srcOrd="0" destOrd="0" presId="urn:microsoft.com/office/officeart/2005/8/layout/lProcess2"/>
    <dgm:cxn modelId="{2E78990B-6CD1-447B-A345-751F9C6F2843}" type="presOf" srcId="{C781635C-AD32-4A07-86AC-6F55120BF622}" destId="{2716763F-7C8E-4A9A-B4D6-B85C6E411784}" srcOrd="0" destOrd="0" presId="urn:microsoft.com/office/officeart/2005/8/layout/lProcess2"/>
    <dgm:cxn modelId="{3A30ED9F-EAAB-45F5-A08B-CA0194454D44}" type="presOf" srcId="{065210C5-3F68-4C21-A06B-2047228DEA1E}" destId="{BA2F4A1F-5C4A-410C-8EB6-DFE195296DD7}" srcOrd="0" destOrd="0" presId="urn:microsoft.com/office/officeart/2005/8/layout/lProcess2"/>
    <dgm:cxn modelId="{7DE34C47-8517-46B2-BB25-841203DA0FA2}" srcId="{D13C3FA9-A193-4D09-85D4-797588C4FCD7}" destId="{C781635C-AD32-4A07-86AC-6F55120BF622}" srcOrd="4" destOrd="0" parTransId="{0930A01E-B79F-43C0-A495-CE7DFBD52D1F}" sibTransId="{608AE570-24BF-41B7-A654-3D41F926FBCE}"/>
    <dgm:cxn modelId="{7AE5FF18-1936-4477-9B2E-E75E1D3B64CE}" type="presOf" srcId="{FF23C117-3399-4C2F-80E3-DE876298DF4E}" destId="{FC6A178C-3652-4826-B502-AED6BD15B0C4}" srcOrd="0" destOrd="0" presId="urn:microsoft.com/office/officeart/2005/8/layout/lProcess2"/>
    <dgm:cxn modelId="{52730CCC-18BC-4B10-BB64-27BB945C5DB8}" type="presOf" srcId="{5FA02BA7-8C08-41DC-BA8A-BED324DC1433}" destId="{FA191985-E31B-49EB-96A6-4B6535713D8B}" srcOrd="0" destOrd="0" presId="urn:microsoft.com/office/officeart/2005/8/layout/lProcess2"/>
    <dgm:cxn modelId="{154C772E-D5E5-4563-A403-E6BB61D3C4E3}" type="presOf" srcId="{D13C3FA9-A193-4D09-85D4-797588C4FCD7}" destId="{861422ED-2B9C-4C84-B551-1FB09B514240}" srcOrd="0" destOrd="0" presId="urn:microsoft.com/office/officeart/2005/8/layout/lProcess2"/>
    <dgm:cxn modelId="{33F9EB61-3A7F-4569-A238-FFE9BED29770}" type="presOf" srcId="{198E8DAE-568E-449B-83A1-B512CB72C568}" destId="{7B8659BD-1312-490E-8C93-6B9936798E85}" srcOrd="0" destOrd="0" presId="urn:microsoft.com/office/officeart/2005/8/layout/lProcess2"/>
    <dgm:cxn modelId="{D47A5313-7B5E-45C9-B25F-409D672184B1}" srcId="{A66DD62A-FD71-4537-8A9C-CB83CFEC2901}" destId="{FF23C117-3399-4C2F-80E3-DE876298DF4E}" srcOrd="3" destOrd="0" parTransId="{BBB324B8-9125-4AC8-A872-E5C960C29381}" sibTransId="{D6898D3B-1C93-4CCA-938D-59824359DCED}"/>
    <dgm:cxn modelId="{C3FB486F-8081-47B7-B730-26EC63FF99C7}" type="presOf" srcId="{4FC6A791-5A75-4144-8B83-F21BD50A274F}" destId="{CF004109-40C2-4418-98D0-7CEC1E06159E}" srcOrd="0" destOrd="0" presId="urn:microsoft.com/office/officeart/2005/8/layout/lProcess2"/>
    <dgm:cxn modelId="{2BA65BA5-A1FE-4116-9FE6-88F1AFFBFB6F}" type="presOf" srcId="{A66DD62A-FD71-4537-8A9C-CB83CFEC2901}" destId="{9EF2DFD0-CEED-4311-9888-56664054F016}" srcOrd="1" destOrd="0" presId="urn:microsoft.com/office/officeart/2005/8/layout/lProcess2"/>
    <dgm:cxn modelId="{95BC4D14-09BD-4C61-AFB3-8406056C68FA}" srcId="{4FC6A791-5A75-4144-8B83-F21BD50A274F}" destId="{A66DD62A-FD71-4537-8A9C-CB83CFEC2901}" srcOrd="1" destOrd="0" parTransId="{4FF7D02D-9514-4BAE-9800-330B88368390}" sibTransId="{06845BE8-F350-427F-B79D-EF6A8471E83A}"/>
    <dgm:cxn modelId="{8EB25CF5-7E14-47A4-8EC7-55924787656E}" type="presOf" srcId="{692D8683-F555-45FE-8979-1A83CD9D3E6C}" destId="{CA5F9AC7-2332-46D0-A5AE-57C4A48BD1D9}" srcOrd="0" destOrd="0" presId="urn:microsoft.com/office/officeart/2005/8/layout/lProcess2"/>
    <dgm:cxn modelId="{39D1CF45-B0BE-4CC0-9B92-BBCA43D3018F}" srcId="{A7D19864-F478-4BEE-BCCC-85FF726EFD77}" destId="{761AE283-8DC7-4E6A-A3D5-F2448DEAE060}" srcOrd="3" destOrd="0" parTransId="{45D5C544-2AB0-48A6-96E7-C419830247D9}" sibTransId="{AF5A97EF-2524-463E-B065-F5E7AB5CD670}"/>
    <dgm:cxn modelId="{C37D0AF8-DB5F-4200-BF23-818823BD97C8}" srcId="{D13C3FA9-A193-4D09-85D4-797588C4FCD7}" destId="{065210C5-3F68-4C21-A06B-2047228DEA1E}" srcOrd="6" destOrd="0" parTransId="{4C57E596-6BE1-4405-9961-1C5757F32023}" sibTransId="{A1294C6F-A83F-40C8-8CC3-A7637A36128D}"/>
    <dgm:cxn modelId="{239F229A-10F6-4833-9413-9749DD66F316}" srcId="{A66DD62A-FD71-4537-8A9C-CB83CFEC2901}" destId="{5FA02BA7-8C08-41DC-BA8A-BED324DC1433}" srcOrd="2" destOrd="0" parTransId="{0A0070EF-EEC1-4139-A04F-6383EB367AEB}" sibTransId="{31C82C4F-2CBD-43B2-8046-32FCE68CADA2}"/>
    <dgm:cxn modelId="{F0FCB384-1EEC-4E5B-A205-80B7E8B4B283}" srcId="{D13C3FA9-A193-4D09-85D4-797588C4FCD7}" destId="{4CFC3303-AE75-4C69-8E16-7B5F4535D3BE}" srcOrd="7" destOrd="0" parTransId="{80F08B0D-2D4C-447B-B3AB-3F4C6A02A0B6}" sibTransId="{F72EE196-DC2D-4AE9-8319-B02B60D1B7D4}"/>
    <dgm:cxn modelId="{9DEDE572-1917-488D-AF2C-4A8342839377}" type="presOf" srcId="{B1AE10F0-FA19-48D7-BAF1-614F75FB44AD}" destId="{6188D18F-2CCD-483E-A6F9-EC9723BEA5C9}" srcOrd="0" destOrd="0" presId="urn:microsoft.com/office/officeart/2005/8/layout/lProcess2"/>
    <dgm:cxn modelId="{EA979CF5-9747-4301-BA2B-2C569517DADC}" type="presOf" srcId="{4E6AEAB5-5409-46C3-9ABF-EEFC6E18EB72}" destId="{8D16C53E-E98B-4E7E-A835-83397C3A49BD}" srcOrd="0" destOrd="0" presId="urn:microsoft.com/office/officeart/2005/8/layout/lProcess2"/>
    <dgm:cxn modelId="{0BC4287D-3A90-41CE-9450-7049C9E567CC}" srcId="{A7D19864-F478-4BEE-BCCC-85FF726EFD77}" destId="{692D8683-F555-45FE-8979-1A83CD9D3E6C}" srcOrd="2" destOrd="0" parTransId="{09D6AA3C-F7B1-4F63-BEB6-D1DA4C87A9ED}" sibTransId="{AAA34147-1F79-43BD-A8FC-E1129FB0A6A3}"/>
    <dgm:cxn modelId="{11925D2C-5A4B-408E-87C5-70B291A6AE62}" srcId="{A7D19864-F478-4BEE-BCCC-85FF726EFD77}" destId="{2CF2AEC0-1C67-496C-A937-881227713383}" srcOrd="0" destOrd="0" parTransId="{A08214E0-0516-4888-88BA-AD0AD1031E00}" sibTransId="{D0ED6B3D-63AE-4E16-A28A-776E77E19779}"/>
    <dgm:cxn modelId="{2CCFDCF6-3EB8-4230-BB63-C69F5EFB3F49}" type="presOf" srcId="{2CF2AEC0-1C67-496C-A937-881227713383}" destId="{9FF2914D-763F-4E57-AFE1-8DC00FD16495}" srcOrd="0" destOrd="0" presId="urn:microsoft.com/office/officeart/2005/8/layout/lProcess2"/>
    <dgm:cxn modelId="{47FD0F9A-2F73-4EE4-8627-F5B63E724613}" type="presOf" srcId="{4588C490-D31A-4412-93D3-A3793DB30279}" destId="{BBCAFF97-4869-4C3A-9F38-4F10CC03F67A}" srcOrd="0" destOrd="0" presId="urn:microsoft.com/office/officeart/2005/8/layout/lProcess2"/>
    <dgm:cxn modelId="{5EBCBFE9-46B7-4E4A-A6BE-11799DDD0CC6}" type="presOf" srcId="{4CFC3303-AE75-4C69-8E16-7B5F4535D3BE}" destId="{DFDFEF96-66CC-448F-9ABF-B2A8B9F8BFD1}" srcOrd="0" destOrd="0" presId="urn:microsoft.com/office/officeart/2005/8/layout/lProcess2"/>
    <dgm:cxn modelId="{8EE81704-D761-4E3E-907B-EC23F110573E}" type="presOf" srcId="{F64B8A84-B536-48C0-9E22-1E8EE1714B5B}" destId="{5EBBE8ED-D47E-47BB-A339-6F72A97E954A}" srcOrd="0" destOrd="0" presId="urn:microsoft.com/office/officeart/2005/8/layout/lProcess2"/>
    <dgm:cxn modelId="{FFA71F1B-617C-4CCD-85BA-28DAD6C815DD}" type="presOf" srcId="{A7D19864-F478-4BEE-BCCC-85FF726EFD77}" destId="{7DEA7F80-5A2C-4698-AFA3-4AFCA11E93FB}" srcOrd="1" destOrd="0" presId="urn:microsoft.com/office/officeart/2005/8/layout/lProcess2"/>
    <dgm:cxn modelId="{85449CBC-F9A4-4FF6-8D48-AB36FE98BD6F}" srcId="{4FC6A791-5A75-4144-8B83-F21BD50A274F}" destId="{D13C3FA9-A193-4D09-85D4-797588C4FCD7}" srcOrd="0" destOrd="0" parTransId="{C2CB0438-B2EC-47A6-9926-671C95F5EFCB}" sibTransId="{6791AA70-BABD-486F-8A73-B4FB66D2A77C}"/>
    <dgm:cxn modelId="{54FF91F2-04E9-44E8-A347-4C263FE58DDD}" type="presOf" srcId="{D13C3FA9-A193-4D09-85D4-797588C4FCD7}" destId="{1CA663C6-BC9B-4FF5-9839-6CE88CB820AC}" srcOrd="1" destOrd="0" presId="urn:microsoft.com/office/officeart/2005/8/layout/lProcess2"/>
    <dgm:cxn modelId="{EBD550CE-57C1-4063-A796-D2CAE2CC0C31}" srcId="{A66DD62A-FD71-4537-8A9C-CB83CFEC2901}" destId="{F64B8A84-B536-48C0-9E22-1E8EE1714B5B}" srcOrd="0" destOrd="0" parTransId="{FDC4ED67-BD04-47DE-A4F1-C223DD5F3C29}" sibTransId="{D433597E-68F0-45C1-8890-0E1A4E0CDA9D}"/>
    <dgm:cxn modelId="{CAF20B83-7AB3-482E-B38F-29D2F1367C66}" srcId="{A66DD62A-FD71-4537-8A9C-CB83CFEC2901}" destId="{06F25BED-F21B-47AB-8E27-4C0BE1A5A296}" srcOrd="1" destOrd="0" parTransId="{67C316C8-9B73-44F9-BDB4-61AB1E900095}" sibTransId="{020A2623-A32F-41D1-8C62-F38F63A9AA95}"/>
    <dgm:cxn modelId="{86029D0F-E1E1-4722-AF3C-5DF92AC45A8F}" type="presOf" srcId="{A7D19864-F478-4BEE-BCCC-85FF726EFD77}" destId="{07A0974B-4A4F-40B5-99C3-D9AE4B803FA3}" srcOrd="0" destOrd="0" presId="urn:microsoft.com/office/officeart/2005/8/layout/lProcess2"/>
    <dgm:cxn modelId="{68F7C6A6-D39C-4F60-B7D3-8741D345D846}" srcId="{A66DD62A-FD71-4537-8A9C-CB83CFEC2901}" destId="{A1E6F075-9702-4A92-884F-E43E3C4C1C1F}" srcOrd="4" destOrd="0" parTransId="{85D715B8-8D7D-49D9-8D20-6A837724939B}" sibTransId="{E887E23E-CBEC-43EB-952B-A239586599C4}"/>
    <dgm:cxn modelId="{3772F8BD-B0B6-4E6D-BFE9-620FA38A9F7E}" srcId="{4FC6A791-5A75-4144-8B83-F21BD50A274F}" destId="{A7D19864-F478-4BEE-BCCC-85FF726EFD77}" srcOrd="2" destOrd="0" parTransId="{C961B536-4C3C-49C8-9DA6-A31B5B1976CD}" sibTransId="{EB729E2F-0617-4C3F-8681-6197B1E6AB3B}"/>
    <dgm:cxn modelId="{3385CA55-57A7-4431-9910-37E73AF20E4E}" srcId="{D13C3FA9-A193-4D09-85D4-797588C4FCD7}" destId="{4E6AEAB5-5409-46C3-9ABF-EEFC6E18EB72}" srcOrd="3" destOrd="0" parTransId="{22C22E14-D0AD-43BC-92C4-74197AE43199}" sibTransId="{99AB774F-F124-4544-95B5-1FFACEAABF64}"/>
    <dgm:cxn modelId="{D5100904-61D6-4BED-B132-91711D45CED4}" type="presOf" srcId="{A66DD62A-FD71-4537-8A9C-CB83CFEC2901}" destId="{B87203E0-B074-4BB7-9F6D-05A6ADA30F45}" srcOrd="0" destOrd="0" presId="urn:microsoft.com/office/officeart/2005/8/layout/lProcess2"/>
    <dgm:cxn modelId="{47B8C686-07F5-461E-96D2-47B619AFF54E}" type="presOf" srcId="{761AE283-8DC7-4E6A-A3D5-F2448DEAE060}" destId="{5E9C1A7C-4124-4BDD-9A63-D71FEE32ED8C}" srcOrd="0" destOrd="0" presId="urn:microsoft.com/office/officeart/2005/8/layout/lProcess2"/>
    <dgm:cxn modelId="{17FA2281-A242-479A-8F23-344670D2B150}" srcId="{D13C3FA9-A193-4D09-85D4-797588C4FCD7}" destId="{B1AE10F0-FA19-48D7-BAF1-614F75FB44AD}" srcOrd="2" destOrd="0" parTransId="{588CF655-6B34-457A-ABC7-8B229559EC28}" sibTransId="{3D8ACF5F-31A4-40CF-8987-DDD5EAC1DDB9}"/>
    <dgm:cxn modelId="{52FB97DE-E4B1-4E3D-A1CB-E38E3D7A367E}" type="presOf" srcId="{A1E6F075-9702-4A92-884F-E43E3C4C1C1F}" destId="{34C241D6-D469-434D-82B3-4EA23B917185}" srcOrd="0" destOrd="0" presId="urn:microsoft.com/office/officeart/2005/8/layout/lProcess2"/>
    <dgm:cxn modelId="{C4E904D8-F75C-4921-9C10-CAB36856F1A8}" srcId="{A7D19864-F478-4BEE-BCCC-85FF726EFD77}" destId="{58A411CD-880E-4D1A-89D5-BD00687F5038}" srcOrd="1" destOrd="0" parTransId="{31B92818-2A26-4437-BE0E-1BBB02B8286E}" sibTransId="{150FD26A-72FF-4B63-B0B1-B4FF5BE32037}"/>
    <dgm:cxn modelId="{39D29DFD-773E-470D-8081-44A53A9C963A}" type="presOf" srcId="{58A411CD-880E-4D1A-89D5-BD00687F5038}" destId="{7C1B8114-232F-4F23-9612-7E3B87CA6135}" srcOrd="0" destOrd="0" presId="urn:microsoft.com/office/officeart/2005/8/layout/lProcess2"/>
    <dgm:cxn modelId="{8930A500-D8E5-441C-8871-E38B006510AE}" srcId="{D13C3FA9-A193-4D09-85D4-797588C4FCD7}" destId="{198E8DAE-568E-449B-83A1-B512CB72C568}" srcOrd="1" destOrd="0" parTransId="{C2A4810B-B017-4787-8944-5D354CE63A14}" sibTransId="{151C7C65-86CB-4676-B18F-B693E5A9FB6A}"/>
    <dgm:cxn modelId="{26A02945-E40C-4584-AA4A-DDBF6C18004E}" srcId="{D13C3FA9-A193-4D09-85D4-797588C4FCD7}" destId="{9038A635-C5F0-4F3D-9FE1-FF6D16E20431}" srcOrd="0" destOrd="0" parTransId="{3CF72DD1-F39F-4F53-8E8E-DB2C5789E9AF}" sibTransId="{55E4AC04-B3E4-4DDF-87CD-BB88D769E5C1}"/>
    <dgm:cxn modelId="{6E0D9EB4-C3E8-48BA-9667-91B2185D0873}" type="presParOf" srcId="{CF004109-40C2-4418-98D0-7CEC1E06159E}" destId="{BDC4AD5F-3BA4-4E53-BD21-C83632578CC1}" srcOrd="0" destOrd="0" presId="urn:microsoft.com/office/officeart/2005/8/layout/lProcess2"/>
    <dgm:cxn modelId="{7FC036D6-814F-46FD-8C17-5ADFAC012CF0}" type="presParOf" srcId="{BDC4AD5F-3BA4-4E53-BD21-C83632578CC1}" destId="{861422ED-2B9C-4C84-B551-1FB09B514240}" srcOrd="0" destOrd="0" presId="urn:microsoft.com/office/officeart/2005/8/layout/lProcess2"/>
    <dgm:cxn modelId="{88DC0743-790D-4B3F-BC3A-459FDE9B5BA2}" type="presParOf" srcId="{BDC4AD5F-3BA4-4E53-BD21-C83632578CC1}" destId="{1CA663C6-BC9B-4FF5-9839-6CE88CB820AC}" srcOrd="1" destOrd="0" presId="urn:microsoft.com/office/officeart/2005/8/layout/lProcess2"/>
    <dgm:cxn modelId="{27E537DA-9C3B-4324-98B2-9E15B933D404}" type="presParOf" srcId="{BDC4AD5F-3BA4-4E53-BD21-C83632578CC1}" destId="{0544A7BC-A4F2-451B-AEF7-DBCD21CFB49B}" srcOrd="2" destOrd="0" presId="urn:microsoft.com/office/officeart/2005/8/layout/lProcess2"/>
    <dgm:cxn modelId="{B2845A8B-2AA9-4E60-A342-CDBB8C3F7DC1}" type="presParOf" srcId="{0544A7BC-A4F2-451B-AEF7-DBCD21CFB49B}" destId="{56DF333A-08E0-4629-AFC2-931C10F9385F}" srcOrd="0" destOrd="0" presId="urn:microsoft.com/office/officeart/2005/8/layout/lProcess2"/>
    <dgm:cxn modelId="{825C507B-FB24-4C00-9B0E-B3AC588241AB}" type="presParOf" srcId="{56DF333A-08E0-4629-AFC2-931C10F9385F}" destId="{7A4BF01E-2A97-48CE-A8D6-5B3109FE778B}" srcOrd="0" destOrd="0" presId="urn:microsoft.com/office/officeart/2005/8/layout/lProcess2"/>
    <dgm:cxn modelId="{7FE114AB-67FA-4521-B090-EF3B93F75358}" type="presParOf" srcId="{56DF333A-08E0-4629-AFC2-931C10F9385F}" destId="{768A7015-6B5E-4A60-8DB2-EDADC35EC863}" srcOrd="1" destOrd="0" presId="urn:microsoft.com/office/officeart/2005/8/layout/lProcess2"/>
    <dgm:cxn modelId="{65D06C31-DF8D-4028-B296-826CF53DDAE5}" type="presParOf" srcId="{56DF333A-08E0-4629-AFC2-931C10F9385F}" destId="{7B8659BD-1312-490E-8C93-6B9936798E85}" srcOrd="2" destOrd="0" presId="urn:microsoft.com/office/officeart/2005/8/layout/lProcess2"/>
    <dgm:cxn modelId="{F6774C61-BA6D-4053-A93F-7F2F39EA6D2A}" type="presParOf" srcId="{56DF333A-08E0-4629-AFC2-931C10F9385F}" destId="{9D172584-8A4D-4D52-B3C7-287C53FDC483}" srcOrd="3" destOrd="0" presId="urn:microsoft.com/office/officeart/2005/8/layout/lProcess2"/>
    <dgm:cxn modelId="{6AFD65C9-3770-4F3E-BDFF-8CC2FB995A32}" type="presParOf" srcId="{56DF333A-08E0-4629-AFC2-931C10F9385F}" destId="{6188D18F-2CCD-483E-A6F9-EC9723BEA5C9}" srcOrd="4" destOrd="0" presId="urn:microsoft.com/office/officeart/2005/8/layout/lProcess2"/>
    <dgm:cxn modelId="{13DDB87B-71B8-4370-AFEC-3402E7C67935}" type="presParOf" srcId="{56DF333A-08E0-4629-AFC2-931C10F9385F}" destId="{13F09E01-8937-4E7A-BDF6-FB9F65873864}" srcOrd="5" destOrd="0" presId="urn:microsoft.com/office/officeart/2005/8/layout/lProcess2"/>
    <dgm:cxn modelId="{06708E5C-6C89-4482-AAF2-201E632971FC}" type="presParOf" srcId="{56DF333A-08E0-4629-AFC2-931C10F9385F}" destId="{8D16C53E-E98B-4E7E-A835-83397C3A49BD}" srcOrd="6" destOrd="0" presId="urn:microsoft.com/office/officeart/2005/8/layout/lProcess2"/>
    <dgm:cxn modelId="{80C3D16F-1A95-4ED0-A602-5E0D0C9C6EE4}" type="presParOf" srcId="{56DF333A-08E0-4629-AFC2-931C10F9385F}" destId="{425E2AD4-3AAD-439D-8ED3-5B03754FD739}" srcOrd="7" destOrd="0" presId="urn:microsoft.com/office/officeart/2005/8/layout/lProcess2"/>
    <dgm:cxn modelId="{2F1B883D-5CDD-4DF8-85A2-6FA600276CD3}" type="presParOf" srcId="{56DF333A-08E0-4629-AFC2-931C10F9385F}" destId="{2716763F-7C8E-4A9A-B4D6-B85C6E411784}" srcOrd="8" destOrd="0" presId="urn:microsoft.com/office/officeart/2005/8/layout/lProcess2"/>
    <dgm:cxn modelId="{CE3E7F88-4A13-48D1-A11C-BF3F539D0A13}" type="presParOf" srcId="{56DF333A-08E0-4629-AFC2-931C10F9385F}" destId="{53BFB495-553A-4D53-82DB-173164F2344F}" srcOrd="9" destOrd="0" presId="urn:microsoft.com/office/officeart/2005/8/layout/lProcess2"/>
    <dgm:cxn modelId="{2617704E-52ED-446D-8100-8865F0DB8172}" type="presParOf" srcId="{56DF333A-08E0-4629-AFC2-931C10F9385F}" destId="{BBCAFF97-4869-4C3A-9F38-4F10CC03F67A}" srcOrd="10" destOrd="0" presId="urn:microsoft.com/office/officeart/2005/8/layout/lProcess2"/>
    <dgm:cxn modelId="{755C330A-450D-481C-B51D-481432F82EF4}" type="presParOf" srcId="{56DF333A-08E0-4629-AFC2-931C10F9385F}" destId="{581B8BA5-5680-4DFA-B042-099AF45FEB1A}" srcOrd="11" destOrd="0" presId="urn:microsoft.com/office/officeart/2005/8/layout/lProcess2"/>
    <dgm:cxn modelId="{0A15097A-5FB3-4CF9-8158-1618C62F3C99}" type="presParOf" srcId="{56DF333A-08E0-4629-AFC2-931C10F9385F}" destId="{BA2F4A1F-5C4A-410C-8EB6-DFE195296DD7}" srcOrd="12" destOrd="0" presId="urn:microsoft.com/office/officeart/2005/8/layout/lProcess2"/>
    <dgm:cxn modelId="{B7E3DAB8-ABCB-46CF-B1D9-3013CC29CFE2}" type="presParOf" srcId="{56DF333A-08E0-4629-AFC2-931C10F9385F}" destId="{3390654C-D043-4560-9D61-2D6FF7D5FB49}" srcOrd="13" destOrd="0" presId="urn:microsoft.com/office/officeart/2005/8/layout/lProcess2"/>
    <dgm:cxn modelId="{A1CE0FAF-053C-43B6-A37B-BE1A45A2668F}" type="presParOf" srcId="{56DF333A-08E0-4629-AFC2-931C10F9385F}" destId="{DFDFEF96-66CC-448F-9ABF-B2A8B9F8BFD1}" srcOrd="14" destOrd="0" presId="urn:microsoft.com/office/officeart/2005/8/layout/lProcess2"/>
    <dgm:cxn modelId="{85CB556C-B750-4370-883B-5F6B043D3D89}" type="presParOf" srcId="{CF004109-40C2-4418-98D0-7CEC1E06159E}" destId="{109CDACC-FC54-4145-A2FB-2C2D0129B705}" srcOrd="1" destOrd="0" presId="urn:microsoft.com/office/officeart/2005/8/layout/lProcess2"/>
    <dgm:cxn modelId="{E705707B-46BF-4E66-8DF1-C41249F8A006}" type="presParOf" srcId="{CF004109-40C2-4418-98D0-7CEC1E06159E}" destId="{79F181E1-8A41-4887-9AEA-DF0AAD0F79A6}" srcOrd="2" destOrd="0" presId="urn:microsoft.com/office/officeart/2005/8/layout/lProcess2"/>
    <dgm:cxn modelId="{104143B1-1A7E-465F-848D-6BE409C86C53}" type="presParOf" srcId="{79F181E1-8A41-4887-9AEA-DF0AAD0F79A6}" destId="{B87203E0-B074-4BB7-9F6D-05A6ADA30F45}" srcOrd="0" destOrd="0" presId="urn:microsoft.com/office/officeart/2005/8/layout/lProcess2"/>
    <dgm:cxn modelId="{F4629B5A-778F-418B-B903-6905C8E0C9C6}" type="presParOf" srcId="{79F181E1-8A41-4887-9AEA-DF0AAD0F79A6}" destId="{9EF2DFD0-CEED-4311-9888-56664054F016}" srcOrd="1" destOrd="0" presId="urn:microsoft.com/office/officeart/2005/8/layout/lProcess2"/>
    <dgm:cxn modelId="{4537E731-FDEA-4733-9BF4-BEFA96030350}" type="presParOf" srcId="{79F181E1-8A41-4887-9AEA-DF0AAD0F79A6}" destId="{3B41DB2F-3C62-4C9F-A5BA-8DD93B4C8B93}" srcOrd="2" destOrd="0" presId="urn:microsoft.com/office/officeart/2005/8/layout/lProcess2"/>
    <dgm:cxn modelId="{14A38B29-F050-426A-9F52-6B5AFA59A7F4}" type="presParOf" srcId="{3B41DB2F-3C62-4C9F-A5BA-8DD93B4C8B93}" destId="{8ACADF64-F812-4F96-810B-0F6BD57F11E4}" srcOrd="0" destOrd="0" presId="urn:microsoft.com/office/officeart/2005/8/layout/lProcess2"/>
    <dgm:cxn modelId="{CC6EDB1F-A79F-4D05-AA71-3E6FD6E2E37B}" type="presParOf" srcId="{8ACADF64-F812-4F96-810B-0F6BD57F11E4}" destId="{5EBBE8ED-D47E-47BB-A339-6F72A97E954A}" srcOrd="0" destOrd="0" presId="urn:microsoft.com/office/officeart/2005/8/layout/lProcess2"/>
    <dgm:cxn modelId="{B2533016-5747-4105-B522-7BC64374A1C6}" type="presParOf" srcId="{8ACADF64-F812-4F96-810B-0F6BD57F11E4}" destId="{B5E8F975-231B-4BD8-B5CA-58F40A0BDA67}" srcOrd="1" destOrd="0" presId="urn:microsoft.com/office/officeart/2005/8/layout/lProcess2"/>
    <dgm:cxn modelId="{DE0092B7-14D5-488B-9A66-4B17060D8858}" type="presParOf" srcId="{8ACADF64-F812-4F96-810B-0F6BD57F11E4}" destId="{4EE9CD01-3C24-4EF4-A21B-FB8D3EFFBAC0}" srcOrd="2" destOrd="0" presId="urn:microsoft.com/office/officeart/2005/8/layout/lProcess2"/>
    <dgm:cxn modelId="{85109C63-96D1-49CA-992D-4141A782EA77}" type="presParOf" srcId="{8ACADF64-F812-4F96-810B-0F6BD57F11E4}" destId="{DF3DE949-5520-4D3C-9B83-828D099CE8E6}" srcOrd="3" destOrd="0" presId="urn:microsoft.com/office/officeart/2005/8/layout/lProcess2"/>
    <dgm:cxn modelId="{9207D5F1-87BE-4601-8403-E2F4EDD38F86}" type="presParOf" srcId="{8ACADF64-F812-4F96-810B-0F6BD57F11E4}" destId="{FA191985-E31B-49EB-96A6-4B6535713D8B}" srcOrd="4" destOrd="0" presId="urn:microsoft.com/office/officeart/2005/8/layout/lProcess2"/>
    <dgm:cxn modelId="{E4E79ADA-BC22-4000-9396-E9F3EA8CE05D}" type="presParOf" srcId="{8ACADF64-F812-4F96-810B-0F6BD57F11E4}" destId="{6DD026C9-6217-474F-B5CA-7899183CB9C8}" srcOrd="5" destOrd="0" presId="urn:microsoft.com/office/officeart/2005/8/layout/lProcess2"/>
    <dgm:cxn modelId="{8FDCA081-8F2F-4CF8-BD0E-D6A5ADFFD6C2}" type="presParOf" srcId="{8ACADF64-F812-4F96-810B-0F6BD57F11E4}" destId="{FC6A178C-3652-4826-B502-AED6BD15B0C4}" srcOrd="6" destOrd="0" presId="urn:microsoft.com/office/officeart/2005/8/layout/lProcess2"/>
    <dgm:cxn modelId="{CF2EF3E0-463C-456A-B0D9-F7D2665F081F}" type="presParOf" srcId="{8ACADF64-F812-4F96-810B-0F6BD57F11E4}" destId="{E0C87E3F-43CC-46E6-8C8E-21AA7442F13A}" srcOrd="7" destOrd="0" presId="urn:microsoft.com/office/officeart/2005/8/layout/lProcess2"/>
    <dgm:cxn modelId="{BDFF4362-1D70-4453-B084-4384CD6C9043}" type="presParOf" srcId="{8ACADF64-F812-4F96-810B-0F6BD57F11E4}" destId="{34C241D6-D469-434D-82B3-4EA23B917185}" srcOrd="8" destOrd="0" presId="urn:microsoft.com/office/officeart/2005/8/layout/lProcess2"/>
    <dgm:cxn modelId="{275F796F-62A7-4868-8941-10C2E38896D5}" type="presParOf" srcId="{CF004109-40C2-4418-98D0-7CEC1E06159E}" destId="{2745E078-E2E4-42C7-95E5-259CB37AB09A}" srcOrd="3" destOrd="0" presId="urn:microsoft.com/office/officeart/2005/8/layout/lProcess2"/>
    <dgm:cxn modelId="{31695E2E-9133-4B56-A36F-E8E5E64DCDD3}" type="presParOf" srcId="{CF004109-40C2-4418-98D0-7CEC1E06159E}" destId="{184B5B13-C659-4FD9-97A7-E599BB43036B}" srcOrd="4" destOrd="0" presId="urn:microsoft.com/office/officeart/2005/8/layout/lProcess2"/>
    <dgm:cxn modelId="{B2B8BC28-6EC5-45DA-AD20-11F6A05AA361}" type="presParOf" srcId="{184B5B13-C659-4FD9-97A7-E599BB43036B}" destId="{07A0974B-4A4F-40B5-99C3-D9AE4B803FA3}" srcOrd="0" destOrd="0" presId="urn:microsoft.com/office/officeart/2005/8/layout/lProcess2"/>
    <dgm:cxn modelId="{AD8C6338-1F87-4E46-B278-058413AF5F37}" type="presParOf" srcId="{184B5B13-C659-4FD9-97A7-E599BB43036B}" destId="{7DEA7F80-5A2C-4698-AFA3-4AFCA11E93FB}" srcOrd="1" destOrd="0" presId="urn:microsoft.com/office/officeart/2005/8/layout/lProcess2"/>
    <dgm:cxn modelId="{686C5C46-859D-4B12-A57A-BF51A1845C88}" type="presParOf" srcId="{184B5B13-C659-4FD9-97A7-E599BB43036B}" destId="{5C93673A-56F1-45CA-BFB2-D1E70FEB1D9A}" srcOrd="2" destOrd="0" presId="urn:microsoft.com/office/officeart/2005/8/layout/lProcess2"/>
    <dgm:cxn modelId="{2C1003EA-8EEB-4777-9C18-1E8EDFCCF544}" type="presParOf" srcId="{5C93673A-56F1-45CA-BFB2-D1E70FEB1D9A}" destId="{F085C8D5-007F-48A7-A0A6-EA913CFD25FD}" srcOrd="0" destOrd="0" presId="urn:microsoft.com/office/officeart/2005/8/layout/lProcess2"/>
    <dgm:cxn modelId="{B43D0E1B-87D9-441F-9807-BBC285A14CC5}" type="presParOf" srcId="{F085C8D5-007F-48A7-A0A6-EA913CFD25FD}" destId="{9FF2914D-763F-4E57-AFE1-8DC00FD16495}" srcOrd="0" destOrd="0" presId="urn:microsoft.com/office/officeart/2005/8/layout/lProcess2"/>
    <dgm:cxn modelId="{70E0B53A-FAD8-4084-9BF3-556DC13033EF}" type="presParOf" srcId="{F085C8D5-007F-48A7-A0A6-EA913CFD25FD}" destId="{F7DB841B-2980-4F61-B1D9-616E03F29B31}" srcOrd="1" destOrd="0" presId="urn:microsoft.com/office/officeart/2005/8/layout/lProcess2"/>
    <dgm:cxn modelId="{CF71A9FE-C1AD-4DFE-9D2D-F7D91C60B706}" type="presParOf" srcId="{F085C8D5-007F-48A7-A0A6-EA913CFD25FD}" destId="{7C1B8114-232F-4F23-9612-7E3B87CA6135}" srcOrd="2" destOrd="0" presId="urn:microsoft.com/office/officeart/2005/8/layout/lProcess2"/>
    <dgm:cxn modelId="{8D7DB97C-5088-44DC-920F-36AB7D935895}" type="presParOf" srcId="{F085C8D5-007F-48A7-A0A6-EA913CFD25FD}" destId="{D9BE823F-52F2-4A15-BAAB-1B50EA34414E}" srcOrd="3" destOrd="0" presId="urn:microsoft.com/office/officeart/2005/8/layout/lProcess2"/>
    <dgm:cxn modelId="{7AC8802E-809E-4AD5-AA4D-F7BDB3E39784}" type="presParOf" srcId="{F085C8D5-007F-48A7-A0A6-EA913CFD25FD}" destId="{CA5F9AC7-2332-46D0-A5AE-57C4A48BD1D9}" srcOrd="4" destOrd="0" presId="urn:microsoft.com/office/officeart/2005/8/layout/lProcess2"/>
    <dgm:cxn modelId="{B22194DF-B3B5-4417-8EF4-B62C9A05129E}" type="presParOf" srcId="{F085C8D5-007F-48A7-A0A6-EA913CFD25FD}" destId="{076B0520-510D-484A-B733-D6F357B4E94C}" srcOrd="5" destOrd="0" presId="urn:microsoft.com/office/officeart/2005/8/layout/lProcess2"/>
    <dgm:cxn modelId="{134BC8DE-CBCC-4466-BD29-D7141B860D9C}" type="presParOf" srcId="{F085C8D5-007F-48A7-A0A6-EA913CFD25FD}" destId="{5E9C1A7C-4124-4BDD-9A63-D71FEE32ED8C}"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380A3-954D-4ABC-A96E-D1E9443375D9}">
      <dsp:nvSpPr>
        <dsp:cNvPr id="0" name=""/>
        <dsp:cNvSpPr/>
      </dsp:nvSpPr>
      <dsp:spPr>
        <a:xfrm>
          <a:off x="0" y="102298"/>
          <a:ext cx="7104549" cy="935415"/>
        </a:xfrm>
        <a:prstGeom prst="round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lvl="0" algn="l" defTabSz="1733550">
            <a:lnSpc>
              <a:spcPct val="90000"/>
            </a:lnSpc>
            <a:spcBef>
              <a:spcPct val="0"/>
            </a:spcBef>
            <a:spcAft>
              <a:spcPct val="35000"/>
            </a:spcAft>
          </a:pPr>
          <a:r>
            <a:rPr lang="en-GB" sz="3900" kern="1200" dirty="0"/>
            <a:t>Cost of fixed assets</a:t>
          </a:r>
          <a:endParaRPr lang="en-US" sz="3900" kern="1200" dirty="0"/>
        </a:p>
      </dsp:txBody>
      <dsp:txXfrm>
        <a:off x="45663" y="147961"/>
        <a:ext cx="7013223" cy="844089"/>
      </dsp:txXfrm>
    </dsp:sp>
    <dsp:sp modelId="{889F9975-FF76-44FC-A36C-1EB9DD0A86B6}">
      <dsp:nvSpPr>
        <dsp:cNvPr id="0" name=""/>
        <dsp:cNvSpPr/>
      </dsp:nvSpPr>
      <dsp:spPr>
        <a:xfrm>
          <a:off x="0" y="1150033"/>
          <a:ext cx="7104549" cy="935415"/>
        </a:xfrm>
        <a:prstGeom prst="round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lvl="0" algn="l" defTabSz="1733550">
            <a:lnSpc>
              <a:spcPct val="90000"/>
            </a:lnSpc>
            <a:spcBef>
              <a:spcPct val="0"/>
            </a:spcBef>
            <a:spcAft>
              <a:spcPct val="35000"/>
            </a:spcAft>
          </a:pPr>
          <a:r>
            <a:rPr lang="en-GB" sz="3900" kern="1200" dirty="0"/>
            <a:t>Cost of current assets  </a:t>
          </a:r>
          <a:endParaRPr lang="en-US" sz="3900" kern="1200" dirty="0"/>
        </a:p>
      </dsp:txBody>
      <dsp:txXfrm>
        <a:off x="45663" y="1195696"/>
        <a:ext cx="7013223" cy="844089"/>
      </dsp:txXfrm>
    </dsp:sp>
    <dsp:sp modelId="{42A1B997-86DA-4635-8574-416E33B2A510}">
      <dsp:nvSpPr>
        <dsp:cNvPr id="0" name=""/>
        <dsp:cNvSpPr/>
      </dsp:nvSpPr>
      <dsp:spPr>
        <a:xfrm>
          <a:off x="0" y="2197768"/>
          <a:ext cx="7104549" cy="935415"/>
        </a:xfrm>
        <a:prstGeom prst="roundRect">
          <a:avLst/>
        </a:prstGeom>
        <a:solidFill>
          <a:schemeClr val="accent4">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lvl="0" algn="l" defTabSz="1733550" rtl="0">
            <a:lnSpc>
              <a:spcPct val="90000"/>
            </a:lnSpc>
            <a:spcBef>
              <a:spcPct val="0"/>
            </a:spcBef>
            <a:spcAft>
              <a:spcPct val="35000"/>
            </a:spcAft>
          </a:pPr>
          <a:r>
            <a:rPr lang="en-GB" sz="3900" kern="1200" dirty="0"/>
            <a:t>Cost of promotion</a:t>
          </a:r>
          <a:r>
            <a:rPr lang="en-GB" sz="3900" kern="1200" dirty="0">
              <a:latin typeface="Corbel" panose="020B0503020204020204"/>
            </a:rPr>
            <a:t> </a:t>
          </a:r>
          <a:endParaRPr lang="en-US" sz="3900" kern="1200" dirty="0">
            <a:latin typeface="Corbel" panose="020B0503020204020204"/>
          </a:endParaRPr>
        </a:p>
      </dsp:txBody>
      <dsp:txXfrm>
        <a:off x="45663" y="2243431"/>
        <a:ext cx="7013223" cy="844089"/>
      </dsp:txXfrm>
    </dsp:sp>
    <dsp:sp modelId="{29814D3F-CA19-4D64-A9DB-36A3FB2C0DCC}">
      <dsp:nvSpPr>
        <dsp:cNvPr id="0" name=""/>
        <dsp:cNvSpPr/>
      </dsp:nvSpPr>
      <dsp:spPr>
        <a:xfrm>
          <a:off x="0" y="3245503"/>
          <a:ext cx="7104549" cy="935415"/>
        </a:xfrm>
        <a:prstGeom prst="roundRect">
          <a:avLst/>
        </a:prstGeom>
        <a:solidFill>
          <a:schemeClr val="accent5">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lvl="0" algn="l" defTabSz="1733550">
            <a:lnSpc>
              <a:spcPct val="90000"/>
            </a:lnSpc>
            <a:spcBef>
              <a:spcPct val="0"/>
            </a:spcBef>
            <a:spcAft>
              <a:spcPct val="35000"/>
            </a:spcAft>
          </a:pPr>
          <a:r>
            <a:rPr lang="en-GB" sz="3900" kern="1200" dirty="0">
              <a:latin typeface="Corbel" panose="020B0503020204020204"/>
            </a:rPr>
            <a:t>Cost of establishing the business</a:t>
          </a:r>
          <a:endParaRPr lang="en-GB" sz="3900" kern="1200" dirty="0"/>
        </a:p>
      </dsp:txBody>
      <dsp:txXfrm>
        <a:off x="45663" y="3291166"/>
        <a:ext cx="7013223" cy="844089"/>
      </dsp:txXfrm>
    </dsp:sp>
    <dsp:sp modelId="{0B366AB5-A46D-438F-BB05-AAC99803136D}">
      <dsp:nvSpPr>
        <dsp:cNvPr id="0" name=""/>
        <dsp:cNvSpPr/>
      </dsp:nvSpPr>
      <dsp:spPr>
        <a:xfrm>
          <a:off x="0" y="4293238"/>
          <a:ext cx="7104549" cy="935415"/>
        </a:xfrm>
        <a:prstGeom prst="roundRect">
          <a:avLst/>
        </a:prstGeom>
        <a:solidFill>
          <a:schemeClr val="accent6">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lvl="0" algn="l" defTabSz="1733550">
            <a:lnSpc>
              <a:spcPct val="90000"/>
            </a:lnSpc>
            <a:spcBef>
              <a:spcPct val="0"/>
            </a:spcBef>
            <a:spcAft>
              <a:spcPct val="35000"/>
            </a:spcAft>
          </a:pPr>
          <a:r>
            <a:rPr lang="en-GB" sz="3900" kern="1200" dirty="0"/>
            <a:t>Cost of intangible </a:t>
          </a:r>
          <a:r>
            <a:rPr lang="en-GB" sz="3900" kern="1200" dirty="0">
              <a:latin typeface="Corbel" panose="020B0503020204020204"/>
            </a:rPr>
            <a:t>assets</a:t>
          </a:r>
          <a:r>
            <a:rPr lang="en-GB" sz="3900" kern="1200" dirty="0"/>
            <a:t> </a:t>
          </a:r>
          <a:endParaRPr lang="en-US" sz="3900" kern="1200" dirty="0"/>
        </a:p>
      </dsp:txBody>
      <dsp:txXfrm>
        <a:off x="45663" y="4338901"/>
        <a:ext cx="7013223" cy="8440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A73CA-224E-4C99-B718-37A0B28334DC}">
      <dsp:nvSpPr>
        <dsp:cNvPr id="0" name=""/>
        <dsp:cNvSpPr/>
      </dsp:nvSpPr>
      <dsp:spPr>
        <a:xfrm>
          <a:off x="1272" y="1568485"/>
          <a:ext cx="3375354" cy="2193980"/>
        </a:xfrm>
        <a:prstGeom prst="round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9550" tIns="209550" rIns="209550" bIns="209550" numCol="1" spcCol="1270" anchor="ctr" anchorCtr="0">
          <a:noAutofit/>
        </a:bodyPr>
        <a:lstStyle/>
        <a:p>
          <a:pPr lvl="0" algn="ctr" defTabSz="2444750">
            <a:lnSpc>
              <a:spcPct val="90000"/>
            </a:lnSpc>
            <a:spcBef>
              <a:spcPct val="0"/>
            </a:spcBef>
            <a:spcAft>
              <a:spcPct val="35000"/>
            </a:spcAft>
          </a:pPr>
          <a:r>
            <a:rPr lang="en-GB" sz="5500" kern="1200" dirty="0"/>
            <a:t>Fixed Capital</a:t>
          </a:r>
          <a:endParaRPr lang="en-US" sz="5500" kern="1200" dirty="0"/>
        </a:p>
      </dsp:txBody>
      <dsp:txXfrm>
        <a:off x="108373" y="1675586"/>
        <a:ext cx="3161152" cy="1979778"/>
      </dsp:txXfrm>
    </dsp:sp>
    <dsp:sp modelId="{8BD4373D-212D-4320-AD95-98FCA010286F}">
      <dsp:nvSpPr>
        <dsp:cNvPr id="0" name=""/>
        <dsp:cNvSpPr/>
      </dsp:nvSpPr>
      <dsp:spPr>
        <a:xfrm>
          <a:off x="1688949" y="802151"/>
          <a:ext cx="3726649" cy="3726649"/>
        </a:xfrm>
        <a:custGeom>
          <a:avLst/>
          <a:gdLst/>
          <a:ahLst/>
          <a:cxnLst/>
          <a:rect l="0" t="0" r="0" b="0"/>
          <a:pathLst>
            <a:path>
              <a:moveTo>
                <a:pt x="375070" y="742129"/>
              </a:moveTo>
              <a:arcTo wR="1863324" hR="1863324" stAng="13019582" swAng="6360837"/>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D3A624C-56B2-4C20-A881-D6068353E361}">
      <dsp:nvSpPr>
        <dsp:cNvPr id="0" name=""/>
        <dsp:cNvSpPr/>
      </dsp:nvSpPr>
      <dsp:spPr>
        <a:xfrm>
          <a:off x="3727922" y="1568485"/>
          <a:ext cx="3375354" cy="2193980"/>
        </a:xfrm>
        <a:prstGeom prst="round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9550" tIns="209550" rIns="209550" bIns="209550" numCol="1" spcCol="1270" anchor="ctr" anchorCtr="0">
          <a:noAutofit/>
        </a:bodyPr>
        <a:lstStyle/>
        <a:p>
          <a:pPr lvl="0" algn="ctr" defTabSz="2444750">
            <a:lnSpc>
              <a:spcPct val="90000"/>
            </a:lnSpc>
            <a:spcBef>
              <a:spcPct val="0"/>
            </a:spcBef>
            <a:spcAft>
              <a:spcPct val="35000"/>
            </a:spcAft>
          </a:pPr>
          <a:r>
            <a:rPr lang="en-GB" sz="5500" kern="1200" dirty="0"/>
            <a:t>Working Capital</a:t>
          </a:r>
          <a:endParaRPr lang="en-US" sz="5500" kern="1200" dirty="0"/>
        </a:p>
      </dsp:txBody>
      <dsp:txXfrm>
        <a:off x="3835023" y="1675586"/>
        <a:ext cx="3161152" cy="1979778"/>
      </dsp:txXfrm>
    </dsp:sp>
    <dsp:sp modelId="{461DBB25-3008-4969-A20F-B0CC443AE48F}">
      <dsp:nvSpPr>
        <dsp:cNvPr id="0" name=""/>
        <dsp:cNvSpPr/>
      </dsp:nvSpPr>
      <dsp:spPr>
        <a:xfrm>
          <a:off x="1688949" y="802151"/>
          <a:ext cx="3726649" cy="3726649"/>
        </a:xfrm>
        <a:custGeom>
          <a:avLst/>
          <a:gdLst/>
          <a:ahLst/>
          <a:cxnLst/>
          <a:rect l="0" t="0" r="0" b="0"/>
          <a:pathLst>
            <a:path>
              <a:moveTo>
                <a:pt x="3351578" y="2984520"/>
              </a:moveTo>
              <a:arcTo wR="1863324" hR="1863324" stAng="2219582" swAng="6360837"/>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AA03E-2E73-4E64-A565-D4537B951C06}">
      <dsp:nvSpPr>
        <dsp:cNvPr id="0" name=""/>
        <dsp:cNvSpPr/>
      </dsp:nvSpPr>
      <dsp:spPr>
        <a:xfrm>
          <a:off x="2158007" y="683"/>
          <a:ext cx="3500437" cy="1750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63500" rIns="95250" bIns="63500" numCol="1" spcCol="1270" anchor="ctr" anchorCtr="0">
          <a:noAutofit/>
        </a:bodyPr>
        <a:lstStyle/>
        <a:p>
          <a:pPr lvl="0" algn="ctr" defTabSz="2222500">
            <a:lnSpc>
              <a:spcPct val="90000"/>
            </a:lnSpc>
            <a:spcBef>
              <a:spcPct val="0"/>
            </a:spcBef>
            <a:spcAft>
              <a:spcPct val="35000"/>
            </a:spcAft>
          </a:pPr>
          <a:r>
            <a:rPr lang="en-US" sz="5000" kern="1200" dirty="0"/>
            <a:t>On the Basis of Concept</a:t>
          </a:r>
          <a:endParaRPr lang="en-IN" sz="5000" kern="1200" dirty="0"/>
        </a:p>
      </dsp:txBody>
      <dsp:txXfrm>
        <a:off x="2209269" y="51945"/>
        <a:ext cx="3397913" cy="1647694"/>
      </dsp:txXfrm>
    </dsp:sp>
    <dsp:sp modelId="{9F8F4482-CB9A-4261-8227-542649E3B01B}">
      <dsp:nvSpPr>
        <dsp:cNvPr id="0" name=""/>
        <dsp:cNvSpPr/>
      </dsp:nvSpPr>
      <dsp:spPr>
        <a:xfrm>
          <a:off x="2508051" y="1750901"/>
          <a:ext cx="350043" cy="1312664"/>
        </a:xfrm>
        <a:custGeom>
          <a:avLst/>
          <a:gdLst/>
          <a:ahLst/>
          <a:cxnLst/>
          <a:rect l="0" t="0" r="0" b="0"/>
          <a:pathLst>
            <a:path>
              <a:moveTo>
                <a:pt x="0" y="0"/>
              </a:moveTo>
              <a:lnTo>
                <a:pt x="0" y="1312664"/>
              </a:lnTo>
              <a:lnTo>
                <a:pt x="350043" y="13126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6AE3C2-BD4C-4F09-A070-36C3A4EC4B69}">
      <dsp:nvSpPr>
        <dsp:cNvPr id="0" name=""/>
        <dsp:cNvSpPr/>
      </dsp:nvSpPr>
      <dsp:spPr>
        <a:xfrm>
          <a:off x="2858095" y="2188456"/>
          <a:ext cx="2800349" cy="1750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lvl="0" algn="ctr" defTabSz="1289050">
            <a:lnSpc>
              <a:spcPct val="90000"/>
            </a:lnSpc>
            <a:spcBef>
              <a:spcPct val="0"/>
            </a:spcBef>
            <a:spcAft>
              <a:spcPct val="35000"/>
            </a:spcAft>
          </a:pPr>
          <a:r>
            <a:rPr lang="en-US" sz="2900" kern="1200" dirty="0"/>
            <a:t>Gross Working Capital</a:t>
          </a:r>
          <a:endParaRPr lang="en-IN" sz="2900" kern="1200" dirty="0"/>
        </a:p>
      </dsp:txBody>
      <dsp:txXfrm>
        <a:off x="2909357" y="2239718"/>
        <a:ext cx="2697825" cy="1647694"/>
      </dsp:txXfrm>
    </dsp:sp>
    <dsp:sp modelId="{A858420B-8771-4B55-97AF-27E5CB0AA762}">
      <dsp:nvSpPr>
        <dsp:cNvPr id="0" name=""/>
        <dsp:cNvSpPr/>
      </dsp:nvSpPr>
      <dsp:spPr>
        <a:xfrm>
          <a:off x="2508051" y="1750901"/>
          <a:ext cx="350043" cy="3500437"/>
        </a:xfrm>
        <a:custGeom>
          <a:avLst/>
          <a:gdLst/>
          <a:ahLst/>
          <a:cxnLst/>
          <a:rect l="0" t="0" r="0" b="0"/>
          <a:pathLst>
            <a:path>
              <a:moveTo>
                <a:pt x="0" y="0"/>
              </a:moveTo>
              <a:lnTo>
                <a:pt x="0" y="3500437"/>
              </a:lnTo>
              <a:lnTo>
                <a:pt x="350043" y="35004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F76ECD-D5AB-4446-A530-D94AFB994D14}">
      <dsp:nvSpPr>
        <dsp:cNvPr id="0" name=""/>
        <dsp:cNvSpPr/>
      </dsp:nvSpPr>
      <dsp:spPr>
        <a:xfrm>
          <a:off x="2858095" y="4376230"/>
          <a:ext cx="2800349" cy="1750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lvl="0" algn="ctr" defTabSz="1289050">
            <a:lnSpc>
              <a:spcPct val="90000"/>
            </a:lnSpc>
            <a:spcBef>
              <a:spcPct val="0"/>
            </a:spcBef>
            <a:spcAft>
              <a:spcPct val="35000"/>
            </a:spcAft>
          </a:pPr>
          <a:r>
            <a:rPr lang="en-US" sz="2900" kern="1200" dirty="0"/>
            <a:t>Net Working Capital</a:t>
          </a:r>
          <a:endParaRPr lang="en-IN" sz="2900" kern="1200" dirty="0"/>
        </a:p>
      </dsp:txBody>
      <dsp:txXfrm>
        <a:off x="2909357" y="4427492"/>
        <a:ext cx="2697825" cy="1647694"/>
      </dsp:txXfrm>
    </dsp:sp>
    <dsp:sp modelId="{6C02BF0A-04B5-4F97-93F0-4DDF5DD4E10E}">
      <dsp:nvSpPr>
        <dsp:cNvPr id="0" name=""/>
        <dsp:cNvSpPr/>
      </dsp:nvSpPr>
      <dsp:spPr>
        <a:xfrm>
          <a:off x="6533554" y="683"/>
          <a:ext cx="3500437" cy="1750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63500" rIns="95250" bIns="63500" numCol="1" spcCol="1270" anchor="ctr" anchorCtr="0">
          <a:noAutofit/>
        </a:bodyPr>
        <a:lstStyle/>
        <a:p>
          <a:pPr lvl="0" algn="ctr" defTabSz="2222500">
            <a:lnSpc>
              <a:spcPct val="90000"/>
            </a:lnSpc>
            <a:spcBef>
              <a:spcPct val="0"/>
            </a:spcBef>
            <a:spcAft>
              <a:spcPct val="35000"/>
            </a:spcAft>
          </a:pPr>
          <a:r>
            <a:rPr lang="en-US" sz="5000" kern="1200" dirty="0"/>
            <a:t>On the Basis of Time </a:t>
          </a:r>
          <a:endParaRPr lang="en-IN" sz="5000" kern="1200" dirty="0"/>
        </a:p>
      </dsp:txBody>
      <dsp:txXfrm>
        <a:off x="6584816" y="51945"/>
        <a:ext cx="3397913" cy="1647694"/>
      </dsp:txXfrm>
    </dsp:sp>
    <dsp:sp modelId="{D8DAB656-0C65-4A94-8B7E-BB9E991421FD}">
      <dsp:nvSpPr>
        <dsp:cNvPr id="0" name=""/>
        <dsp:cNvSpPr/>
      </dsp:nvSpPr>
      <dsp:spPr>
        <a:xfrm>
          <a:off x="6883598" y="1750901"/>
          <a:ext cx="350043" cy="1312664"/>
        </a:xfrm>
        <a:custGeom>
          <a:avLst/>
          <a:gdLst/>
          <a:ahLst/>
          <a:cxnLst/>
          <a:rect l="0" t="0" r="0" b="0"/>
          <a:pathLst>
            <a:path>
              <a:moveTo>
                <a:pt x="0" y="0"/>
              </a:moveTo>
              <a:lnTo>
                <a:pt x="0" y="1312664"/>
              </a:lnTo>
              <a:lnTo>
                <a:pt x="350043" y="13126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D12906-D86F-4C0F-8869-0E712CBC7FB3}">
      <dsp:nvSpPr>
        <dsp:cNvPr id="0" name=""/>
        <dsp:cNvSpPr/>
      </dsp:nvSpPr>
      <dsp:spPr>
        <a:xfrm>
          <a:off x="7233642" y="2188456"/>
          <a:ext cx="2800349" cy="1750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lvl="0" algn="ctr" defTabSz="1289050">
            <a:lnSpc>
              <a:spcPct val="90000"/>
            </a:lnSpc>
            <a:spcBef>
              <a:spcPct val="0"/>
            </a:spcBef>
            <a:spcAft>
              <a:spcPct val="35000"/>
            </a:spcAft>
            <a:buNone/>
          </a:pPr>
          <a:r>
            <a:rPr lang="en-US" sz="2900" kern="1200" dirty="0"/>
            <a:t>Permanent</a:t>
          </a:r>
        </a:p>
        <a:p>
          <a:pPr lvl="0" algn="ctr" defTabSz="1289050">
            <a:lnSpc>
              <a:spcPct val="90000"/>
            </a:lnSpc>
            <a:spcBef>
              <a:spcPct val="0"/>
            </a:spcBef>
            <a:spcAft>
              <a:spcPct val="35000"/>
            </a:spcAft>
            <a:buFont typeface="Arial" panose="020B0604020202020204" pitchFamily="34" charset="0"/>
            <a:buChar char="•"/>
          </a:pPr>
          <a:r>
            <a:rPr lang="en-US" sz="2900" kern="1200" dirty="0"/>
            <a:t>--Regular</a:t>
          </a:r>
        </a:p>
        <a:p>
          <a:pPr lvl="0" algn="ctr" defTabSz="1289050">
            <a:lnSpc>
              <a:spcPct val="90000"/>
            </a:lnSpc>
            <a:spcBef>
              <a:spcPct val="0"/>
            </a:spcBef>
            <a:spcAft>
              <a:spcPct val="35000"/>
            </a:spcAft>
            <a:buFont typeface="Arial" panose="020B0604020202020204" pitchFamily="34" charset="0"/>
            <a:buChar char="•"/>
          </a:pPr>
          <a:r>
            <a:rPr lang="en-US" sz="2900" kern="1200" dirty="0"/>
            <a:t>--Reserve </a:t>
          </a:r>
          <a:endParaRPr lang="en-IN" sz="2900" kern="1200" dirty="0"/>
        </a:p>
      </dsp:txBody>
      <dsp:txXfrm>
        <a:off x="7284904" y="2239718"/>
        <a:ext cx="2697825" cy="1647694"/>
      </dsp:txXfrm>
    </dsp:sp>
    <dsp:sp modelId="{AF7821A0-A88B-4520-AE99-CBA71B0915FD}">
      <dsp:nvSpPr>
        <dsp:cNvPr id="0" name=""/>
        <dsp:cNvSpPr/>
      </dsp:nvSpPr>
      <dsp:spPr>
        <a:xfrm>
          <a:off x="6883598" y="1750901"/>
          <a:ext cx="350043" cy="3500437"/>
        </a:xfrm>
        <a:custGeom>
          <a:avLst/>
          <a:gdLst/>
          <a:ahLst/>
          <a:cxnLst/>
          <a:rect l="0" t="0" r="0" b="0"/>
          <a:pathLst>
            <a:path>
              <a:moveTo>
                <a:pt x="0" y="0"/>
              </a:moveTo>
              <a:lnTo>
                <a:pt x="0" y="3500437"/>
              </a:lnTo>
              <a:lnTo>
                <a:pt x="350043" y="35004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6F7AEA-7C4C-4C17-AA30-9CD8B5C3E3C7}">
      <dsp:nvSpPr>
        <dsp:cNvPr id="0" name=""/>
        <dsp:cNvSpPr/>
      </dsp:nvSpPr>
      <dsp:spPr>
        <a:xfrm>
          <a:off x="7233642" y="4376230"/>
          <a:ext cx="2800349" cy="1750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245" tIns="36830" rIns="55245" bIns="36830" numCol="1" spcCol="1270" anchor="ctr" anchorCtr="0">
          <a:noAutofit/>
        </a:bodyPr>
        <a:lstStyle/>
        <a:p>
          <a:pPr lvl="0" algn="ctr" defTabSz="1289050">
            <a:lnSpc>
              <a:spcPct val="90000"/>
            </a:lnSpc>
            <a:spcBef>
              <a:spcPct val="0"/>
            </a:spcBef>
            <a:spcAft>
              <a:spcPct val="35000"/>
            </a:spcAft>
          </a:pPr>
          <a:r>
            <a:rPr lang="en-US" sz="2900" kern="1200" dirty="0"/>
            <a:t>Temporary</a:t>
          </a:r>
        </a:p>
        <a:p>
          <a:pPr lvl="0" algn="ctr" defTabSz="1289050">
            <a:lnSpc>
              <a:spcPct val="90000"/>
            </a:lnSpc>
            <a:spcBef>
              <a:spcPct val="0"/>
            </a:spcBef>
            <a:spcAft>
              <a:spcPct val="35000"/>
            </a:spcAft>
          </a:pPr>
          <a:r>
            <a:rPr lang="en-US" sz="2900" kern="1200" dirty="0"/>
            <a:t>--Seasonal</a:t>
          </a:r>
        </a:p>
        <a:p>
          <a:pPr lvl="0" algn="ctr" defTabSz="1289050">
            <a:lnSpc>
              <a:spcPct val="90000"/>
            </a:lnSpc>
            <a:spcBef>
              <a:spcPct val="0"/>
            </a:spcBef>
            <a:spcAft>
              <a:spcPct val="35000"/>
            </a:spcAft>
          </a:pPr>
          <a:r>
            <a:rPr lang="en-US" sz="2900" kern="1200" dirty="0"/>
            <a:t>--Special</a:t>
          </a:r>
          <a:endParaRPr lang="en-IN" sz="2900" kern="1200" dirty="0"/>
        </a:p>
      </dsp:txBody>
      <dsp:txXfrm>
        <a:off x="7284904" y="4427492"/>
        <a:ext cx="2697825" cy="16476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779BAE-C49E-4DC9-A49C-D393DC84E660}">
      <dsp:nvSpPr>
        <dsp:cNvPr id="0" name=""/>
        <dsp:cNvSpPr/>
      </dsp:nvSpPr>
      <dsp:spPr>
        <a:xfrm>
          <a:off x="819" y="1264978"/>
          <a:ext cx="2982360" cy="14911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lvl="0" algn="ctr" defTabSz="1600200">
            <a:lnSpc>
              <a:spcPct val="90000"/>
            </a:lnSpc>
            <a:spcBef>
              <a:spcPct val="0"/>
            </a:spcBef>
            <a:spcAft>
              <a:spcPct val="35000"/>
            </a:spcAft>
          </a:pPr>
          <a:r>
            <a:rPr lang="en-GB" sz="3600" kern="1200"/>
            <a:t>Gross Working Capital</a:t>
          </a:r>
          <a:endParaRPr lang="en-US" sz="3600" kern="1200"/>
        </a:p>
      </dsp:txBody>
      <dsp:txXfrm>
        <a:off x="44494" y="1308653"/>
        <a:ext cx="2895010" cy="1403830"/>
      </dsp:txXfrm>
    </dsp:sp>
    <dsp:sp modelId="{3982F934-9DA7-47FA-B918-6A784D7996AA}">
      <dsp:nvSpPr>
        <dsp:cNvPr id="0" name=""/>
        <dsp:cNvSpPr/>
      </dsp:nvSpPr>
      <dsp:spPr>
        <a:xfrm>
          <a:off x="3728770" y="1264978"/>
          <a:ext cx="2982360" cy="14911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lvl="0" algn="ctr" defTabSz="1600200">
            <a:lnSpc>
              <a:spcPct val="90000"/>
            </a:lnSpc>
            <a:spcBef>
              <a:spcPct val="0"/>
            </a:spcBef>
            <a:spcAft>
              <a:spcPct val="35000"/>
            </a:spcAft>
          </a:pPr>
          <a:r>
            <a:rPr lang="en-GB" sz="3600" kern="1200"/>
            <a:t>Net Working Capital</a:t>
          </a:r>
          <a:endParaRPr lang="en-US" sz="3600" kern="1200"/>
        </a:p>
      </dsp:txBody>
      <dsp:txXfrm>
        <a:off x="3772445" y="1308653"/>
        <a:ext cx="2895010" cy="14038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ED6491-900D-47D5-B89A-3E0CB64CDEBC}">
      <dsp:nvSpPr>
        <dsp:cNvPr id="0" name=""/>
        <dsp:cNvSpPr/>
      </dsp:nvSpPr>
      <dsp:spPr>
        <a:xfrm>
          <a:off x="1669218" y="2183"/>
          <a:ext cx="1081161" cy="7027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a:t>Cash </a:t>
          </a:r>
          <a:endParaRPr lang="en-IN" sz="1700" kern="1200" dirty="0"/>
        </a:p>
      </dsp:txBody>
      <dsp:txXfrm>
        <a:off x="1703524" y="36489"/>
        <a:ext cx="1012549" cy="634143"/>
      </dsp:txXfrm>
    </dsp:sp>
    <dsp:sp modelId="{797D10C8-EA90-4B2F-BBC9-B9AD6F4C7315}">
      <dsp:nvSpPr>
        <dsp:cNvPr id="0" name=""/>
        <dsp:cNvSpPr/>
      </dsp:nvSpPr>
      <dsp:spPr>
        <a:xfrm>
          <a:off x="553585" y="353561"/>
          <a:ext cx="3312427" cy="3312427"/>
        </a:xfrm>
        <a:custGeom>
          <a:avLst/>
          <a:gdLst/>
          <a:ahLst/>
          <a:cxnLst/>
          <a:rect l="0" t="0" r="0" b="0"/>
          <a:pathLst>
            <a:path>
              <a:moveTo>
                <a:pt x="2203709" y="93110"/>
              </a:moveTo>
              <a:arcTo wR="1656213" hR="1656213" stAng="17358206" swAng="150195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3001EB3-B330-44B9-9B45-C58C9EA42752}">
      <dsp:nvSpPr>
        <dsp:cNvPr id="0" name=""/>
        <dsp:cNvSpPr/>
      </dsp:nvSpPr>
      <dsp:spPr>
        <a:xfrm>
          <a:off x="3103541" y="830290"/>
          <a:ext cx="1081161" cy="7027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a:t>Raw Materials</a:t>
          </a:r>
          <a:endParaRPr lang="en-IN" sz="1700" kern="1200" dirty="0"/>
        </a:p>
      </dsp:txBody>
      <dsp:txXfrm>
        <a:off x="3137847" y="864596"/>
        <a:ext cx="1012549" cy="634143"/>
      </dsp:txXfrm>
    </dsp:sp>
    <dsp:sp modelId="{E0EC7344-4D68-4088-BEE3-3DCBF5D0787B}">
      <dsp:nvSpPr>
        <dsp:cNvPr id="0" name=""/>
        <dsp:cNvSpPr/>
      </dsp:nvSpPr>
      <dsp:spPr>
        <a:xfrm>
          <a:off x="553585" y="353561"/>
          <a:ext cx="3312427" cy="3312427"/>
        </a:xfrm>
        <a:custGeom>
          <a:avLst/>
          <a:gdLst/>
          <a:ahLst/>
          <a:cxnLst/>
          <a:rect l="0" t="0" r="0" b="0"/>
          <a:pathLst>
            <a:path>
              <a:moveTo>
                <a:pt x="3245050" y="1188623"/>
              </a:moveTo>
              <a:arcTo wR="1656213" hR="1656213" stAng="20616059" swAng="1967882"/>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8563E0B-6C6F-49AF-831A-4858D3CF96D0}">
      <dsp:nvSpPr>
        <dsp:cNvPr id="0" name=""/>
        <dsp:cNvSpPr/>
      </dsp:nvSpPr>
      <dsp:spPr>
        <a:xfrm>
          <a:off x="3103541" y="2486504"/>
          <a:ext cx="1081161" cy="7027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a:t>WIP</a:t>
          </a:r>
          <a:endParaRPr lang="en-IN" sz="1700" kern="1200" dirty="0"/>
        </a:p>
      </dsp:txBody>
      <dsp:txXfrm>
        <a:off x="3137847" y="2520810"/>
        <a:ext cx="1012549" cy="634143"/>
      </dsp:txXfrm>
    </dsp:sp>
    <dsp:sp modelId="{181B722A-D4D9-4495-9B47-FE0A0BB69840}">
      <dsp:nvSpPr>
        <dsp:cNvPr id="0" name=""/>
        <dsp:cNvSpPr/>
      </dsp:nvSpPr>
      <dsp:spPr>
        <a:xfrm>
          <a:off x="553585" y="353561"/>
          <a:ext cx="3312427" cy="3312427"/>
        </a:xfrm>
        <a:custGeom>
          <a:avLst/>
          <a:gdLst/>
          <a:ahLst/>
          <a:cxnLst/>
          <a:rect l="0" t="0" r="0" b="0"/>
          <a:pathLst>
            <a:path>
              <a:moveTo>
                <a:pt x="2813683" y="2840826"/>
              </a:moveTo>
              <a:arcTo wR="1656213" hR="1656213" stAng="2739839" swAng="150195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89BE652-E314-48BC-8EB1-CA9FE67E7C7A}">
      <dsp:nvSpPr>
        <dsp:cNvPr id="0" name=""/>
        <dsp:cNvSpPr/>
      </dsp:nvSpPr>
      <dsp:spPr>
        <a:xfrm>
          <a:off x="1669218" y="3314611"/>
          <a:ext cx="1081161" cy="7027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a:t>Finished Goods</a:t>
          </a:r>
          <a:endParaRPr lang="en-IN" sz="1700" kern="1200" dirty="0"/>
        </a:p>
      </dsp:txBody>
      <dsp:txXfrm>
        <a:off x="1703524" y="3348917"/>
        <a:ext cx="1012549" cy="634143"/>
      </dsp:txXfrm>
    </dsp:sp>
    <dsp:sp modelId="{8BB970D4-2A0A-45E3-BF48-E21C15F68687}">
      <dsp:nvSpPr>
        <dsp:cNvPr id="0" name=""/>
        <dsp:cNvSpPr/>
      </dsp:nvSpPr>
      <dsp:spPr>
        <a:xfrm>
          <a:off x="553585" y="353561"/>
          <a:ext cx="3312427" cy="3312427"/>
        </a:xfrm>
        <a:custGeom>
          <a:avLst/>
          <a:gdLst/>
          <a:ahLst/>
          <a:cxnLst/>
          <a:rect l="0" t="0" r="0" b="0"/>
          <a:pathLst>
            <a:path>
              <a:moveTo>
                <a:pt x="1108717" y="3219317"/>
              </a:moveTo>
              <a:arcTo wR="1656213" hR="1656213" stAng="6558206" swAng="150195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38F3D03-3621-4EAC-8317-08E329F3E464}">
      <dsp:nvSpPr>
        <dsp:cNvPr id="0" name=""/>
        <dsp:cNvSpPr/>
      </dsp:nvSpPr>
      <dsp:spPr>
        <a:xfrm>
          <a:off x="234895" y="2486504"/>
          <a:ext cx="1081161" cy="7027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a:t>Sales</a:t>
          </a:r>
          <a:endParaRPr lang="en-IN" sz="1700" kern="1200" dirty="0"/>
        </a:p>
      </dsp:txBody>
      <dsp:txXfrm>
        <a:off x="269201" y="2520810"/>
        <a:ext cx="1012549" cy="634143"/>
      </dsp:txXfrm>
    </dsp:sp>
    <dsp:sp modelId="{5DF0581A-32BE-4A09-A72B-63B44FF210A7}">
      <dsp:nvSpPr>
        <dsp:cNvPr id="0" name=""/>
        <dsp:cNvSpPr/>
      </dsp:nvSpPr>
      <dsp:spPr>
        <a:xfrm>
          <a:off x="553585" y="353561"/>
          <a:ext cx="3312427" cy="3312427"/>
        </a:xfrm>
        <a:custGeom>
          <a:avLst/>
          <a:gdLst/>
          <a:ahLst/>
          <a:cxnLst/>
          <a:rect l="0" t="0" r="0" b="0"/>
          <a:pathLst>
            <a:path>
              <a:moveTo>
                <a:pt x="67376" y="2123804"/>
              </a:moveTo>
              <a:arcTo wR="1656213" hR="1656213" stAng="9816059" swAng="1967882"/>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94FF9AE-B972-4C47-84BF-77730CF65720}">
      <dsp:nvSpPr>
        <dsp:cNvPr id="0" name=""/>
        <dsp:cNvSpPr/>
      </dsp:nvSpPr>
      <dsp:spPr>
        <a:xfrm>
          <a:off x="234895" y="830290"/>
          <a:ext cx="1081161" cy="7027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a:t>Debtors</a:t>
          </a:r>
          <a:endParaRPr lang="en-IN" sz="1700" kern="1200" dirty="0"/>
        </a:p>
      </dsp:txBody>
      <dsp:txXfrm>
        <a:off x="269201" y="864596"/>
        <a:ext cx="1012549" cy="634143"/>
      </dsp:txXfrm>
    </dsp:sp>
    <dsp:sp modelId="{8AE7BECC-894D-4B75-A3C5-2303316E20B7}">
      <dsp:nvSpPr>
        <dsp:cNvPr id="0" name=""/>
        <dsp:cNvSpPr/>
      </dsp:nvSpPr>
      <dsp:spPr>
        <a:xfrm>
          <a:off x="553585" y="353561"/>
          <a:ext cx="3312427" cy="3312427"/>
        </a:xfrm>
        <a:custGeom>
          <a:avLst/>
          <a:gdLst/>
          <a:ahLst/>
          <a:cxnLst/>
          <a:rect l="0" t="0" r="0" b="0"/>
          <a:pathLst>
            <a:path>
              <a:moveTo>
                <a:pt x="498743" y="471601"/>
              </a:moveTo>
              <a:arcTo wR="1656213" hR="1656213" stAng="13539839" swAng="150195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1422ED-2B9C-4C84-B551-1FB09B514240}">
      <dsp:nvSpPr>
        <dsp:cNvPr id="0" name=""/>
        <dsp:cNvSpPr/>
      </dsp:nvSpPr>
      <dsp:spPr>
        <a:xfrm>
          <a:off x="1489" y="0"/>
          <a:ext cx="3871696" cy="5943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lvl="0" algn="ctr" defTabSz="2222500" rtl="0">
            <a:lnSpc>
              <a:spcPct val="90000"/>
            </a:lnSpc>
            <a:spcBef>
              <a:spcPct val="0"/>
            </a:spcBef>
            <a:spcAft>
              <a:spcPct val="35000"/>
            </a:spcAft>
          </a:pPr>
          <a:r>
            <a:rPr lang="en-US" sz="5000" kern="1200" dirty="0">
              <a:latin typeface="Calibri Light" panose="020F0302020204030204"/>
            </a:rPr>
            <a:t>Short Term Sources</a:t>
          </a:r>
          <a:endParaRPr lang="en-US" sz="5000" kern="1200" dirty="0"/>
        </a:p>
      </dsp:txBody>
      <dsp:txXfrm>
        <a:off x="1489" y="0"/>
        <a:ext cx="3871696" cy="1783072"/>
      </dsp:txXfrm>
    </dsp:sp>
    <dsp:sp modelId="{7A4BF01E-2A97-48CE-A8D6-5B3109FE778B}">
      <dsp:nvSpPr>
        <dsp:cNvPr id="0" name=""/>
        <dsp:cNvSpPr/>
      </dsp:nvSpPr>
      <dsp:spPr>
        <a:xfrm>
          <a:off x="388658" y="1784161"/>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Commercial / Trade Credit</a:t>
          </a:r>
          <a:endParaRPr lang="en-US" sz="2000" kern="1200" dirty="0"/>
        </a:p>
      </dsp:txBody>
      <dsp:txXfrm>
        <a:off x="401117" y="1796620"/>
        <a:ext cx="3072439" cy="400462"/>
      </dsp:txXfrm>
    </dsp:sp>
    <dsp:sp modelId="{7B8659BD-1312-490E-8C93-6B9936798E85}">
      <dsp:nvSpPr>
        <dsp:cNvPr id="0" name=""/>
        <dsp:cNvSpPr/>
      </dsp:nvSpPr>
      <dsp:spPr>
        <a:xfrm>
          <a:off x="388658" y="2274984"/>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Customer Advances</a:t>
          </a:r>
        </a:p>
      </dsp:txBody>
      <dsp:txXfrm>
        <a:off x="401117" y="2287443"/>
        <a:ext cx="3072439" cy="400462"/>
      </dsp:txXfrm>
    </dsp:sp>
    <dsp:sp modelId="{6188D18F-2CCD-483E-A6F9-EC9723BEA5C9}">
      <dsp:nvSpPr>
        <dsp:cNvPr id="0" name=""/>
        <dsp:cNvSpPr/>
      </dsp:nvSpPr>
      <dsp:spPr>
        <a:xfrm>
          <a:off x="388658" y="2765808"/>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Bill Discounting</a:t>
          </a:r>
        </a:p>
      </dsp:txBody>
      <dsp:txXfrm>
        <a:off x="401117" y="2778267"/>
        <a:ext cx="3072439" cy="400462"/>
      </dsp:txXfrm>
    </dsp:sp>
    <dsp:sp modelId="{8D16C53E-E98B-4E7E-A835-83397C3A49BD}">
      <dsp:nvSpPr>
        <dsp:cNvPr id="0" name=""/>
        <dsp:cNvSpPr/>
      </dsp:nvSpPr>
      <dsp:spPr>
        <a:xfrm>
          <a:off x="388658" y="3256632"/>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Bank Overdraft</a:t>
          </a:r>
        </a:p>
      </dsp:txBody>
      <dsp:txXfrm>
        <a:off x="401117" y="3269091"/>
        <a:ext cx="3072439" cy="400462"/>
      </dsp:txXfrm>
    </dsp:sp>
    <dsp:sp modelId="{2716763F-7C8E-4A9A-B4D6-B85C6E411784}">
      <dsp:nvSpPr>
        <dsp:cNvPr id="0" name=""/>
        <dsp:cNvSpPr/>
      </dsp:nvSpPr>
      <dsp:spPr>
        <a:xfrm>
          <a:off x="388658" y="3747456"/>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Cash Credit</a:t>
          </a:r>
        </a:p>
      </dsp:txBody>
      <dsp:txXfrm>
        <a:off x="401117" y="3759915"/>
        <a:ext cx="3072439" cy="400462"/>
      </dsp:txXfrm>
    </dsp:sp>
    <dsp:sp modelId="{BBCAFF97-4869-4C3A-9F38-4F10CC03F67A}">
      <dsp:nvSpPr>
        <dsp:cNvPr id="0" name=""/>
        <dsp:cNvSpPr/>
      </dsp:nvSpPr>
      <dsp:spPr>
        <a:xfrm>
          <a:off x="388658" y="4238280"/>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en-US" sz="2000" kern="1200" dirty="0">
              <a:latin typeface="Calibri Light" panose="020F0302020204030204"/>
            </a:rPr>
            <a:t>Factoring</a:t>
          </a:r>
          <a:endParaRPr lang="en-US" sz="2000" kern="1200" dirty="0"/>
        </a:p>
      </dsp:txBody>
      <dsp:txXfrm>
        <a:off x="401117" y="4250739"/>
        <a:ext cx="3072439" cy="400462"/>
      </dsp:txXfrm>
    </dsp:sp>
    <dsp:sp modelId="{BA2F4A1F-5C4A-410C-8EB6-DFE195296DD7}">
      <dsp:nvSpPr>
        <dsp:cNvPr id="0" name=""/>
        <dsp:cNvSpPr/>
      </dsp:nvSpPr>
      <dsp:spPr>
        <a:xfrm>
          <a:off x="388658" y="4729104"/>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Commercial Paper</a:t>
          </a:r>
        </a:p>
      </dsp:txBody>
      <dsp:txXfrm>
        <a:off x="401117" y="4741563"/>
        <a:ext cx="3072439" cy="400462"/>
      </dsp:txXfrm>
    </dsp:sp>
    <dsp:sp modelId="{DFDFEF96-66CC-448F-9ABF-B2A8B9F8BFD1}">
      <dsp:nvSpPr>
        <dsp:cNvPr id="0" name=""/>
        <dsp:cNvSpPr/>
      </dsp:nvSpPr>
      <dsp:spPr>
        <a:xfrm>
          <a:off x="388658" y="5219928"/>
          <a:ext cx="3097357" cy="425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Hire Purchase and Leasing</a:t>
          </a:r>
        </a:p>
      </dsp:txBody>
      <dsp:txXfrm>
        <a:off x="401117" y="5232387"/>
        <a:ext cx="3072439" cy="400462"/>
      </dsp:txXfrm>
    </dsp:sp>
    <dsp:sp modelId="{B87203E0-B074-4BB7-9F6D-05A6ADA30F45}">
      <dsp:nvSpPr>
        <dsp:cNvPr id="0" name=""/>
        <dsp:cNvSpPr/>
      </dsp:nvSpPr>
      <dsp:spPr>
        <a:xfrm>
          <a:off x="4163563" y="0"/>
          <a:ext cx="3871696" cy="5943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lvl="0" algn="ctr" defTabSz="2222500" rtl="0">
            <a:lnSpc>
              <a:spcPct val="90000"/>
            </a:lnSpc>
            <a:spcBef>
              <a:spcPct val="0"/>
            </a:spcBef>
            <a:spcAft>
              <a:spcPct val="35000"/>
            </a:spcAft>
          </a:pPr>
          <a:r>
            <a:rPr lang="en-US" sz="5000" kern="1200" dirty="0">
              <a:latin typeface="Calibri Light" panose="020F0302020204030204"/>
            </a:rPr>
            <a:t>Medium Term Sources</a:t>
          </a:r>
          <a:endParaRPr lang="en-US" sz="5000" kern="1200" dirty="0"/>
        </a:p>
      </dsp:txBody>
      <dsp:txXfrm>
        <a:off x="4163563" y="0"/>
        <a:ext cx="3871696" cy="1783072"/>
      </dsp:txXfrm>
    </dsp:sp>
    <dsp:sp modelId="{5EBBE8ED-D47E-47BB-A339-6F72A97E954A}">
      <dsp:nvSpPr>
        <dsp:cNvPr id="0" name=""/>
        <dsp:cNvSpPr/>
      </dsp:nvSpPr>
      <dsp:spPr>
        <a:xfrm>
          <a:off x="4550732" y="1784197"/>
          <a:ext cx="3097357" cy="6875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Issue of Preference Shares</a:t>
          </a:r>
          <a:endParaRPr lang="en-US" sz="2000" kern="1200" dirty="0"/>
        </a:p>
      </dsp:txBody>
      <dsp:txXfrm>
        <a:off x="4570871" y="1804336"/>
        <a:ext cx="3057079" cy="647310"/>
      </dsp:txXfrm>
    </dsp:sp>
    <dsp:sp modelId="{4EE9CD01-3C24-4EF4-A21B-FB8D3EFFBAC0}">
      <dsp:nvSpPr>
        <dsp:cNvPr id="0" name=""/>
        <dsp:cNvSpPr/>
      </dsp:nvSpPr>
      <dsp:spPr>
        <a:xfrm>
          <a:off x="4550732" y="2577569"/>
          <a:ext cx="3097357" cy="6875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Issue of Debentures</a:t>
          </a:r>
          <a:endParaRPr lang="en-US" sz="2000" kern="1200" dirty="0"/>
        </a:p>
      </dsp:txBody>
      <dsp:txXfrm>
        <a:off x="4570871" y="2597708"/>
        <a:ext cx="3057079" cy="647310"/>
      </dsp:txXfrm>
    </dsp:sp>
    <dsp:sp modelId="{FA191985-E31B-49EB-96A6-4B6535713D8B}">
      <dsp:nvSpPr>
        <dsp:cNvPr id="0" name=""/>
        <dsp:cNvSpPr/>
      </dsp:nvSpPr>
      <dsp:spPr>
        <a:xfrm>
          <a:off x="4550732" y="3370940"/>
          <a:ext cx="3097357" cy="6875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Public Deposits</a:t>
          </a:r>
        </a:p>
      </dsp:txBody>
      <dsp:txXfrm>
        <a:off x="4570871" y="3391079"/>
        <a:ext cx="3057079" cy="647310"/>
      </dsp:txXfrm>
    </dsp:sp>
    <dsp:sp modelId="{FC6A178C-3652-4826-B502-AED6BD15B0C4}">
      <dsp:nvSpPr>
        <dsp:cNvPr id="0" name=""/>
        <dsp:cNvSpPr/>
      </dsp:nvSpPr>
      <dsp:spPr>
        <a:xfrm>
          <a:off x="4550732" y="4164312"/>
          <a:ext cx="3097357" cy="6875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Bond Loans</a:t>
          </a:r>
        </a:p>
      </dsp:txBody>
      <dsp:txXfrm>
        <a:off x="4570871" y="4184451"/>
        <a:ext cx="3057079" cy="647310"/>
      </dsp:txXfrm>
    </dsp:sp>
    <dsp:sp modelId="{34C241D6-D469-434D-82B3-4EA23B917185}">
      <dsp:nvSpPr>
        <dsp:cNvPr id="0" name=""/>
        <dsp:cNvSpPr/>
      </dsp:nvSpPr>
      <dsp:spPr>
        <a:xfrm>
          <a:off x="4550732" y="4957683"/>
          <a:ext cx="3097357" cy="6875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t>Loans From Fianancial Instituitions</a:t>
          </a:r>
        </a:p>
      </dsp:txBody>
      <dsp:txXfrm>
        <a:off x="4570871" y="4977822"/>
        <a:ext cx="3057079" cy="647310"/>
      </dsp:txXfrm>
    </dsp:sp>
    <dsp:sp modelId="{07A0974B-4A4F-40B5-99C3-D9AE4B803FA3}">
      <dsp:nvSpPr>
        <dsp:cNvPr id="0" name=""/>
        <dsp:cNvSpPr/>
      </dsp:nvSpPr>
      <dsp:spPr>
        <a:xfrm>
          <a:off x="8325637" y="0"/>
          <a:ext cx="3871696" cy="5943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lvl="0" algn="ctr" defTabSz="2222500" rtl="0">
            <a:lnSpc>
              <a:spcPct val="90000"/>
            </a:lnSpc>
            <a:spcBef>
              <a:spcPct val="0"/>
            </a:spcBef>
            <a:spcAft>
              <a:spcPct val="35000"/>
            </a:spcAft>
          </a:pPr>
          <a:r>
            <a:rPr lang="en-US" sz="5000" kern="1200" dirty="0">
              <a:latin typeface="Calibri Light" panose="020F0302020204030204"/>
            </a:rPr>
            <a:t>Long Term Sources</a:t>
          </a:r>
          <a:endParaRPr lang="en-US" sz="5000" kern="1200" dirty="0"/>
        </a:p>
      </dsp:txBody>
      <dsp:txXfrm>
        <a:off x="8325637" y="0"/>
        <a:ext cx="3871696" cy="1783072"/>
      </dsp:txXfrm>
    </dsp:sp>
    <dsp:sp modelId="{9FF2914D-763F-4E57-AFE1-8DC00FD16495}">
      <dsp:nvSpPr>
        <dsp:cNvPr id="0" name=""/>
        <dsp:cNvSpPr/>
      </dsp:nvSpPr>
      <dsp:spPr>
        <a:xfrm>
          <a:off x="8712806" y="1783217"/>
          <a:ext cx="3097357" cy="8658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Issue of Equity Shares</a:t>
          </a:r>
          <a:endParaRPr lang="en-US" sz="2000" kern="1200" dirty="0"/>
        </a:p>
      </dsp:txBody>
      <dsp:txXfrm>
        <a:off x="8738166" y="1808577"/>
        <a:ext cx="3046637" cy="815132"/>
      </dsp:txXfrm>
    </dsp:sp>
    <dsp:sp modelId="{7C1B8114-232F-4F23-9612-7E3B87CA6135}">
      <dsp:nvSpPr>
        <dsp:cNvPr id="0" name=""/>
        <dsp:cNvSpPr/>
      </dsp:nvSpPr>
      <dsp:spPr>
        <a:xfrm>
          <a:off x="8712806" y="2782278"/>
          <a:ext cx="3097357" cy="8658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Issue of Preference Shares</a:t>
          </a:r>
          <a:endParaRPr lang="en-US" sz="2000" kern="1200" dirty="0"/>
        </a:p>
      </dsp:txBody>
      <dsp:txXfrm>
        <a:off x="8738166" y="2807638"/>
        <a:ext cx="3046637" cy="815132"/>
      </dsp:txXfrm>
    </dsp:sp>
    <dsp:sp modelId="{CA5F9AC7-2332-46D0-A5AE-57C4A48BD1D9}">
      <dsp:nvSpPr>
        <dsp:cNvPr id="0" name=""/>
        <dsp:cNvSpPr/>
      </dsp:nvSpPr>
      <dsp:spPr>
        <a:xfrm>
          <a:off x="8712806" y="3781339"/>
          <a:ext cx="3097357" cy="8658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Issue of Debentures</a:t>
          </a:r>
        </a:p>
      </dsp:txBody>
      <dsp:txXfrm>
        <a:off x="8738166" y="3806699"/>
        <a:ext cx="3046637" cy="815132"/>
      </dsp:txXfrm>
    </dsp:sp>
    <dsp:sp modelId="{5E9C1A7C-4124-4BDD-9A63-D71FEE32ED8C}">
      <dsp:nvSpPr>
        <dsp:cNvPr id="0" name=""/>
        <dsp:cNvSpPr/>
      </dsp:nvSpPr>
      <dsp:spPr>
        <a:xfrm>
          <a:off x="8712806" y="4780399"/>
          <a:ext cx="3097357" cy="8658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rtl="0">
            <a:lnSpc>
              <a:spcPct val="90000"/>
            </a:lnSpc>
            <a:spcBef>
              <a:spcPct val="0"/>
            </a:spcBef>
            <a:spcAft>
              <a:spcPct val="35000"/>
            </a:spcAft>
          </a:pPr>
          <a:r>
            <a:rPr lang="en-US" sz="2000" kern="1200" dirty="0">
              <a:latin typeface="Calibri Light" panose="020F0302020204030204"/>
            </a:rPr>
            <a:t>Loans from Fianancial Institutions</a:t>
          </a:r>
          <a:endParaRPr lang="en-US" sz="2000" kern="1200" dirty="0"/>
        </a:p>
      </dsp:txBody>
      <dsp:txXfrm>
        <a:off x="8738166" y="4805759"/>
        <a:ext cx="3046637" cy="8151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dirty="0"/>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212222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609807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451438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44467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400778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798461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34610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dirty="0"/>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642493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dirty="0"/>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50000"/>
              <a:lumOff val="5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80944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981656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2/13/2026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18711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BA3B8-2A6C-4825-B9C4-6A0968C334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E5C5F492-50DA-488E-9DA5-A1287769A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EAAA8F48-D851-4417-A0EF-B9EE1BC2E6E2}"/>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5" name="Footer Placeholder 4">
            <a:extLst>
              <a:ext uri="{FF2B5EF4-FFF2-40B4-BE49-F238E27FC236}">
                <a16:creationId xmlns:a16="http://schemas.microsoft.com/office/drawing/2014/main" xmlns="" id="{E7AC5546-EF85-486E-B21C-5E34A02503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7F848DA-3560-4238-9298-E80A8542276E}"/>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410685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75C152-489F-4E7F-A515-3284E6ED2B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6D6AC38-5CDF-4662-8071-F983258366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9F11D76-1024-4553-9CCC-0557B074576F}"/>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5" name="Footer Placeholder 4">
            <a:extLst>
              <a:ext uri="{FF2B5EF4-FFF2-40B4-BE49-F238E27FC236}">
                <a16:creationId xmlns:a16="http://schemas.microsoft.com/office/drawing/2014/main" xmlns="" id="{4A9CE6E1-A4BC-4005-9E46-7F0D94A727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C22444F-0C9B-4EDA-ACBA-9195079F044A}"/>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366892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422975-DF3E-4988-9FCF-A35EB5BCFB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87A2127-C270-4B2E-93B7-681AD875BC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879E101-9A4C-42F7-BA9A-64A2086C939E}"/>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5" name="Footer Placeholder 4">
            <a:extLst>
              <a:ext uri="{FF2B5EF4-FFF2-40B4-BE49-F238E27FC236}">
                <a16:creationId xmlns:a16="http://schemas.microsoft.com/office/drawing/2014/main" xmlns="" id="{B4EB8659-F627-4DF8-81AF-5582D8386A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61CD1A4-1760-4674-BE59-A3DF480D3D2C}"/>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4174777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FE46E5-B35E-4135-A926-B85A6D523A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0E4B9A1-C10F-4A60-8515-82D99C09D7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0F66C53-E6A5-42B8-A3A5-B7CFB3DD77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026C5EB-5335-45AE-9B5C-EFF26E8DC708}"/>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6" name="Footer Placeholder 5">
            <a:extLst>
              <a:ext uri="{FF2B5EF4-FFF2-40B4-BE49-F238E27FC236}">
                <a16:creationId xmlns:a16="http://schemas.microsoft.com/office/drawing/2014/main" xmlns="" id="{A2D52D67-4CB3-4C41-8AD1-CB6D9DAE3E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2007922-C359-4873-AFC8-E465E80957E8}"/>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29390350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6DF684-0C3A-4BA2-B8E6-8F87C59A58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383617E-F652-47C8-9A18-D9D02B96A1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74DED7D-D4F8-4C6F-812B-771E0E73C9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A5AAAF1-8F80-4DA4-BED8-76EBB95AB3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7930D55-33C6-4B8E-BACA-9A590A8720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13394522-2891-4DDD-92B4-F629A7EBAA79}"/>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8" name="Footer Placeholder 7">
            <a:extLst>
              <a:ext uri="{FF2B5EF4-FFF2-40B4-BE49-F238E27FC236}">
                <a16:creationId xmlns:a16="http://schemas.microsoft.com/office/drawing/2014/main" xmlns="" id="{0575C794-2E65-4BDB-9AEA-70B0A56D37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A507D4E0-0335-40FC-9E14-4E925B548899}"/>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4177475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560AF9-BB90-4A42-938D-B0A91FCDD2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4D93C0B-B33A-4B76-8934-7AF672F9972E}"/>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4" name="Footer Placeholder 3">
            <a:extLst>
              <a:ext uri="{FF2B5EF4-FFF2-40B4-BE49-F238E27FC236}">
                <a16:creationId xmlns:a16="http://schemas.microsoft.com/office/drawing/2014/main" xmlns="" id="{6174A434-326A-4D24-B42A-D2AA06F841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F1D34012-1FA6-4651-8B2B-4C4112D157DC}"/>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4620313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7421449-DA71-4993-BB71-72D271F54EE2}"/>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3" name="Footer Placeholder 2">
            <a:extLst>
              <a:ext uri="{FF2B5EF4-FFF2-40B4-BE49-F238E27FC236}">
                <a16:creationId xmlns:a16="http://schemas.microsoft.com/office/drawing/2014/main" xmlns="" id="{BBA4CD60-D964-4436-BC43-52C8BD9CE6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803C7D73-2F71-4D6E-909D-679833713010}"/>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812100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3B3A91-5853-4D41-B163-0EE180E97C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2211AF7-527D-4D3D-BC54-4BF14EAB89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39C377C7-B271-4914-942C-165BFAC9C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668FE67-2327-4359-AC9A-6E74DF529EB0}"/>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6" name="Footer Placeholder 5">
            <a:extLst>
              <a:ext uri="{FF2B5EF4-FFF2-40B4-BE49-F238E27FC236}">
                <a16:creationId xmlns:a16="http://schemas.microsoft.com/office/drawing/2014/main" xmlns="" id="{FA39E332-F46A-4B10-9CFD-A8607BC6AB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36C16F3-F722-4941-AACE-9FC752D2A52A}"/>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750244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351619-6F48-4AFA-A8E1-531E3488ED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7B9EA299-3E37-4342-94DE-F81A7472D1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61ADB9D3-CA13-4B61-A791-949B66F0C7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93365C3-16D0-40ED-8BA7-D25F546EC521}"/>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6" name="Footer Placeholder 5">
            <a:extLst>
              <a:ext uri="{FF2B5EF4-FFF2-40B4-BE49-F238E27FC236}">
                <a16:creationId xmlns:a16="http://schemas.microsoft.com/office/drawing/2014/main" xmlns="" id="{08C6E035-C9F3-46A8-B68B-F3A4C097B4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026CC77-EA57-4BFE-8AB4-FFAE5B0DCB36}"/>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816679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C5ABDE-BE98-468A-9F87-01B1DB3F3D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D2022EB-36E5-4689-A590-AFA1E92A0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781225C-C1BD-4F36-B513-55EE4AF6AFF8}"/>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5" name="Footer Placeholder 4">
            <a:extLst>
              <a:ext uri="{FF2B5EF4-FFF2-40B4-BE49-F238E27FC236}">
                <a16:creationId xmlns:a16="http://schemas.microsoft.com/office/drawing/2014/main" xmlns="" id="{99178997-C92A-44C3-97B3-E8A55EF17F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84503C3-575F-4224-B217-DBC7D0015481}"/>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11872982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AF307AE-2F53-46B0-99E1-B6C0A69A16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E1E41D2-125D-4257-A6C4-B56B61544D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9DFDACB-DE03-484E-BE8D-474481A17659}"/>
              </a:ext>
            </a:extLst>
          </p:cNvPr>
          <p:cNvSpPr>
            <a:spLocks noGrp="1"/>
          </p:cNvSpPr>
          <p:nvPr>
            <p:ph type="dt" sz="half" idx="10"/>
          </p:nvPr>
        </p:nvSpPr>
        <p:spPr/>
        <p:txBody>
          <a:bodyPr/>
          <a:lstStyle/>
          <a:p>
            <a:fld id="{F89B03A5-78A7-4EB8-8582-B3371FE3F1F0}" type="datetimeFigureOut">
              <a:rPr lang="en-IN" smtClean="0"/>
              <a:pPr/>
              <a:t>13-02-2026</a:t>
            </a:fld>
            <a:endParaRPr lang="en-IN"/>
          </a:p>
        </p:txBody>
      </p:sp>
      <p:sp>
        <p:nvSpPr>
          <p:cNvPr id="5" name="Footer Placeholder 4">
            <a:extLst>
              <a:ext uri="{FF2B5EF4-FFF2-40B4-BE49-F238E27FC236}">
                <a16:creationId xmlns:a16="http://schemas.microsoft.com/office/drawing/2014/main" xmlns="" id="{D7718A5D-1691-4467-A26C-38D902608E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FDB1DAD-95E9-4162-AB37-AD3B175330C8}"/>
              </a:ext>
            </a:extLst>
          </p:cNvPr>
          <p:cNvSpPr>
            <a:spLocks noGrp="1"/>
          </p:cNvSpPr>
          <p:nvPr>
            <p:ph type="sldNum" sz="quarter" idx="12"/>
          </p:nvPr>
        </p:nvSpPr>
        <p:spPr/>
        <p:txBody>
          <a:bodyPr/>
          <a:lstStyle/>
          <a:p>
            <a:fld id="{E94B78F3-87BC-451C-A202-F318C4D79F4A}" type="slidenum">
              <a:rPr lang="en-IN" smtClean="0"/>
              <a:pPr/>
              <a:t>‹#›</a:t>
            </a:fld>
            <a:endParaRPr lang="en-IN"/>
          </a:p>
        </p:txBody>
      </p:sp>
    </p:spTree>
    <p:extLst>
      <p:ext uri="{BB962C8B-B14F-4D97-AF65-F5344CB8AC3E}">
        <p14:creationId xmlns:p14="http://schemas.microsoft.com/office/powerpoint/2010/main" val="355037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fld id="{5586B75A-687E-405C-8A0B-8D00578BA2C3}" type="datetimeFigureOut">
              <a:rPr lang="en-US" dirty="0"/>
              <a:pPr/>
              <a:t>2/13/2026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480792803"/>
      </p:ext>
    </p:extLst>
  </p:cSld>
  <p:clrMap bg1="dk1" tx1="lt1" bg2="dk2" tx2="lt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97C6D7F-EE7B-47C3-AF2E-693482C3D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C46EC0-32CD-435C-9D4D-3E876096F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7950C8C-5550-4405-AACF-70F8095181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9B03A5-78A7-4EB8-8582-B3371FE3F1F0}" type="datetimeFigureOut">
              <a:rPr lang="en-IN" smtClean="0"/>
              <a:pPr/>
              <a:t>13-02-2026</a:t>
            </a:fld>
            <a:endParaRPr lang="en-IN"/>
          </a:p>
        </p:txBody>
      </p:sp>
      <p:sp>
        <p:nvSpPr>
          <p:cNvPr id="5" name="Footer Placeholder 4">
            <a:extLst>
              <a:ext uri="{FF2B5EF4-FFF2-40B4-BE49-F238E27FC236}">
                <a16:creationId xmlns:a16="http://schemas.microsoft.com/office/drawing/2014/main" xmlns="" id="{CF028284-06D0-4326-86A5-CE8D5B033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A256C088-3568-4219-A0EB-C1E997A996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4B78F3-87BC-451C-A202-F318C4D79F4A}" type="slidenum">
              <a:rPr lang="en-IN" smtClean="0"/>
              <a:pPr/>
              <a:t>‹#›</a:t>
            </a:fld>
            <a:endParaRPr lang="en-IN"/>
          </a:p>
        </p:txBody>
      </p:sp>
    </p:spTree>
    <p:extLst>
      <p:ext uri="{BB962C8B-B14F-4D97-AF65-F5344CB8AC3E}">
        <p14:creationId xmlns:p14="http://schemas.microsoft.com/office/powerpoint/2010/main" val="2296425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xmlns="" id="{BC512124-0D13-4ED9-80B7-52AE15B6B41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xmlns="" id="{54B8CBE2-A5E1-4E74-BAA4-C73950AB97B4}"/>
              </a:ext>
            </a:extLst>
          </p:cNvPr>
          <p:cNvPicPr>
            <a:picLocks noChangeAspect="1"/>
          </p:cNvPicPr>
          <p:nvPr/>
        </p:nvPicPr>
        <p:blipFill rotWithShape="1">
          <a:blip r:embed="rId2">
            <a:alphaModFix amt="35000"/>
          </a:blip>
          <a:srcRect t="6925" b="1238"/>
          <a:stretch/>
        </p:blipFill>
        <p:spPr>
          <a:xfrm>
            <a:off x="20" y="10"/>
            <a:ext cx="12188930" cy="6857990"/>
          </a:xfrm>
          <a:prstGeom prst="rect">
            <a:avLst/>
          </a:prstGeom>
        </p:spPr>
      </p:pic>
      <p:sp>
        <p:nvSpPr>
          <p:cNvPr id="2" name="Title 1"/>
          <p:cNvSpPr>
            <a:spLocks noGrp="1"/>
          </p:cNvSpPr>
          <p:nvPr>
            <p:ph type="ctrTitle"/>
          </p:nvPr>
        </p:nvSpPr>
        <p:spPr>
          <a:xfrm>
            <a:off x="1069848" y="1298448"/>
            <a:ext cx="7315200" cy="1564393"/>
          </a:xfrm>
        </p:spPr>
        <p:txBody>
          <a:bodyPr vert="horz" lIns="228600" tIns="228600" rIns="228600" bIns="0" rtlCol="0">
            <a:normAutofit/>
          </a:bodyPr>
          <a:lstStyle/>
          <a:p>
            <a:r>
              <a:rPr lang="en-GB" sz="3700" b="1" dirty="0" smtClean="0">
                <a:ln w="15875">
                  <a:solidFill>
                    <a:srgbClr val="FFFFFF"/>
                  </a:solidFill>
                </a:ln>
                <a:solidFill>
                  <a:schemeClr val="tx1"/>
                </a:solidFill>
                <a:ea typeface="+mj-lt"/>
                <a:cs typeface="+mj-lt"/>
              </a:rPr>
              <a:t>Entrepreneurial </a:t>
            </a:r>
            <a:r>
              <a:rPr lang="en-GB" sz="3700" b="1" dirty="0">
                <a:ln w="15875">
                  <a:solidFill>
                    <a:srgbClr val="FFFFFF"/>
                  </a:solidFill>
                </a:ln>
                <a:solidFill>
                  <a:schemeClr val="tx1"/>
                </a:solidFill>
                <a:ea typeface="+mj-lt"/>
                <a:cs typeface="+mj-lt"/>
              </a:rPr>
              <a:t>Finance </a:t>
            </a:r>
            <a:endParaRPr lang="en-US" sz="3700" b="1" dirty="0">
              <a:ln w="15875">
                <a:solidFill>
                  <a:srgbClr val="FFFFFF"/>
                </a:solidFill>
              </a:ln>
              <a:solidFill>
                <a:schemeClr val="tx1"/>
              </a:solidFill>
              <a:cs typeface="Calibri Light"/>
            </a:endParaRPr>
          </a:p>
        </p:txBody>
      </p:sp>
      <p:sp>
        <p:nvSpPr>
          <p:cNvPr id="3" name="Subtitle 2"/>
          <p:cNvSpPr>
            <a:spLocks noGrp="1"/>
          </p:cNvSpPr>
          <p:nvPr>
            <p:ph type="subTitle" idx="1"/>
          </p:nvPr>
        </p:nvSpPr>
        <p:spPr>
          <a:xfrm>
            <a:off x="1100015" y="4670246"/>
            <a:ext cx="7315200" cy="914400"/>
          </a:xfrm>
        </p:spPr>
        <p:txBody>
          <a:bodyPr vert="horz" lIns="91440" tIns="45720" rIns="91440" bIns="45720" rtlCol="0">
            <a:normAutofit/>
          </a:bodyPr>
          <a:lstStyle/>
          <a:p>
            <a:r>
              <a:rPr lang="en-GB" b="1" dirty="0">
                <a:solidFill>
                  <a:schemeClr val="tx1"/>
                </a:solidFill>
                <a:ea typeface="+mn-lt"/>
                <a:cs typeface="+mn-lt"/>
              </a:rPr>
              <a:t>Entrepreneurship and Project Management</a:t>
            </a:r>
            <a:r>
              <a:rPr lang="en-GB" b="1" cap="all" dirty="0">
                <a:solidFill>
                  <a:schemeClr val="tx1"/>
                </a:solidFill>
                <a:ea typeface="+mn-lt"/>
                <a:cs typeface="+mn-lt"/>
              </a:rPr>
              <a:t> </a:t>
            </a:r>
            <a:endParaRPr lang="en-US" dirty="0">
              <a:solidFill>
                <a:schemeClr val="tx1"/>
              </a:solidFill>
            </a:endParaRPr>
          </a:p>
          <a:p>
            <a:endParaRPr lang="en-GB" dirty="0">
              <a:solidFill>
                <a:schemeClr val="tx1"/>
              </a:solidFill>
              <a:cs typeface="Calibri"/>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Free download | investment, finance, time, return on investment ...">
            <a:extLst>
              <a:ext uri="{FF2B5EF4-FFF2-40B4-BE49-F238E27FC236}">
                <a16:creationId xmlns:a16="http://schemas.microsoft.com/office/drawing/2014/main" xmlns="" id="{615231E4-FCD7-4F82-A6A4-10F751BB9327}"/>
              </a:ext>
            </a:extLst>
          </p:cNvPr>
          <p:cNvPicPr>
            <a:picLocks noChangeAspect="1"/>
          </p:cNvPicPr>
          <p:nvPr/>
        </p:nvPicPr>
        <p:blipFill>
          <a:blip r:embed="rId2"/>
          <a:stretch>
            <a:fillRect/>
          </a:stretch>
        </p:blipFill>
        <p:spPr>
          <a:xfrm>
            <a:off x="80963" y="-2928"/>
            <a:ext cx="12053885" cy="6863856"/>
          </a:xfrm>
          <a:prstGeom prst="rect">
            <a:avLst/>
          </a:prstGeom>
        </p:spPr>
      </p:pic>
      <p:sp>
        <p:nvSpPr>
          <p:cNvPr id="2" name="Title 1">
            <a:extLst>
              <a:ext uri="{FF2B5EF4-FFF2-40B4-BE49-F238E27FC236}">
                <a16:creationId xmlns:a16="http://schemas.microsoft.com/office/drawing/2014/main" xmlns="" id="{CB4E2738-9BFE-4D89-829F-49B388B26057}"/>
              </a:ext>
            </a:extLst>
          </p:cNvPr>
          <p:cNvSpPr>
            <a:spLocks noGrp="1"/>
          </p:cNvSpPr>
          <p:nvPr>
            <p:ph type="ctrTitle"/>
          </p:nvPr>
        </p:nvSpPr>
        <p:spPr>
          <a:xfrm>
            <a:off x="2809875" y="-8731"/>
            <a:ext cx="9155906" cy="1185070"/>
          </a:xfrm>
        </p:spPr>
        <p:txBody>
          <a:bodyPr/>
          <a:lstStyle/>
          <a:p>
            <a:r>
              <a:rPr lang="en-US" b="1" dirty="0"/>
              <a:t>Entrepreneurial Finance</a:t>
            </a:r>
            <a:endParaRPr lang="en-IN" b="1" dirty="0"/>
          </a:p>
        </p:txBody>
      </p:sp>
    </p:spTree>
    <p:extLst>
      <p:ext uri="{BB962C8B-B14F-4D97-AF65-F5344CB8AC3E}">
        <p14:creationId xmlns:p14="http://schemas.microsoft.com/office/powerpoint/2010/main" val="4856368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xmlns="" id="{79BB35BC-D5C2-4C8B-A22A-A71E619191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95632534-DDC3-4917-A187-5F936C3CCA1C}"/>
              </a:ext>
            </a:extLst>
          </p:cNvPr>
          <p:cNvSpPr>
            <a:spLocks noGrp="1"/>
          </p:cNvSpPr>
          <p:nvPr>
            <p:ph type="title"/>
          </p:nvPr>
        </p:nvSpPr>
        <p:spPr>
          <a:xfrm>
            <a:off x="5616595" y="365125"/>
            <a:ext cx="5737203" cy="996144"/>
          </a:xfrm>
        </p:spPr>
        <p:txBody>
          <a:bodyPr>
            <a:normAutofit/>
          </a:bodyPr>
          <a:lstStyle/>
          <a:p>
            <a:r>
              <a:rPr lang="en-US" b="1" dirty="0">
                <a:ea typeface="+mj-lt"/>
                <a:cs typeface="+mj-lt"/>
              </a:rPr>
              <a:t>Entrepreneurial Finance</a:t>
            </a:r>
            <a:endParaRPr lang="en-US" b="1" dirty="0">
              <a:cs typeface="Calibri Light" panose="020F0302020204030204"/>
            </a:endParaRPr>
          </a:p>
        </p:txBody>
      </p:sp>
      <p:pic>
        <p:nvPicPr>
          <p:cNvPr id="5" name="Picture 4" descr="Light bulb on yellow background with sketched light beams and cord">
            <a:extLst>
              <a:ext uri="{FF2B5EF4-FFF2-40B4-BE49-F238E27FC236}">
                <a16:creationId xmlns:a16="http://schemas.microsoft.com/office/drawing/2014/main" xmlns="" id="{FD851306-DFAF-479E-98C1-C762907DAAEC}"/>
              </a:ext>
            </a:extLst>
          </p:cNvPr>
          <p:cNvPicPr>
            <a:picLocks noChangeAspect="1"/>
          </p:cNvPicPr>
          <p:nvPr/>
        </p:nvPicPr>
        <p:blipFill rotWithShape="1">
          <a:blip r:embed="rId2"/>
          <a:srcRect l="45000" r="149"/>
          <a:stretch/>
        </p:blipFill>
        <p:spPr>
          <a:xfrm>
            <a:off x="20" y="10"/>
            <a:ext cx="519477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xmlns="" id="{F9819E30-1088-4326-BB09-99F3D8E800CE}"/>
              </a:ext>
            </a:extLst>
          </p:cNvPr>
          <p:cNvSpPr>
            <a:spLocks noGrp="1"/>
          </p:cNvSpPr>
          <p:nvPr>
            <p:ph idx="1"/>
          </p:nvPr>
        </p:nvSpPr>
        <p:spPr>
          <a:xfrm>
            <a:off x="5026660" y="1522136"/>
            <a:ext cx="7015396" cy="4962085"/>
          </a:xfrm>
        </p:spPr>
        <p:txBody>
          <a:bodyPr vert="horz" lIns="91440" tIns="45720" rIns="91440" bIns="45720" rtlCol="0" anchor="t">
            <a:noAutofit/>
          </a:bodyPr>
          <a:lstStyle/>
          <a:p>
            <a:pPr algn="just"/>
            <a:r>
              <a:rPr lang="en-US" b="0" i="0" dirty="0">
                <a:effectLst/>
                <a:latin typeface="graphikweb-regular"/>
              </a:rPr>
              <a:t>Entrepreneurial finance </a:t>
            </a:r>
            <a:r>
              <a:rPr lang="en-US" b="0" i="0" dirty="0" smtClean="0">
                <a:effectLst/>
                <a:latin typeface="graphikweb-regular"/>
              </a:rPr>
              <a:t>is a process of acquiring capital and making financial decisions for a new venture or startup.</a:t>
            </a:r>
            <a:endParaRPr lang="en-US" dirty="0">
              <a:cs typeface="Calibri" panose="020F0502020204030204"/>
            </a:endParaRPr>
          </a:p>
          <a:p>
            <a:pPr marL="0" indent="0" algn="just">
              <a:buNone/>
            </a:pPr>
            <a:endParaRPr lang="en-US" dirty="0">
              <a:latin typeface="graphikweb-regular"/>
            </a:endParaRPr>
          </a:p>
          <a:p>
            <a:pPr algn="just"/>
            <a:r>
              <a:rPr lang="en-US" b="1" dirty="0"/>
              <a:t>Importance of Entrepreneurial Finance</a:t>
            </a:r>
            <a:endParaRPr lang="en-US" b="1" dirty="0">
              <a:cs typeface="Calibri" panose="020F0502020204030204"/>
            </a:endParaRPr>
          </a:p>
          <a:p>
            <a:pPr lvl="1" algn="just"/>
            <a:r>
              <a:rPr lang="en-IN" sz="2800" dirty="0">
                <a:ea typeface="+mn-lt"/>
                <a:cs typeface="+mn-lt"/>
              </a:rPr>
              <a:t>Identifying different strategies for different phases of business venture</a:t>
            </a:r>
            <a:endParaRPr lang="en-IN" sz="2800" dirty="0">
              <a:cs typeface="Calibri" panose="020F0502020204030204"/>
            </a:endParaRPr>
          </a:p>
          <a:p>
            <a:pPr lvl="1" algn="just"/>
            <a:r>
              <a:rPr lang="en-IN" sz="2800" dirty="0">
                <a:ea typeface="+mn-lt"/>
                <a:cs typeface="+mn-lt"/>
              </a:rPr>
              <a:t>Maintain regular capital inflows</a:t>
            </a:r>
            <a:endParaRPr lang="en-IN" sz="2800" dirty="0">
              <a:cs typeface="Calibri" panose="020F0502020204030204"/>
            </a:endParaRPr>
          </a:p>
          <a:p>
            <a:pPr lvl="1" algn="just"/>
            <a:r>
              <a:rPr lang="en-IN" sz="2800" dirty="0">
                <a:ea typeface="+mn-lt"/>
                <a:cs typeface="+mn-lt"/>
              </a:rPr>
              <a:t>Planning Capital acquisition</a:t>
            </a:r>
            <a:endParaRPr lang="en-IN" sz="2800" dirty="0">
              <a:cs typeface="Calibri"/>
            </a:endParaRPr>
          </a:p>
        </p:txBody>
      </p:sp>
    </p:spTree>
    <p:extLst>
      <p:ext uri="{BB962C8B-B14F-4D97-AF65-F5344CB8AC3E}">
        <p14:creationId xmlns:p14="http://schemas.microsoft.com/office/powerpoint/2010/main" val="27262851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085C8A-ADAF-48FF-A741-FC16373249B3}"/>
              </a:ext>
            </a:extLst>
          </p:cNvPr>
          <p:cNvSpPr>
            <a:spLocks noGrp="1"/>
          </p:cNvSpPr>
          <p:nvPr>
            <p:ph type="title"/>
          </p:nvPr>
        </p:nvSpPr>
        <p:spPr>
          <a:xfrm>
            <a:off x="252919" y="1123837"/>
            <a:ext cx="2947482" cy="4601183"/>
          </a:xfrm>
        </p:spPr>
        <p:txBody>
          <a:bodyPr>
            <a:normAutofit/>
          </a:bodyPr>
          <a:lstStyle/>
          <a:p>
            <a:r>
              <a:rPr lang="en-GB" dirty="0"/>
              <a:t>Factors determining the capital requirements</a:t>
            </a:r>
            <a:endParaRPr lang="en-GB" b="1" dirty="0"/>
          </a:p>
        </p:txBody>
      </p:sp>
      <p:graphicFrame>
        <p:nvGraphicFramePr>
          <p:cNvPr id="5" name="Content Placeholder 2">
            <a:extLst>
              <a:ext uri="{FF2B5EF4-FFF2-40B4-BE49-F238E27FC236}">
                <a16:creationId xmlns:a16="http://schemas.microsoft.com/office/drawing/2014/main" xmlns="" id="{53DC52FF-B567-44B9-BDFD-4F5649BABB0A}"/>
              </a:ext>
            </a:extLst>
          </p:cNvPr>
          <p:cNvGraphicFramePr>
            <a:graphicFrameLocks noGrp="1"/>
          </p:cNvGraphicFramePr>
          <p:nvPr>
            <p:ph idx="1"/>
            <p:extLst>
              <p:ext uri="{D42A27DB-BD31-4B8C-83A1-F6EECF244321}">
                <p14:modId xmlns:p14="http://schemas.microsoft.com/office/powerpoint/2010/main" val="3956040028"/>
              </p:ext>
            </p:extLst>
          </p:nvPr>
        </p:nvGraphicFramePr>
        <p:xfrm>
          <a:off x="4059935" y="758952"/>
          <a:ext cx="7104549" cy="5330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64240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95632534-DDC3-4917-A187-5F936C3CCA1C}"/>
              </a:ext>
            </a:extLst>
          </p:cNvPr>
          <p:cNvSpPr>
            <a:spLocks noGrp="1"/>
          </p:cNvSpPr>
          <p:nvPr>
            <p:ph type="title"/>
          </p:nvPr>
        </p:nvSpPr>
        <p:spPr>
          <a:xfrm>
            <a:off x="686834" y="1153572"/>
            <a:ext cx="3200400" cy="4461163"/>
          </a:xfrm>
        </p:spPr>
        <p:txBody>
          <a:bodyPr>
            <a:normAutofit/>
          </a:bodyPr>
          <a:lstStyle/>
          <a:p>
            <a:r>
              <a:rPr lang="en-US" b="1" dirty="0">
                <a:solidFill>
                  <a:srgbClr val="FFFFFF"/>
                </a:solidFill>
              </a:rPr>
              <a:t>Classification of Capital</a:t>
            </a:r>
            <a:endParaRPr lang="en-IN" b="1" dirty="0">
              <a:solidFill>
                <a:srgbClr val="FFFFFF"/>
              </a:solidFill>
              <a:cs typeface="Calibri Light"/>
            </a:endParaRPr>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F9819E30-1088-4326-BB09-99F3D8E800CE}"/>
              </a:ext>
            </a:extLst>
          </p:cNvPr>
          <p:cNvSpPr>
            <a:spLocks noGrp="1"/>
          </p:cNvSpPr>
          <p:nvPr>
            <p:ph idx="1"/>
          </p:nvPr>
        </p:nvSpPr>
        <p:spPr>
          <a:xfrm>
            <a:off x="4226083" y="591344"/>
            <a:ext cx="7619328" cy="5585619"/>
          </a:xfrm>
        </p:spPr>
        <p:txBody>
          <a:bodyPr vert="horz" lIns="91440" tIns="45720" rIns="91440" bIns="45720" rtlCol="0" anchor="ctr">
            <a:normAutofit/>
          </a:bodyPr>
          <a:lstStyle/>
          <a:p>
            <a:r>
              <a:rPr lang="en-US" b="1" dirty="0"/>
              <a:t>On the basis of Permanence</a:t>
            </a:r>
          </a:p>
          <a:p>
            <a:pPr lvl="1"/>
            <a:r>
              <a:rPr lang="en-US" sz="2800" dirty="0"/>
              <a:t>Fixed Capital</a:t>
            </a:r>
            <a:endParaRPr lang="en-US" sz="2800" dirty="0">
              <a:cs typeface="Calibri"/>
            </a:endParaRPr>
          </a:p>
          <a:p>
            <a:pPr lvl="2"/>
            <a:r>
              <a:rPr lang="en-US" sz="2400" dirty="0"/>
              <a:t>Is also known as Block Capital.</a:t>
            </a:r>
            <a:endParaRPr lang="en-US" sz="2400" dirty="0">
              <a:cs typeface="Calibri"/>
            </a:endParaRPr>
          </a:p>
          <a:p>
            <a:pPr lvl="2" algn="just"/>
            <a:r>
              <a:rPr lang="en-US" sz="2400" dirty="0"/>
              <a:t>“Is the fund required for the acquisition of those assets that are to be used over a long period such as Land, Building, Machinery, Equipment and Tools”.</a:t>
            </a:r>
            <a:endParaRPr lang="en-US" sz="2400" dirty="0">
              <a:cs typeface="Calibri" panose="020F0502020204030204"/>
            </a:endParaRPr>
          </a:p>
          <a:p>
            <a:pPr lvl="1"/>
            <a:r>
              <a:rPr lang="en-US" sz="2800" dirty="0"/>
              <a:t>Working Capital</a:t>
            </a:r>
            <a:endParaRPr lang="en-US" sz="2800" dirty="0">
              <a:cs typeface="Calibri"/>
            </a:endParaRPr>
          </a:p>
          <a:p>
            <a:pPr lvl="2"/>
            <a:r>
              <a:rPr lang="en-US" sz="2400" dirty="0"/>
              <a:t>Is also known as Circulating Capital.</a:t>
            </a:r>
            <a:endParaRPr lang="en-US" sz="2400" dirty="0">
              <a:cs typeface="Calibri"/>
            </a:endParaRPr>
          </a:p>
          <a:p>
            <a:pPr lvl="2"/>
            <a:r>
              <a:rPr lang="en-US" sz="2400" dirty="0"/>
              <a:t>Is the money invested in Current assets like Raw Materials, Finished goods, Debtors etc.”</a:t>
            </a:r>
            <a:endParaRPr lang="en-US" sz="2400" dirty="0">
              <a:cs typeface="Calibri"/>
            </a:endParaRPr>
          </a:p>
        </p:txBody>
      </p:sp>
    </p:spTree>
    <p:extLst>
      <p:ext uri="{BB962C8B-B14F-4D97-AF65-F5344CB8AC3E}">
        <p14:creationId xmlns:p14="http://schemas.microsoft.com/office/powerpoint/2010/main" val="14697694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827B839B-9ADE-406B-8590-F1CAEDED45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45">
            <a:extLst>
              <a:ext uri="{FF2B5EF4-FFF2-40B4-BE49-F238E27FC236}">
                <a16:creationId xmlns:a16="http://schemas.microsoft.com/office/drawing/2014/main" xmlns="" id="{CFE45BF0-46DB-408C-B5F7-7B11716805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46">
            <a:extLst>
              <a:ext uri="{FF2B5EF4-FFF2-40B4-BE49-F238E27FC236}">
                <a16:creationId xmlns:a16="http://schemas.microsoft.com/office/drawing/2014/main" xmlns="" id="{2AEBC8F2-97B1-41B4-93F1-2D289E197F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47">
            <a:extLst>
              <a:ext uri="{FF2B5EF4-FFF2-40B4-BE49-F238E27FC236}">
                <a16:creationId xmlns:a16="http://schemas.microsoft.com/office/drawing/2014/main" xmlns="" id="{472E3A19-F5D5-48FC-BB9C-48C2F68F598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44">
            <a:extLst>
              <a:ext uri="{FF2B5EF4-FFF2-40B4-BE49-F238E27FC236}">
                <a16:creationId xmlns:a16="http://schemas.microsoft.com/office/drawing/2014/main" xmlns="" id="{7A62E32F-BB65-43A8-8EB5-92346890E54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Rectangle 17">
            <a:extLst>
              <a:ext uri="{FF2B5EF4-FFF2-40B4-BE49-F238E27FC236}">
                <a16:creationId xmlns:a16="http://schemas.microsoft.com/office/drawing/2014/main" xmlns="" id="{14E91B64-9FCC-451E-AFB4-A827D6329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Title 1">
            <a:extLst>
              <a:ext uri="{FF2B5EF4-FFF2-40B4-BE49-F238E27FC236}">
                <a16:creationId xmlns:a16="http://schemas.microsoft.com/office/drawing/2014/main" xmlns="" id="{95632534-DDC3-4917-A187-5F936C3CCA1C}"/>
              </a:ext>
            </a:extLst>
          </p:cNvPr>
          <p:cNvSpPr>
            <a:spLocks noGrp="1"/>
          </p:cNvSpPr>
          <p:nvPr>
            <p:ph type="title"/>
          </p:nvPr>
        </p:nvSpPr>
        <p:spPr>
          <a:xfrm>
            <a:off x="958506" y="800392"/>
            <a:ext cx="10264697" cy="1212102"/>
          </a:xfrm>
        </p:spPr>
        <p:txBody>
          <a:bodyPr>
            <a:normAutofit/>
          </a:bodyPr>
          <a:lstStyle/>
          <a:p>
            <a:r>
              <a:rPr lang="en-US" sz="4000" b="1" dirty="0">
                <a:solidFill>
                  <a:srgbClr val="FFFFFF"/>
                </a:solidFill>
              </a:rPr>
              <a:t>Classification of Capital</a:t>
            </a:r>
            <a:endParaRPr lang="en-IN" sz="4000" b="1" dirty="0">
              <a:solidFill>
                <a:srgbClr val="FFFFFF"/>
              </a:solidFill>
              <a:cs typeface="Calibri Light"/>
            </a:endParaRPr>
          </a:p>
        </p:txBody>
      </p:sp>
      <p:sp>
        <p:nvSpPr>
          <p:cNvPr id="3" name="Content Placeholder 2">
            <a:extLst>
              <a:ext uri="{FF2B5EF4-FFF2-40B4-BE49-F238E27FC236}">
                <a16:creationId xmlns:a16="http://schemas.microsoft.com/office/drawing/2014/main" xmlns="" id="{F9819E30-1088-4326-BB09-99F3D8E800CE}"/>
              </a:ext>
            </a:extLst>
          </p:cNvPr>
          <p:cNvSpPr>
            <a:spLocks noGrp="1"/>
          </p:cNvSpPr>
          <p:nvPr>
            <p:ph idx="1"/>
          </p:nvPr>
        </p:nvSpPr>
        <p:spPr>
          <a:xfrm>
            <a:off x="814560" y="2170888"/>
            <a:ext cx="10741381" cy="4648720"/>
          </a:xfrm>
        </p:spPr>
        <p:txBody>
          <a:bodyPr vert="horz" lIns="91440" tIns="45720" rIns="91440" bIns="45720" rtlCol="0" anchor="ctr">
            <a:normAutofit/>
          </a:bodyPr>
          <a:lstStyle/>
          <a:p>
            <a:r>
              <a:rPr lang="en-US" b="1" dirty="0"/>
              <a:t>On the basis of Period of Use</a:t>
            </a:r>
            <a:endParaRPr lang="en-US" dirty="0">
              <a:cs typeface="Calibri"/>
            </a:endParaRPr>
          </a:p>
          <a:p>
            <a:pPr lvl="1"/>
            <a:r>
              <a:rPr lang="en-US" sz="2800" b="1" dirty="0"/>
              <a:t>Long Term Capital</a:t>
            </a:r>
            <a:endParaRPr lang="en-US" sz="2800" b="1" dirty="0">
              <a:cs typeface="Calibri"/>
            </a:endParaRPr>
          </a:p>
          <a:p>
            <a:pPr lvl="2"/>
            <a:r>
              <a:rPr lang="en-US" sz="2800" dirty="0"/>
              <a:t>Is such money whose repayment is arranged for more than 5 years in future</a:t>
            </a:r>
            <a:endParaRPr lang="en-US" sz="2800" dirty="0">
              <a:cs typeface="Calibri"/>
            </a:endParaRPr>
          </a:p>
          <a:p>
            <a:pPr lvl="2"/>
            <a:r>
              <a:rPr lang="en-US" sz="2800" dirty="0"/>
              <a:t>Sources – Owner’s Equity, Term Loans from Financial Institutions, Credit Facilities from Banks etc.</a:t>
            </a:r>
            <a:endParaRPr lang="en-US" sz="2800" dirty="0">
              <a:cs typeface="Calibri"/>
            </a:endParaRPr>
          </a:p>
          <a:p>
            <a:pPr lvl="1"/>
            <a:r>
              <a:rPr lang="en-US" sz="2800" b="1" dirty="0"/>
              <a:t>Short Term Capital </a:t>
            </a:r>
            <a:endParaRPr lang="en-US" sz="2800" b="1" dirty="0">
              <a:cs typeface="Calibri"/>
            </a:endParaRPr>
          </a:p>
          <a:p>
            <a:pPr lvl="2"/>
            <a:r>
              <a:rPr lang="en-US" sz="2800" dirty="0"/>
              <a:t>Is borrowed capital that is to be repaid within one year.</a:t>
            </a:r>
            <a:endParaRPr lang="en-US" sz="2800" dirty="0">
              <a:cs typeface="Calibri"/>
            </a:endParaRPr>
          </a:p>
          <a:p>
            <a:pPr lvl="2"/>
            <a:r>
              <a:rPr lang="en-US" sz="2800" dirty="0"/>
              <a:t>Sources -  Bank Borrowings, Deposits or Borrowings</a:t>
            </a:r>
            <a:endParaRPr lang="en-US" sz="2800" dirty="0">
              <a:cs typeface="Calibri"/>
            </a:endParaRPr>
          </a:p>
        </p:txBody>
      </p:sp>
    </p:spTree>
    <p:extLst>
      <p:ext uri="{BB962C8B-B14F-4D97-AF65-F5344CB8AC3E}">
        <p14:creationId xmlns:p14="http://schemas.microsoft.com/office/powerpoint/2010/main" val="7537959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DA429F-BEC2-426A-8401-C4E4D0B9440B}"/>
              </a:ext>
            </a:extLst>
          </p:cNvPr>
          <p:cNvSpPr>
            <a:spLocks noGrp="1"/>
          </p:cNvSpPr>
          <p:nvPr>
            <p:ph type="title"/>
          </p:nvPr>
        </p:nvSpPr>
        <p:spPr>
          <a:xfrm>
            <a:off x="252919" y="1123837"/>
            <a:ext cx="2947482" cy="4601183"/>
          </a:xfrm>
        </p:spPr>
        <p:txBody>
          <a:bodyPr>
            <a:normAutofit/>
          </a:bodyPr>
          <a:lstStyle/>
          <a:p>
            <a:pPr algn="ctr"/>
            <a:r>
              <a:rPr lang="en-GB" b="1" dirty="0"/>
              <a:t>Classification of Capital</a:t>
            </a:r>
            <a:endParaRPr lang="en-US" dirty="0"/>
          </a:p>
        </p:txBody>
      </p:sp>
      <p:graphicFrame>
        <p:nvGraphicFramePr>
          <p:cNvPr id="5" name="Content Placeholder 2">
            <a:extLst>
              <a:ext uri="{FF2B5EF4-FFF2-40B4-BE49-F238E27FC236}">
                <a16:creationId xmlns:a16="http://schemas.microsoft.com/office/drawing/2014/main" xmlns="" id="{7B429AC9-E8F6-4542-9169-585019B81A01}"/>
              </a:ext>
            </a:extLst>
          </p:cNvPr>
          <p:cNvGraphicFramePr>
            <a:graphicFrameLocks noGrp="1"/>
          </p:cNvGraphicFramePr>
          <p:nvPr>
            <p:ph idx="1"/>
            <p:extLst>
              <p:ext uri="{D42A27DB-BD31-4B8C-83A1-F6EECF244321}">
                <p14:modId xmlns:p14="http://schemas.microsoft.com/office/powerpoint/2010/main" val="229261838"/>
              </p:ext>
            </p:extLst>
          </p:nvPr>
        </p:nvGraphicFramePr>
        <p:xfrm>
          <a:off x="4059935" y="758952"/>
          <a:ext cx="7104549" cy="5330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815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1E658C22-2BBB-4CC7-AC94-BA42B45B407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xmlns="" id="{26E714D6-B8AE-4EAF-80CA-1900AE36402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xmlns="" id="{BC512124-0D13-4ED9-80B7-52AE15B6B41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Stock numbers on a digital display">
            <a:extLst>
              <a:ext uri="{FF2B5EF4-FFF2-40B4-BE49-F238E27FC236}">
                <a16:creationId xmlns:a16="http://schemas.microsoft.com/office/drawing/2014/main" xmlns="" id="{52C32C2C-16EE-4B7A-AF6B-3500E05161FD}"/>
              </a:ext>
            </a:extLst>
          </p:cNvPr>
          <p:cNvPicPr>
            <a:picLocks noChangeAspect="1"/>
          </p:cNvPicPr>
          <p:nvPr/>
        </p:nvPicPr>
        <p:blipFill rotWithShape="1">
          <a:blip r:embed="rId2">
            <a:alphaModFix amt="35000"/>
          </a:blip>
          <a:srcRect r="-2" b="3596"/>
          <a:stretch/>
        </p:blipFill>
        <p:spPr>
          <a:xfrm>
            <a:off x="20" y="10"/>
            <a:ext cx="12191980" cy="6857990"/>
          </a:xfrm>
          <a:prstGeom prst="rect">
            <a:avLst/>
          </a:prstGeom>
        </p:spPr>
      </p:pic>
      <p:sp>
        <p:nvSpPr>
          <p:cNvPr id="2" name="Title 1">
            <a:extLst>
              <a:ext uri="{FF2B5EF4-FFF2-40B4-BE49-F238E27FC236}">
                <a16:creationId xmlns:a16="http://schemas.microsoft.com/office/drawing/2014/main" xmlns="" id="{05B313CC-D9CD-48DC-8102-0D2159F243A5}"/>
              </a:ext>
            </a:extLst>
          </p:cNvPr>
          <p:cNvSpPr>
            <a:spLocks noGrp="1"/>
          </p:cNvSpPr>
          <p:nvPr>
            <p:ph type="title"/>
          </p:nvPr>
        </p:nvSpPr>
        <p:spPr>
          <a:xfrm>
            <a:off x="1069848" y="1298448"/>
            <a:ext cx="7315200" cy="3255264"/>
          </a:xfrm>
        </p:spPr>
        <p:txBody>
          <a:bodyPr vert="horz" lIns="91440" tIns="45720" rIns="91440" bIns="45720" rtlCol="0" anchor="b">
            <a:normAutofit/>
          </a:bodyPr>
          <a:lstStyle/>
          <a:p>
            <a:r>
              <a:rPr lang="en-US" sz="5900" spc="-100" dirty="0">
                <a:solidFill>
                  <a:schemeClr val="tx1"/>
                </a:solidFill>
              </a:rPr>
              <a:t>Fixed Capital</a:t>
            </a:r>
          </a:p>
        </p:txBody>
      </p:sp>
    </p:spTree>
    <p:extLst>
      <p:ext uri="{BB962C8B-B14F-4D97-AF65-F5344CB8AC3E}">
        <p14:creationId xmlns:p14="http://schemas.microsoft.com/office/powerpoint/2010/main" val="1726665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32534-DDC3-4917-A187-5F936C3CCA1C}"/>
              </a:ext>
            </a:extLst>
          </p:cNvPr>
          <p:cNvSpPr>
            <a:spLocks noGrp="1"/>
          </p:cNvSpPr>
          <p:nvPr>
            <p:ph type="title"/>
          </p:nvPr>
        </p:nvSpPr>
        <p:spPr>
          <a:xfrm>
            <a:off x="0" y="0"/>
            <a:ext cx="12192000" cy="981075"/>
          </a:xfrm>
        </p:spPr>
        <p:txBody>
          <a:bodyPr>
            <a:normAutofit/>
          </a:bodyPr>
          <a:lstStyle/>
          <a:p>
            <a:pPr algn="ctr"/>
            <a:r>
              <a:rPr lang="en-US" b="1" dirty="0"/>
              <a:t>Factors Determining Fixed Capital Requirement</a:t>
            </a:r>
            <a:endParaRPr lang="en-IN" b="1">
              <a:cs typeface="Calibri Light"/>
            </a:endParaRPr>
          </a:p>
        </p:txBody>
      </p:sp>
      <p:sp>
        <p:nvSpPr>
          <p:cNvPr id="3" name="Content Placeholder 2">
            <a:extLst>
              <a:ext uri="{FF2B5EF4-FFF2-40B4-BE49-F238E27FC236}">
                <a16:creationId xmlns:a16="http://schemas.microsoft.com/office/drawing/2014/main" xmlns="" id="{F9819E30-1088-4326-BB09-99F3D8E800CE}"/>
              </a:ext>
            </a:extLst>
          </p:cNvPr>
          <p:cNvSpPr>
            <a:spLocks noGrp="1"/>
          </p:cNvSpPr>
          <p:nvPr>
            <p:ph idx="1"/>
          </p:nvPr>
        </p:nvSpPr>
        <p:spPr>
          <a:xfrm>
            <a:off x="1" y="981075"/>
            <a:ext cx="6096000" cy="5876925"/>
          </a:xfrm>
        </p:spPr>
        <p:txBody>
          <a:bodyPr>
            <a:normAutofit fontScale="70000" lnSpcReduction="20000"/>
          </a:bodyPr>
          <a:lstStyle/>
          <a:p>
            <a:pPr>
              <a:lnSpc>
                <a:spcPct val="150000"/>
              </a:lnSpc>
            </a:pPr>
            <a:r>
              <a:rPr lang="en-US" b="1" dirty="0"/>
              <a:t>Nature or Character of Business</a:t>
            </a:r>
          </a:p>
          <a:p>
            <a:pPr lvl="1">
              <a:lnSpc>
                <a:spcPct val="150000"/>
              </a:lnSpc>
            </a:pPr>
            <a:r>
              <a:rPr lang="en-US" dirty="0"/>
              <a:t>Manufacturing</a:t>
            </a:r>
          </a:p>
          <a:p>
            <a:pPr lvl="1">
              <a:lnSpc>
                <a:spcPct val="150000"/>
              </a:lnSpc>
            </a:pPr>
            <a:r>
              <a:rPr lang="en-US" dirty="0"/>
              <a:t>Public Utilities(govt companies)</a:t>
            </a:r>
          </a:p>
          <a:p>
            <a:pPr lvl="1">
              <a:lnSpc>
                <a:spcPct val="150000"/>
              </a:lnSpc>
            </a:pPr>
            <a:r>
              <a:rPr lang="en-US" dirty="0"/>
              <a:t>Trading and Finance</a:t>
            </a:r>
          </a:p>
          <a:p>
            <a:pPr>
              <a:lnSpc>
                <a:spcPct val="150000"/>
              </a:lnSpc>
            </a:pPr>
            <a:r>
              <a:rPr lang="en-US" b="1" dirty="0"/>
              <a:t>Size of Business</a:t>
            </a:r>
          </a:p>
          <a:p>
            <a:pPr lvl="1">
              <a:lnSpc>
                <a:spcPct val="150000"/>
              </a:lnSpc>
            </a:pPr>
            <a:r>
              <a:rPr lang="en-US" dirty="0"/>
              <a:t>Small Business</a:t>
            </a:r>
          </a:p>
          <a:p>
            <a:pPr lvl="1">
              <a:lnSpc>
                <a:spcPct val="150000"/>
              </a:lnSpc>
            </a:pPr>
            <a:r>
              <a:rPr lang="en-US" dirty="0"/>
              <a:t>Large Business</a:t>
            </a:r>
          </a:p>
          <a:p>
            <a:pPr>
              <a:lnSpc>
                <a:spcPct val="150000"/>
              </a:lnSpc>
            </a:pPr>
            <a:r>
              <a:rPr lang="en-US" b="1" dirty="0"/>
              <a:t>Type of Business</a:t>
            </a:r>
          </a:p>
          <a:p>
            <a:pPr lvl="1">
              <a:lnSpc>
                <a:spcPct val="150000"/>
              </a:lnSpc>
            </a:pPr>
            <a:r>
              <a:rPr lang="en-US" dirty="0"/>
              <a:t>Capital Intensive</a:t>
            </a:r>
          </a:p>
          <a:p>
            <a:pPr lvl="1">
              <a:lnSpc>
                <a:spcPct val="150000"/>
              </a:lnSpc>
            </a:pPr>
            <a:r>
              <a:rPr lang="en-US" dirty="0"/>
              <a:t>Labor Intensive</a:t>
            </a:r>
          </a:p>
          <a:p>
            <a:pPr>
              <a:lnSpc>
                <a:spcPct val="150000"/>
              </a:lnSpc>
            </a:pPr>
            <a:r>
              <a:rPr lang="en-US" b="1" dirty="0"/>
              <a:t>Production Techniques</a:t>
            </a:r>
          </a:p>
          <a:p>
            <a:pPr lvl="1">
              <a:lnSpc>
                <a:spcPct val="150000"/>
              </a:lnSpc>
            </a:pPr>
            <a:r>
              <a:rPr lang="en-US" dirty="0"/>
              <a:t>Automated</a:t>
            </a:r>
          </a:p>
          <a:p>
            <a:pPr lvl="1">
              <a:lnSpc>
                <a:spcPct val="150000"/>
              </a:lnSpc>
            </a:pPr>
            <a:r>
              <a:rPr lang="en-US" dirty="0"/>
              <a:t>Simple</a:t>
            </a:r>
          </a:p>
        </p:txBody>
      </p:sp>
      <p:sp>
        <p:nvSpPr>
          <p:cNvPr id="4" name="Content Placeholder 2">
            <a:extLst>
              <a:ext uri="{FF2B5EF4-FFF2-40B4-BE49-F238E27FC236}">
                <a16:creationId xmlns:a16="http://schemas.microsoft.com/office/drawing/2014/main" xmlns="" id="{EDE0A615-FE03-4921-BC4A-25685A6226E4}"/>
              </a:ext>
            </a:extLst>
          </p:cNvPr>
          <p:cNvSpPr txBox="1">
            <a:spLocks/>
          </p:cNvSpPr>
          <p:nvPr/>
        </p:nvSpPr>
        <p:spPr>
          <a:xfrm>
            <a:off x="6096000" y="866775"/>
            <a:ext cx="6095999" cy="599122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b="1" dirty="0" smtClean="0"/>
              <a:t>Cost </a:t>
            </a:r>
            <a:r>
              <a:rPr lang="en-US" b="1" dirty="0"/>
              <a:t>of Non-Current and Intangible Assets</a:t>
            </a:r>
          </a:p>
          <a:p>
            <a:pPr lvl="1">
              <a:lnSpc>
                <a:spcPct val="150000"/>
              </a:lnSpc>
            </a:pPr>
            <a:r>
              <a:rPr lang="en-US" dirty="0"/>
              <a:t>Preliminary Expenses</a:t>
            </a:r>
          </a:p>
          <a:p>
            <a:pPr lvl="1">
              <a:lnSpc>
                <a:spcPct val="150000"/>
              </a:lnSpc>
            </a:pPr>
            <a:r>
              <a:rPr lang="en-US" dirty="0"/>
              <a:t>Cost of Establishment</a:t>
            </a:r>
          </a:p>
          <a:p>
            <a:pPr lvl="1">
              <a:lnSpc>
                <a:spcPct val="150000"/>
              </a:lnSpc>
            </a:pPr>
            <a:r>
              <a:rPr lang="en-US" dirty="0"/>
              <a:t>Patents</a:t>
            </a:r>
          </a:p>
          <a:p>
            <a:pPr lvl="1">
              <a:lnSpc>
                <a:spcPct val="150000"/>
              </a:lnSpc>
            </a:pPr>
            <a:r>
              <a:rPr lang="en-US" dirty="0"/>
              <a:t>Goodwill</a:t>
            </a:r>
          </a:p>
          <a:p>
            <a:pPr lvl="1">
              <a:lnSpc>
                <a:spcPct val="150000"/>
              </a:lnSpc>
            </a:pPr>
            <a:r>
              <a:rPr lang="en-US" dirty="0"/>
              <a:t>Copyrights</a:t>
            </a:r>
          </a:p>
          <a:p>
            <a:pPr>
              <a:lnSpc>
                <a:spcPct val="150000"/>
              </a:lnSpc>
            </a:pPr>
            <a:r>
              <a:rPr lang="en-US" b="1" dirty="0"/>
              <a:t>Mode of Acquisition of Fixed Assets</a:t>
            </a:r>
          </a:p>
          <a:p>
            <a:pPr lvl="1">
              <a:lnSpc>
                <a:spcPct val="150000"/>
              </a:lnSpc>
            </a:pPr>
            <a:r>
              <a:rPr lang="en-US" dirty="0"/>
              <a:t>Outright Purchase</a:t>
            </a:r>
          </a:p>
          <a:p>
            <a:pPr lvl="1">
              <a:lnSpc>
                <a:spcPct val="150000"/>
              </a:lnSpc>
            </a:pPr>
            <a:r>
              <a:rPr lang="en-US" dirty="0"/>
              <a:t>Lease or Hire</a:t>
            </a:r>
          </a:p>
        </p:txBody>
      </p:sp>
    </p:spTree>
    <p:extLst>
      <p:ext uri="{BB962C8B-B14F-4D97-AF65-F5344CB8AC3E}">
        <p14:creationId xmlns:p14="http://schemas.microsoft.com/office/powerpoint/2010/main" val="1361496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1E658C22-2BBB-4CC7-AC94-BA42B45B407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xmlns="" id="{26E714D6-B8AE-4EAF-80CA-1900AE36402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xmlns="" id="{BC512124-0D13-4ED9-80B7-52AE15B6B41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on document with pen">
            <a:extLst>
              <a:ext uri="{FF2B5EF4-FFF2-40B4-BE49-F238E27FC236}">
                <a16:creationId xmlns:a16="http://schemas.microsoft.com/office/drawing/2014/main" xmlns="" id="{E9A0E442-02CB-4449-A166-3DC4BB546D51}"/>
              </a:ext>
            </a:extLst>
          </p:cNvPr>
          <p:cNvPicPr>
            <a:picLocks noChangeAspect="1"/>
          </p:cNvPicPr>
          <p:nvPr/>
        </p:nvPicPr>
        <p:blipFill rotWithShape="1">
          <a:blip r:embed="rId2">
            <a:alphaModFix amt="35000"/>
          </a:blip>
          <a:srcRect t="983" r="-2" b="14619"/>
          <a:stretch/>
        </p:blipFill>
        <p:spPr>
          <a:xfrm>
            <a:off x="20" y="10"/>
            <a:ext cx="12191980" cy="6857990"/>
          </a:xfrm>
          <a:prstGeom prst="rect">
            <a:avLst/>
          </a:prstGeom>
        </p:spPr>
      </p:pic>
      <p:sp>
        <p:nvSpPr>
          <p:cNvPr id="2" name="Title 1">
            <a:extLst>
              <a:ext uri="{FF2B5EF4-FFF2-40B4-BE49-F238E27FC236}">
                <a16:creationId xmlns:a16="http://schemas.microsoft.com/office/drawing/2014/main" xmlns="" id="{B06178DF-52C3-413C-8B37-FE619E89261A}"/>
              </a:ext>
            </a:extLst>
          </p:cNvPr>
          <p:cNvSpPr>
            <a:spLocks noGrp="1"/>
          </p:cNvSpPr>
          <p:nvPr>
            <p:ph type="title"/>
          </p:nvPr>
        </p:nvSpPr>
        <p:spPr>
          <a:xfrm>
            <a:off x="1069848" y="1298448"/>
            <a:ext cx="7315200" cy="3255264"/>
          </a:xfrm>
        </p:spPr>
        <p:txBody>
          <a:bodyPr vert="horz" lIns="91440" tIns="45720" rIns="91440" bIns="45720" rtlCol="0" anchor="b">
            <a:normAutofit/>
          </a:bodyPr>
          <a:lstStyle/>
          <a:p>
            <a:r>
              <a:rPr lang="en-US" sz="5900" spc="-100">
                <a:solidFill>
                  <a:schemeClr val="tx1"/>
                </a:solidFill>
              </a:rPr>
              <a:t>Working Capital</a:t>
            </a:r>
          </a:p>
        </p:txBody>
      </p:sp>
    </p:spTree>
    <p:extLst>
      <p:ext uri="{BB962C8B-B14F-4D97-AF65-F5344CB8AC3E}">
        <p14:creationId xmlns:p14="http://schemas.microsoft.com/office/powerpoint/2010/main" val="5800471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xmlns="" id="{0ED7D299-072B-4BF6-A359-0BE180D21A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xmlns="" id="{03605138-1C68-4F6B-A3AA-5C659898652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758952"/>
            <a:ext cx="7052486"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xmlns="" id="{C86EA5E1-F038-421D-BC6B-8BF256B161C8}"/>
              </a:ext>
            </a:extLst>
          </p:cNvPr>
          <p:cNvSpPr>
            <a:spLocks noGrp="1"/>
          </p:cNvSpPr>
          <p:nvPr>
            <p:ph type="title"/>
          </p:nvPr>
        </p:nvSpPr>
        <p:spPr>
          <a:xfrm>
            <a:off x="289248" y="1123837"/>
            <a:ext cx="6451110" cy="1255469"/>
          </a:xfrm>
        </p:spPr>
        <p:txBody>
          <a:bodyPr>
            <a:normAutofit/>
          </a:bodyPr>
          <a:lstStyle/>
          <a:p>
            <a:r>
              <a:rPr lang="en-GB" b="1"/>
              <a:t>Working Capital</a:t>
            </a:r>
          </a:p>
        </p:txBody>
      </p:sp>
      <p:sp>
        <p:nvSpPr>
          <p:cNvPr id="3" name="Content Placeholder 2">
            <a:extLst>
              <a:ext uri="{FF2B5EF4-FFF2-40B4-BE49-F238E27FC236}">
                <a16:creationId xmlns:a16="http://schemas.microsoft.com/office/drawing/2014/main" xmlns="" id="{9C05175A-B482-44FD-B329-3D69BEA22C5B}"/>
              </a:ext>
            </a:extLst>
          </p:cNvPr>
          <p:cNvSpPr>
            <a:spLocks noGrp="1"/>
          </p:cNvSpPr>
          <p:nvPr>
            <p:ph idx="1"/>
          </p:nvPr>
        </p:nvSpPr>
        <p:spPr>
          <a:xfrm>
            <a:off x="289248" y="2510395"/>
            <a:ext cx="6451109" cy="3274586"/>
          </a:xfrm>
        </p:spPr>
        <p:txBody>
          <a:bodyPr anchor="t">
            <a:normAutofit/>
          </a:bodyPr>
          <a:lstStyle/>
          <a:p>
            <a:r>
              <a:rPr lang="en-GB" sz="2800" dirty="0">
                <a:solidFill>
                  <a:srgbClr val="FFFFFF"/>
                </a:solidFill>
              </a:rPr>
              <a:t>Revolving or Circulating or Short-term Capital</a:t>
            </a:r>
            <a:endParaRPr lang="en-US" sz="2800" dirty="0">
              <a:solidFill>
                <a:srgbClr val="FFFFFF"/>
              </a:solidFill>
            </a:endParaRPr>
          </a:p>
          <a:p>
            <a:pPr marL="0" indent="0">
              <a:buNone/>
            </a:pPr>
            <a:r>
              <a:rPr lang="en-GB" sz="2800" dirty="0">
                <a:solidFill>
                  <a:srgbClr val="FFFFFF"/>
                </a:solidFill>
                <a:ea typeface="+mn-lt"/>
                <a:cs typeface="+mn-lt"/>
              </a:rPr>
              <a:t>According to </a:t>
            </a:r>
            <a:r>
              <a:rPr lang="en-GB" sz="2800" b="1" dirty="0">
                <a:solidFill>
                  <a:srgbClr val="FFFFFF"/>
                </a:solidFill>
                <a:ea typeface="+mn-lt"/>
                <a:cs typeface="+mn-lt"/>
              </a:rPr>
              <a:t>Shubin</a:t>
            </a:r>
          </a:p>
          <a:p>
            <a:r>
              <a:rPr lang="en-GB" sz="2800" dirty="0">
                <a:solidFill>
                  <a:srgbClr val="FFFFFF"/>
                </a:solidFill>
                <a:ea typeface="+mn-lt"/>
                <a:cs typeface="+mn-lt"/>
              </a:rPr>
              <a:t>“ Working capital is the amount of funds necessary to cover the cost of operating the enterprise” </a:t>
            </a:r>
            <a:endParaRPr lang="en-GB" sz="2800" dirty="0">
              <a:solidFill>
                <a:srgbClr val="FFFFFF"/>
              </a:solidFill>
            </a:endParaRPr>
          </a:p>
          <a:p>
            <a:endParaRPr lang="en-GB">
              <a:solidFill>
                <a:srgbClr val="FFFFFF"/>
              </a:solidFill>
            </a:endParaRPr>
          </a:p>
        </p:txBody>
      </p:sp>
      <p:pic>
        <p:nvPicPr>
          <p:cNvPr id="7" name="Graphic 6" descr="Euro">
            <a:extLst>
              <a:ext uri="{FF2B5EF4-FFF2-40B4-BE49-F238E27FC236}">
                <a16:creationId xmlns:a16="http://schemas.microsoft.com/office/drawing/2014/main" xmlns="" id="{76AB6B19-74EE-480A-850B-CAABF41EBF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7552944" y="1535134"/>
            <a:ext cx="3778286" cy="3778286"/>
          </a:xfrm>
          <a:prstGeom prst="rect">
            <a:avLst/>
          </a:prstGeom>
        </p:spPr>
      </p:pic>
      <p:sp>
        <p:nvSpPr>
          <p:cNvPr id="43" name="Rectangle 42">
            <a:extLst>
              <a:ext uri="{FF2B5EF4-FFF2-40B4-BE49-F238E27FC236}">
                <a16:creationId xmlns:a16="http://schemas.microsoft.com/office/drawing/2014/main" xmlns="" id="{7F6F248D-01B8-4491-9506-88EAB82A75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78337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32534-DDC3-4917-A187-5F936C3CCA1C}"/>
              </a:ext>
            </a:extLst>
          </p:cNvPr>
          <p:cNvSpPr>
            <a:spLocks noGrp="1"/>
          </p:cNvSpPr>
          <p:nvPr>
            <p:ph type="title"/>
          </p:nvPr>
        </p:nvSpPr>
        <p:spPr>
          <a:xfrm>
            <a:off x="0" y="0"/>
            <a:ext cx="12192000" cy="742239"/>
          </a:xfrm>
        </p:spPr>
        <p:txBody>
          <a:bodyPr>
            <a:normAutofit/>
          </a:bodyPr>
          <a:lstStyle/>
          <a:p>
            <a:pPr algn="ctr"/>
            <a:r>
              <a:rPr lang="en-US" b="1" dirty="0"/>
              <a:t>Working Capital Classification</a:t>
            </a:r>
            <a:endParaRPr lang="en-IN" b="1">
              <a:cs typeface="Calibri Light"/>
            </a:endParaRPr>
          </a:p>
        </p:txBody>
      </p:sp>
      <p:graphicFrame>
        <p:nvGraphicFramePr>
          <p:cNvPr id="5" name="Content Placeholder 4">
            <a:extLst>
              <a:ext uri="{FF2B5EF4-FFF2-40B4-BE49-F238E27FC236}">
                <a16:creationId xmlns:a16="http://schemas.microsoft.com/office/drawing/2014/main" xmlns="" id="{44E06B3A-CEF9-4572-B5AB-B079C13D7158}"/>
              </a:ext>
            </a:extLst>
          </p:cNvPr>
          <p:cNvGraphicFramePr>
            <a:graphicFrameLocks noGrp="1"/>
          </p:cNvGraphicFramePr>
          <p:nvPr>
            <p:ph idx="1"/>
            <p:extLst>
              <p:ext uri="{D42A27DB-BD31-4B8C-83A1-F6EECF244321}">
                <p14:modId xmlns:p14="http://schemas.microsoft.com/office/powerpoint/2010/main" val="3408232941"/>
              </p:ext>
            </p:extLst>
          </p:nvPr>
        </p:nvGraphicFramePr>
        <p:xfrm>
          <a:off x="1" y="730867"/>
          <a:ext cx="12192000" cy="61271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9004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tint val="95000"/>
            <a:satMod val="17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11E78239-D1AA-4363-A29F-EAE5EAFB87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7013"/>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xmlns="" id="{133FFD14-5A9F-4A16-B322-FC579C2EE0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758952"/>
            <a:ext cx="8008542" cy="53309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xmlns="" id="{863A2C81-E536-42E0-B937-14ACD6F2EE7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136729"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8B1DB6E-475D-4216-8704-C764E7AAE324}"/>
              </a:ext>
            </a:extLst>
          </p:cNvPr>
          <p:cNvSpPr>
            <a:spLocks noGrp="1"/>
          </p:cNvSpPr>
          <p:nvPr>
            <p:ph type="title"/>
          </p:nvPr>
        </p:nvSpPr>
        <p:spPr>
          <a:xfrm>
            <a:off x="8389648" y="1123837"/>
            <a:ext cx="2947482" cy="4601183"/>
          </a:xfrm>
        </p:spPr>
        <p:txBody>
          <a:bodyPr>
            <a:normAutofit/>
          </a:bodyPr>
          <a:lstStyle/>
          <a:p>
            <a:r>
              <a:rPr lang="en-GB" b="1" dirty="0"/>
              <a:t>On the basis of Concept</a:t>
            </a:r>
            <a:endParaRPr lang="en-US" dirty="0"/>
          </a:p>
        </p:txBody>
      </p:sp>
      <p:sp>
        <p:nvSpPr>
          <p:cNvPr id="15" name="Rectangle 14">
            <a:extLst>
              <a:ext uri="{FF2B5EF4-FFF2-40B4-BE49-F238E27FC236}">
                <a16:creationId xmlns:a16="http://schemas.microsoft.com/office/drawing/2014/main" xmlns="" id="{2CEBD472-AC5D-4393-8BDB-66634BCBCEA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81406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xmlns="" id="{5C99FA19-8C20-42F8-B63E-24F02944B14F}"/>
              </a:ext>
            </a:extLst>
          </p:cNvPr>
          <p:cNvGraphicFramePr>
            <a:graphicFrameLocks noGrp="1"/>
          </p:cNvGraphicFramePr>
          <p:nvPr>
            <p:ph idx="1"/>
            <p:extLst>
              <p:ext uri="{D42A27DB-BD31-4B8C-83A1-F6EECF244321}">
                <p14:modId xmlns:p14="http://schemas.microsoft.com/office/powerpoint/2010/main" val="2224461372"/>
              </p:ext>
            </p:extLst>
          </p:nvPr>
        </p:nvGraphicFramePr>
        <p:xfrm>
          <a:off x="650875" y="1425575"/>
          <a:ext cx="6711950" cy="4021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0938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9C6AE5-2E71-451A-A1E7-DEA55C8A047E}"/>
              </a:ext>
            </a:extLst>
          </p:cNvPr>
          <p:cNvSpPr>
            <a:spLocks noGrp="1"/>
          </p:cNvSpPr>
          <p:nvPr>
            <p:ph type="title"/>
          </p:nvPr>
        </p:nvSpPr>
        <p:spPr/>
        <p:txBody>
          <a:bodyPr/>
          <a:lstStyle/>
          <a:p>
            <a:pPr algn="ctr"/>
            <a:r>
              <a:rPr lang="en-GB" b="1" dirty="0">
                <a:ea typeface="+mj-lt"/>
                <a:cs typeface="+mj-lt"/>
              </a:rPr>
              <a:t>On the basis of Concept</a:t>
            </a:r>
            <a:br>
              <a:rPr lang="en-GB" b="1" dirty="0">
                <a:ea typeface="+mj-lt"/>
                <a:cs typeface="+mj-lt"/>
              </a:rPr>
            </a:br>
            <a:endParaRPr lang="en-GB" b="1" dirty="0">
              <a:ea typeface="+mj-lt"/>
              <a:cs typeface="+mj-lt"/>
            </a:endParaRPr>
          </a:p>
          <a:p>
            <a:endParaRPr lang="en-GB" dirty="0"/>
          </a:p>
        </p:txBody>
      </p:sp>
      <p:sp>
        <p:nvSpPr>
          <p:cNvPr id="3" name="Content Placeholder 2">
            <a:extLst>
              <a:ext uri="{FF2B5EF4-FFF2-40B4-BE49-F238E27FC236}">
                <a16:creationId xmlns:a16="http://schemas.microsoft.com/office/drawing/2014/main" xmlns="" id="{3E32B68C-BEC7-43C7-9F39-CF2A7CAB04C5}"/>
              </a:ext>
            </a:extLst>
          </p:cNvPr>
          <p:cNvSpPr>
            <a:spLocks noGrp="1"/>
          </p:cNvSpPr>
          <p:nvPr>
            <p:ph idx="1"/>
          </p:nvPr>
        </p:nvSpPr>
        <p:spPr>
          <a:xfrm>
            <a:off x="3869268" y="421657"/>
            <a:ext cx="7733070" cy="5563091"/>
          </a:xfrm>
        </p:spPr>
        <p:txBody>
          <a:bodyPr>
            <a:normAutofit/>
          </a:bodyPr>
          <a:lstStyle/>
          <a:p>
            <a:pPr marL="0" indent="0">
              <a:buNone/>
            </a:pPr>
            <a:endParaRPr lang="en-GB" sz="2800" b="1" dirty="0"/>
          </a:p>
          <a:p>
            <a:pPr marL="0" indent="0">
              <a:buNone/>
            </a:pPr>
            <a:r>
              <a:rPr lang="en-GB" sz="2800" b="1" dirty="0"/>
              <a:t>Gross Working Capital</a:t>
            </a:r>
            <a:endParaRPr lang="en-US" sz="2800" dirty="0"/>
          </a:p>
          <a:p>
            <a:r>
              <a:rPr lang="en-GB" sz="2400" dirty="0">
                <a:ea typeface="+mn-lt"/>
                <a:cs typeface="+mn-lt"/>
              </a:rPr>
              <a:t>In the broad sense the term “working capital” refers to the gross working capital and represents the </a:t>
            </a:r>
            <a:r>
              <a:rPr lang="en-GB" sz="2400" dirty="0">
                <a:solidFill>
                  <a:srgbClr val="FF0000"/>
                </a:solidFill>
                <a:highlight>
                  <a:srgbClr val="FFFF00"/>
                </a:highlight>
                <a:ea typeface="+mn-lt"/>
                <a:cs typeface="+mn-lt"/>
              </a:rPr>
              <a:t>amount of funds invested in current assets.</a:t>
            </a:r>
          </a:p>
          <a:p>
            <a:pPr marL="0" indent="0">
              <a:buNone/>
            </a:pPr>
            <a:r>
              <a:rPr lang="en-GB" sz="2800" b="1" dirty="0"/>
              <a:t>Net Working Capital</a:t>
            </a:r>
          </a:p>
          <a:p>
            <a:r>
              <a:rPr lang="en-GB" sz="2400" dirty="0">
                <a:ea typeface="+mn-lt"/>
                <a:cs typeface="+mn-lt"/>
              </a:rPr>
              <a:t>In a Narrow Sense, the term working Capital refers to the networking capital. </a:t>
            </a:r>
            <a:endParaRPr lang="en-GB" sz="2400" b="1" dirty="0">
              <a:ea typeface="+mn-lt"/>
              <a:cs typeface="+mn-lt"/>
            </a:endParaRPr>
          </a:p>
          <a:p>
            <a:r>
              <a:rPr lang="en-GB" sz="2400" dirty="0">
                <a:ea typeface="+mn-lt"/>
                <a:cs typeface="+mn-lt"/>
              </a:rPr>
              <a:t>Net  Working capital is the </a:t>
            </a:r>
            <a:r>
              <a:rPr lang="en-GB" sz="2400" dirty="0">
                <a:solidFill>
                  <a:srgbClr val="FF0000"/>
                </a:solidFill>
                <a:highlight>
                  <a:srgbClr val="FFFF00"/>
                </a:highlight>
                <a:ea typeface="+mn-lt"/>
                <a:cs typeface="+mn-lt"/>
              </a:rPr>
              <a:t>excess of current assets over current liabilities </a:t>
            </a:r>
            <a:endParaRPr lang="en-GB" sz="1800" dirty="0">
              <a:solidFill>
                <a:srgbClr val="FF0000"/>
              </a:solidFill>
              <a:highlight>
                <a:srgbClr val="FFFF00"/>
              </a:highlight>
            </a:endParaRPr>
          </a:p>
          <a:p>
            <a:r>
              <a:rPr lang="en-GB" sz="2800" dirty="0">
                <a:ea typeface="+mn-lt"/>
                <a:cs typeface="+mn-lt"/>
              </a:rPr>
              <a:t>NWC = Current Assets-Current Liabilities</a:t>
            </a:r>
            <a:endParaRPr lang="en-GB" sz="2800" dirty="0"/>
          </a:p>
          <a:p>
            <a:pPr marL="0" indent="0">
              <a:buNone/>
            </a:pPr>
            <a:r>
              <a:rPr lang="en-GB" sz="2800" dirty="0"/>
              <a:t>               =CA-CL</a:t>
            </a:r>
          </a:p>
          <a:p>
            <a:endParaRPr lang="en-GB" sz="2800" b="1" dirty="0"/>
          </a:p>
        </p:txBody>
      </p:sp>
    </p:spTree>
    <p:extLst>
      <p:ext uri="{BB962C8B-B14F-4D97-AF65-F5344CB8AC3E}">
        <p14:creationId xmlns:p14="http://schemas.microsoft.com/office/powerpoint/2010/main" val="29842955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32534-DDC3-4917-A187-5F936C3CCA1C}"/>
              </a:ext>
            </a:extLst>
          </p:cNvPr>
          <p:cNvSpPr>
            <a:spLocks noGrp="1"/>
          </p:cNvSpPr>
          <p:nvPr>
            <p:ph type="title"/>
          </p:nvPr>
        </p:nvSpPr>
        <p:spPr>
          <a:xfrm>
            <a:off x="0" y="0"/>
            <a:ext cx="12192000" cy="981075"/>
          </a:xfrm>
        </p:spPr>
        <p:txBody>
          <a:bodyPr>
            <a:normAutofit/>
          </a:bodyPr>
          <a:lstStyle/>
          <a:p>
            <a:pPr algn="ctr"/>
            <a:r>
              <a:rPr lang="en-US" b="1" dirty="0"/>
              <a:t>Factors Determining Working Capital Requirement</a:t>
            </a:r>
            <a:endParaRPr lang="en-IN" b="1">
              <a:cs typeface="Calibri Light"/>
            </a:endParaRPr>
          </a:p>
        </p:txBody>
      </p:sp>
      <p:sp>
        <p:nvSpPr>
          <p:cNvPr id="3" name="Content Placeholder 2">
            <a:extLst>
              <a:ext uri="{FF2B5EF4-FFF2-40B4-BE49-F238E27FC236}">
                <a16:creationId xmlns:a16="http://schemas.microsoft.com/office/drawing/2014/main" xmlns="" id="{F9819E30-1088-4326-BB09-99F3D8E800CE}"/>
              </a:ext>
            </a:extLst>
          </p:cNvPr>
          <p:cNvSpPr>
            <a:spLocks noGrp="1"/>
          </p:cNvSpPr>
          <p:nvPr>
            <p:ph idx="1"/>
          </p:nvPr>
        </p:nvSpPr>
        <p:spPr>
          <a:xfrm>
            <a:off x="1" y="981075"/>
            <a:ext cx="6096000" cy="5876925"/>
          </a:xfrm>
        </p:spPr>
        <p:txBody>
          <a:bodyPr vert="horz" lIns="91440" tIns="45720" rIns="91440" bIns="45720" rtlCol="0" anchor="t">
            <a:normAutofit fontScale="85000" lnSpcReduction="20000"/>
          </a:bodyPr>
          <a:lstStyle/>
          <a:p>
            <a:pPr>
              <a:lnSpc>
                <a:spcPct val="150000"/>
              </a:lnSpc>
            </a:pPr>
            <a:r>
              <a:rPr lang="en-US" dirty="0"/>
              <a:t>Nature or Character of Business</a:t>
            </a:r>
            <a:endParaRPr lang="en-US" dirty="0">
              <a:cs typeface="Calibri"/>
            </a:endParaRPr>
          </a:p>
          <a:p>
            <a:pPr>
              <a:lnSpc>
                <a:spcPct val="150000"/>
              </a:lnSpc>
            </a:pPr>
            <a:r>
              <a:rPr lang="en-US" dirty="0"/>
              <a:t>Size of Business/ Scale of Operations</a:t>
            </a:r>
            <a:endParaRPr lang="en-US" dirty="0">
              <a:cs typeface="Calibri"/>
            </a:endParaRPr>
          </a:p>
          <a:p>
            <a:pPr>
              <a:lnSpc>
                <a:spcPct val="150000"/>
              </a:lnSpc>
            </a:pPr>
            <a:r>
              <a:rPr lang="en-US" dirty="0"/>
              <a:t>Production Policy</a:t>
            </a:r>
            <a:endParaRPr lang="en-US" dirty="0">
              <a:cs typeface="Calibri"/>
            </a:endParaRPr>
          </a:p>
          <a:p>
            <a:pPr>
              <a:lnSpc>
                <a:spcPct val="150000"/>
              </a:lnSpc>
            </a:pPr>
            <a:r>
              <a:rPr lang="en-US" dirty="0"/>
              <a:t>Manufacturing Process/ Length of Production Cycle</a:t>
            </a:r>
            <a:endParaRPr lang="en-US" dirty="0">
              <a:cs typeface="Calibri"/>
            </a:endParaRPr>
          </a:p>
          <a:p>
            <a:pPr>
              <a:lnSpc>
                <a:spcPct val="150000"/>
              </a:lnSpc>
            </a:pPr>
            <a:r>
              <a:rPr lang="en-US" dirty="0"/>
              <a:t>Seasonal Variations</a:t>
            </a:r>
            <a:endParaRPr lang="en-US" dirty="0">
              <a:cs typeface="Calibri"/>
            </a:endParaRPr>
          </a:p>
          <a:p>
            <a:pPr>
              <a:lnSpc>
                <a:spcPct val="150000"/>
              </a:lnSpc>
            </a:pPr>
            <a:r>
              <a:rPr lang="en-US" dirty="0"/>
              <a:t>Working Capital Cycle</a:t>
            </a:r>
            <a:endParaRPr lang="en-US" dirty="0">
              <a:cs typeface="Calibri"/>
            </a:endParaRPr>
          </a:p>
          <a:p>
            <a:pPr>
              <a:lnSpc>
                <a:spcPct val="150000"/>
              </a:lnSpc>
            </a:pPr>
            <a:r>
              <a:rPr lang="en-US" dirty="0"/>
              <a:t>Credit Policy</a:t>
            </a:r>
            <a:endParaRPr lang="en-US" dirty="0">
              <a:cs typeface="Calibri"/>
            </a:endParaRPr>
          </a:p>
          <a:p>
            <a:pPr>
              <a:lnSpc>
                <a:spcPct val="150000"/>
              </a:lnSpc>
            </a:pPr>
            <a:r>
              <a:rPr lang="en-US" dirty="0"/>
              <a:t>Business Cycle</a:t>
            </a:r>
            <a:endParaRPr lang="en-US" dirty="0">
              <a:cs typeface="Calibri"/>
            </a:endParaRPr>
          </a:p>
          <a:p>
            <a:pPr>
              <a:lnSpc>
                <a:spcPct val="150000"/>
              </a:lnSpc>
            </a:pPr>
            <a:r>
              <a:rPr lang="en-US" dirty="0"/>
              <a:t>Rate of Growth of Business</a:t>
            </a:r>
            <a:endParaRPr lang="en-US" dirty="0">
              <a:cs typeface="Calibri"/>
            </a:endParaRPr>
          </a:p>
        </p:txBody>
      </p:sp>
      <p:graphicFrame>
        <p:nvGraphicFramePr>
          <p:cNvPr id="5" name="Diagram 4">
            <a:extLst>
              <a:ext uri="{FF2B5EF4-FFF2-40B4-BE49-F238E27FC236}">
                <a16:creationId xmlns:a16="http://schemas.microsoft.com/office/drawing/2014/main" xmlns="" id="{F133CC32-A4EB-48AC-82BF-EDD89502DDDE}"/>
              </a:ext>
            </a:extLst>
          </p:cNvPr>
          <p:cNvGraphicFramePr/>
          <p:nvPr>
            <p:extLst>
              <p:ext uri="{D42A27DB-BD31-4B8C-83A1-F6EECF244321}">
                <p14:modId xmlns:p14="http://schemas.microsoft.com/office/powerpoint/2010/main" val="1606648602"/>
              </p:ext>
            </p:extLst>
          </p:nvPr>
        </p:nvGraphicFramePr>
        <p:xfrm>
          <a:off x="7772400" y="1724025"/>
          <a:ext cx="4419599" cy="4019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Arrow Connector 6">
            <a:extLst>
              <a:ext uri="{FF2B5EF4-FFF2-40B4-BE49-F238E27FC236}">
                <a16:creationId xmlns:a16="http://schemas.microsoft.com/office/drawing/2014/main" xmlns="" id="{EC7224D2-F48B-4888-A8CC-44447884ABCD}"/>
              </a:ext>
            </a:extLst>
          </p:cNvPr>
          <p:cNvCxnSpPr>
            <a:cxnSpLocks/>
          </p:cNvCxnSpPr>
          <p:nvPr/>
        </p:nvCxnSpPr>
        <p:spPr>
          <a:xfrm>
            <a:off x="3041583" y="4810426"/>
            <a:ext cx="5562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9985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6D94E5-B789-4BFF-90B1-F7A859FE9B86}"/>
              </a:ext>
            </a:extLst>
          </p:cNvPr>
          <p:cNvSpPr>
            <a:spLocks noGrp="1"/>
          </p:cNvSpPr>
          <p:nvPr>
            <p:ph type="title"/>
          </p:nvPr>
        </p:nvSpPr>
        <p:spPr>
          <a:xfrm>
            <a:off x="2117" y="-5292"/>
            <a:ext cx="12187766" cy="817563"/>
          </a:xfrm>
        </p:spPr>
        <p:txBody>
          <a:bodyPr/>
          <a:lstStyle/>
          <a:p>
            <a:pPr algn="ctr"/>
            <a:r>
              <a:rPr lang="en-US" b="1" dirty="0">
                <a:ea typeface="+mj-lt"/>
                <a:cs typeface="+mj-lt"/>
              </a:rPr>
              <a:t>Entrepreneurial Sources of Finance</a:t>
            </a:r>
            <a:endParaRPr lang="en-US" b="1" dirty="0">
              <a:cs typeface="Calibri Light"/>
            </a:endParaRPr>
          </a:p>
        </p:txBody>
      </p:sp>
      <p:sp>
        <p:nvSpPr>
          <p:cNvPr id="3" name="Content Placeholder 2">
            <a:extLst>
              <a:ext uri="{FF2B5EF4-FFF2-40B4-BE49-F238E27FC236}">
                <a16:creationId xmlns:a16="http://schemas.microsoft.com/office/drawing/2014/main" xmlns="" id="{1155A084-C7DB-4E11-9EF9-FB294CBAEBE2}"/>
              </a:ext>
            </a:extLst>
          </p:cNvPr>
          <p:cNvSpPr>
            <a:spLocks noGrp="1"/>
          </p:cNvSpPr>
          <p:nvPr>
            <p:ph idx="1"/>
          </p:nvPr>
        </p:nvSpPr>
        <p:spPr>
          <a:xfrm>
            <a:off x="2117" y="660196"/>
            <a:ext cx="12187766" cy="6194099"/>
          </a:xfrm>
        </p:spPr>
        <p:txBody>
          <a:bodyPr vert="horz" lIns="91440" tIns="45720" rIns="91440" bIns="45720" rtlCol="0" anchor="t">
            <a:noAutofit/>
          </a:bodyPr>
          <a:lstStyle/>
          <a:p>
            <a:pPr algn="just">
              <a:lnSpc>
                <a:spcPct val="170000"/>
              </a:lnSpc>
              <a:spcBef>
                <a:spcPct val="0"/>
              </a:spcBef>
              <a:spcAft>
                <a:spcPct val="0"/>
              </a:spcAft>
            </a:pPr>
            <a:r>
              <a:rPr lang="en-US" sz="1800" b="1" dirty="0">
                <a:solidFill>
                  <a:srgbClr val="222222"/>
                </a:solidFill>
                <a:ea typeface="+mn-lt"/>
                <a:cs typeface="+mn-lt"/>
              </a:rPr>
              <a:t>Seed Funding </a:t>
            </a:r>
          </a:p>
          <a:p>
            <a:pPr lvl="1" algn="just">
              <a:lnSpc>
                <a:spcPct val="170000"/>
              </a:lnSpc>
              <a:spcBef>
                <a:spcPct val="0"/>
              </a:spcBef>
              <a:spcAft>
                <a:spcPct val="0"/>
              </a:spcAft>
            </a:pPr>
            <a:r>
              <a:rPr lang="en-US" sz="1600" dirty="0">
                <a:ea typeface="+mn-lt"/>
                <a:cs typeface="+mn-lt"/>
              </a:rPr>
              <a:t>Also referred to as seed money or seed capital</a:t>
            </a:r>
          </a:p>
          <a:p>
            <a:pPr lvl="1" algn="just">
              <a:lnSpc>
                <a:spcPct val="170000"/>
              </a:lnSpc>
              <a:spcBef>
                <a:spcPct val="0"/>
              </a:spcBef>
              <a:spcAft>
                <a:spcPct val="0"/>
              </a:spcAft>
            </a:pPr>
            <a:r>
              <a:rPr lang="en-US" sz="1600" dirty="0">
                <a:ea typeface="+mn-lt"/>
                <a:cs typeface="+mn-lt"/>
              </a:rPr>
              <a:t>Is  a </a:t>
            </a:r>
            <a:r>
              <a:rPr lang="en-US" sz="1600" dirty="0">
                <a:solidFill>
                  <a:srgbClr val="FF0000"/>
                </a:solidFill>
                <a:highlight>
                  <a:srgbClr val="FFFF00"/>
                </a:highlight>
                <a:ea typeface="+mn-lt"/>
                <a:cs typeface="+mn-lt"/>
              </a:rPr>
              <a:t>very early investment which aims at helping a business grow </a:t>
            </a:r>
            <a:r>
              <a:rPr lang="en-US" sz="1600" dirty="0">
                <a:ea typeface="+mn-lt"/>
                <a:cs typeface="+mn-lt"/>
              </a:rPr>
              <a:t>and generating its own capital where investors often get </a:t>
            </a:r>
            <a:r>
              <a:rPr lang="en-US" sz="1600" dirty="0">
                <a:highlight>
                  <a:srgbClr val="FFFF00"/>
                </a:highlight>
                <a:ea typeface="+mn-lt"/>
                <a:cs typeface="+mn-lt"/>
              </a:rPr>
              <a:t>equity stake </a:t>
            </a:r>
            <a:r>
              <a:rPr lang="en-US" sz="1600" dirty="0">
                <a:ea typeface="+mn-lt"/>
                <a:cs typeface="+mn-lt"/>
              </a:rPr>
              <a:t>in exchange for the capital invested.</a:t>
            </a:r>
            <a:endParaRPr lang="en-US" sz="1600" b="1" dirty="0">
              <a:solidFill>
                <a:srgbClr val="222222"/>
              </a:solidFill>
              <a:ea typeface="+mn-lt"/>
              <a:cs typeface="+mn-lt"/>
            </a:endParaRPr>
          </a:p>
          <a:p>
            <a:pPr algn="just">
              <a:lnSpc>
                <a:spcPct val="170000"/>
              </a:lnSpc>
              <a:spcBef>
                <a:spcPct val="0"/>
              </a:spcBef>
              <a:spcAft>
                <a:spcPct val="0"/>
              </a:spcAft>
            </a:pPr>
            <a:r>
              <a:rPr lang="en-US" sz="1800" b="1" dirty="0">
                <a:solidFill>
                  <a:srgbClr val="222222"/>
                </a:solidFill>
                <a:ea typeface="+mn-lt"/>
                <a:cs typeface="+mn-lt"/>
              </a:rPr>
              <a:t>Business Angels</a:t>
            </a:r>
            <a:endParaRPr lang="en-US" sz="1800" dirty="0">
              <a:cs typeface="Calibri" panose="020F0502020204030204"/>
            </a:endParaRPr>
          </a:p>
          <a:p>
            <a:pPr lvl="1" algn="just">
              <a:lnSpc>
                <a:spcPct val="170000"/>
              </a:lnSpc>
              <a:spcBef>
                <a:spcPct val="0"/>
              </a:spcBef>
              <a:spcAft>
                <a:spcPct val="0"/>
              </a:spcAft>
            </a:pPr>
            <a:r>
              <a:rPr lang="en-US" sz="1600" dirty="0">
                <a:solidFill>
                  <a:srgbClr val="222222"/>
                </a:solidFill>
                <a:ea typeface="+mn-lt"/>
                <a:cs typeface="+mn-lt"/>
              </a:rPr>
              <a:t>Was  introduced by  Frederick Terman, who is known as the father of Silicon Valley, along with William Shockley.</a:t>
            </a:r>
            <a:endParaRPr lang="en-US" sz="1600" dirty="0">
              <a:ea typeface="+mn-lt"/>
              <a:cs typeface="+mn-lt"/>
            </a:endParaRPr>
          </a:p>
          <a:p>
            <a:pPr lvl="1" algn="just">
              <a:lnSpc>
                <a:spcPct val="170000"/>
              </a:lnSpc>
              <a:spcBef>
                <a:spcPct val="0"/>
              </a:spcBef>
              <a:spcAft>
                <a:spcPct val="0"/>
              </a:spcAft>
            </a:pPr>
            <a:r>
              <a:rPr lang="en-US" sz="1600" dirty="0">
                <a:solidFill>
                  <a:srgbClr val="222222"/>
                </a:solidFill>
                <a:ea typeface="+mn-lt"/>
                <a:cs typeface="+mn-lt"/>
              </a:rPr>
              <a:t>A </a:t>
            </a:r>
            <a:r>
              <a:rPr lang="en-US" sz="1600" dirty="0">
                <a:solidFill>
                  <a:srgbClr val="FF0000"/>
                </a:solidFill>
                <a:highlight>
                  <a:srgbClr val="FFFF00"/>
                </a:highlight>
                <a:ea typeface="+mn-lt"/>
                <a:cs typeface="+mn-lt"/>
              </a:rPr>
              <a:t>private investor who invests part of his finance and time in the early stages of the company</a:t>
            </a:r>
            <a:r>
              <a:rPr lang="en-US" sz="1600" dirty="0">
                <a:solidFill>
                  <a:srgbClr val="222222"/>
                </a:solidFill>
                <a:ea typeface="+mn-lt"/>
                <a:cs typeface="+mn-lt"/>
              </a:rPr>
              <a:t>.  </a:t>
            </a:r>
          </a:p>
          <a:p>
            <a:pPr lvl="1" algn="just">
              <a:lnSpc>
                <a:spcPct val="170000"/>
              </a:lnSpc>
              <a:spcBef>
                <a:spcPct val="0"/>
              </a:spcBef>
              <a:spcAft>
                <a:spcPct val="0"/>
              </a:spcAft>
            </a:pPr>
            <a:r>
              <a:rPr lang="en-US" sz="1600" dirty="0">
                <a:solidFill>
                  <a:srgbClr val="FF0000"/>
                </a:solidFill>
                <a:ea typeface="+mn-lt"/>
                <a:cs typeface="+mn-lt"/>
              </a:rPr>
              <a:t>Business angels invest their own money.</a:t>
            </a:r>
            <a:endParaRPr lang="en-US" sz="1600" dirty="0">
              <a:solidFill>
                <a:srgbClr val="000000"/>
              </a:solidFill>
              <a:ea typeface="+mn-lt"/>
              <a:cs typeface="+mn-lt"/>
            </a:endParaRPr>
          </a:p>
          <a:p>
            <a:pPr algn="just">
              <a:lnSpc>
                <a:spcPct val="170000"/>
              </a:lnSpc>
              <a:spcBef>
                <a:spcPct val="0"/>
              </a:spcBef>
              <a:spcAft>
                <a:spcPct val="0"/>
              </a:spcAft>
            </a:pPr>
            <a:r>
              <a:rPr lang="en-US" sz="1800" b="1" dirty="0">
                <a:solidFill>
                  <a:srgbClr val="222222"/>
                </a:solidFill>
                <a:ea typeface="+mn-lt"/>
                <a:cs typeface="+mn-lt"/>
              </a:rPr>
              <a:t>Venture </a:t>
            </a:r>
            <a:r>
              <a:rPr lang="en-US" sz="1800" b="1" dirty="0" smtClean="0">
                <a:solidFill>
                  <a:srgbClr val="222222"/>
                </a:solidFill>
                <a:ea typeface="+mn-lt"/>
                <a:cs typeface="+mn-lt"/>
              </a:rPr>
              <a:t>capital</a:t>
            </a:r>
          </a:p>
          <a:p>
            <a:pPr lvl="1" algn="just">
              <a:lnSpc>
                <a:spcPct val="170000"/>
              </a:lnSpc>
              <a:spcBef>
                <a:spcPct val="0"/>
              </a:spcBef>
              <a:spcAft>
                <a:spcPct val="0"/>
              </a:spcAft>
            </a:pPr>
            <a:r>
              <a:rPr lang="en-US" sz="1600" dirty="0" smtClean="0">
                <a:solidFill>
                  <a:srgbClr val="222222"/>
                </a:solidFill>
                <a:ea typeface="+mn-lt"/>
                <a:cs typeface="+mn-lt"/>
              </a:rPr>
              <a:t>Is</a:t>
            </a:r>
            <a:r>
              <a:rPr lang="en-US" sz="1600" dirty="0">
                <a:solidFill>
                  <a:srgbClr val="222222"/>
                </a:solidFill>
                <a:ea typeface="+mn-lt"/>
                <a:cs typeface="+mn-lt"/>
              </a:rPr>
              <a:t>  a financing method in which financial investors participate in a new company’s capital against cash and guidance. </a:t>
            </a:r>
            <a:endParaRPr lang="en-US" sz="1600" dirty="0">
              <a:solidFill>
                <a:srgbClr val="000000"/>
              </a:solidFill>
              <a:ea typeface="+mn-lt"/>
              <a:cs typeface="+mn-lt"/>
            </a:endParaRPr>
          </a:p>
          <a:p>
            <a:pPr lvl="1" algn="just">
              <a:lnSpc>
                <a:spcPct val="170000"/>
              </a:lnSpc>
              <a:spcBef>
                <a:spcPct val="0"/>
              </a:spcBef>
              <a:spcAft>
                <a:spcPct val="0"/>
              </a:spcAft>
            </a:pPr>
            <a:r>
              <a:rPr lang="en-US" sz="1600" dirty="0">
                <a:solidFill>
                  <a:srgbClr val="222222"/>
                </a:solidFill>
                <a:ea typeface="+mn-lt"/>
                <a:cs typeface="+mn-lt"/>
              </a:rPr>
              <a:t>The primary objective is to make a profit by selling its stake in the company in the middle term.</a:t>
            </a:r>
            <a:endParaRPr lang="en-US" sz="1600" dirty="0">
              <a:solidFill>
                <a:srgbClr val="000000"/>
              </a:solidFill>
              <a:ea typeface="+mn-lt"/>
              <a:cs typeface="+mn-lt"/>
            </a:endParaRPr>
          </a:p>
          <a:p>
            <a:pPr lvl="1" algn="just">
              <a:lnSpc>
                <a:spcPct val="170000"/>
              </a:lnSpc>
              <a:spcBef>
                <a:spcPct val="0"/>
              </a:spcBef>
              <a:spcAft>
                <a:spcPct val="0"/>
              </a:spcAft>
            </a:pPr>
            <a:r>
              <a:rPr lang="en-US" sz="1600" dirty="0">
                <a:solidFill>
                  <a:srgbClr val="222222"/>
                </a:solidFill>
                <a:ea typeface="+mn-lt"/>
                <a:cs typeface="+mn-lt"/>
              </a:rPr>
              <a:t>Expect very high profitability  as  they take a very high risk of investing in a relatively new venture</a:t>
            </a:r>
            <a:r>
              <a:rPr lang="en-US" sz="1600" dirty="0" smtClean="0">
                <a:solidFill>
                  <a:srgbClr val="222222"/>
                </a:solidFill>
                <a:ea typeface="+mn-lt"/>
                <a:cs typeface="+mn-lt"/>
              </a:rPr>
              <a:t>.</a:t>
            </a:r>
          </a:p>
          <a:p>
            <a:pPr lvl="1" algn="just">
              <a:lnSpc>
                <a:spcPct val="170000"/>
              </a:lnSpc>
              <a:spcBef>
                <a:spcPct val="0"/>
              </a:spcBef>
              <a:spcAft>
                <a:spcPct val="0"/>
              </a:spcAft>
            </a:pPr>
            <a:r>
              <a:rPr lang="en-US" sz="1600" b="1" dirty="0">
                <a:solidFill>
                  <a:srgbClr val="222222"/>
                </a:solidFill>
                <a:ea typeface="+mn-lt"/>
                <a:cs typeface="+mn-lt"/>
              </a:rPr>
              <a:t> </a:t>
            </a:r>
            <a:r>
              <a:rPr lang="en-US" sz="1600" dirty="0">
                <a:solidFill>
                  <a:srgbClr val="222222"/>
                </a:solidFill>
                <a:ea typeface="+mn-lt"/>
                <a:cs typeface="+mn-lt"/>
              </a:rPr>
              <a:t>B</a:t>
            </a:r>
            <a:r>
              <a:rPr lang="en-US" sz="1600" dirty="0" smtClean="0">
                <a:solidFill>
                  <a:srgbClr val="222222"/>
                </a:solidFill>
                <a:ea typeface="+mn-lt"/>
                <a:cs typeface="+mn-lt"/>
              </a:rPr>
              <a:t>usiness angels invest their own money, venture capitalists invests other peoples money.</a:t>
            </a:r>
            <a:endParaRPr lang="en-US" sz="1600" dirty="0">
              <a:ea typeface="+mn-lt"/>
              <a:cs typeface="+mn-lt"/>
            </a:endParaRPr>
          </a:p>
          <a:p>
            <a:pPr lvl="1" algn="just">
              <a:lnSpc>
                <a:spcPct val="170000"/>
              </a:lnSpc>
              <a:spcBef>
                <a:spcPct val="0"/>
              </a:spcBef>
              <a:spcAft>
                <a:spcPct val="0"/>
              </a:spcAft>
            </a:pPr>
            <a:r>
              <a:rPr lang="en-US" sz="1600" dirty="0">
                <a:solidFill>
                  <a:srgbClr val="FF0000"/>
                </a:solidFill>
                <a:highlight>
                  <a:srgbClr val="FFFF00"/>
                </a:highlight>
                <a:ea typeface="+mn-lt"/>
                <a:cs typeface="+mn-lt"/>
              </a:rPr>
              <a:t>Venture capitalists enter during the growth stage while business angels invest at a very early stage</a:t>
            </a:r>
            <a:r>
              <a:rPr lang="en-US" sz="1600" dirty="0">
                <a:solidFill>
                  <a:srgbClr val="FF0000"/>
                </a:solidFill>
                <a:ea typeface="+mn-lt"/>
                <a:cs typeface="+mn-lt"/>
              </a:rPr>
              <a:t>.</a:t>
            </a:r>
          </a:p>
        </p:txBody>
      </p:sp>
    </p:spTree>
    <p:extLst>
      <p:ext uri="{BB962C8B-B14F-4D97-AF65-F5344CB8AC3E}">
        <p14:creationId xmlns:p14="http://schemas.microsoft.com/office/powerpoint/2010/main" val="7409908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075777-8B02-478B-9470-97BE1B4B8ABE}"/>
              </a:ext>
            </a:extLst>
          </p:cNvPr>
          <p:cNvSpPr>
            <a:spLocks noGrp="1"/>
          </p:cNvSpPr>
          <p:nvPr>
            <p:ph type="title"/>
          </p:nvPr>
        </p:nvSpPr>
        <p:spPr>
          <a:xfrm>
            <a:off x="0" y="1"/>
            <a:ext cx="12192000" cy="804333"/>
          </a:xfrm>
        </p:spPr>
        <p:txBody>
          <a:bodyPr/>
          <a:lstStyle/>
          <a:p>
            <a:pPr algn="ctr"/>
            <a:r>
              <a:rPr lang="en-US" b="1" dirty="0"/>
              <a:t>Entrepreneurial Sources of Finance</a:t>
            </a:r>
            <a:endParaRPr lang="en-IN" b="1">
              <a:cs typeface="Calibri Light" panose="020F0302020204030204"/>
            </a:endParaRPr>
          </a:p>
        </p:txBody>
      </p:sp>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604672"/>
            <a:ext cx="12191999" cy="6253325"/>
          </a:xfrm>
        </p:spPr>
        <p:txBody>
          <a:bodyPr vert="horz" lIns="91440" tIns="45720" rIns="91440" bIns="45720" rtlCol="0" anchor="t">
            <a:noAutofit/>
          </a:bodyPr>
          <a:lstStyle/>
          <a:p>
            <a:pPr>
              <a:lnSpc>
                <a:spcPct val="170000"/>
              </a:lnSpc>
              <a:spcBef>
                <a:spcPct val="0"/>
              </a:spcBef>
              <a:spcAft>
                <a:spcPct val="0"/>
              </a:spcAft>
            </a:pPr>
            <a:r>
              <a:rPr lang="en-US" sz="2000" b="1" dirty="0">
                <a:solidFill>
                  <a:srgbClr val="222222"/>
                </a:solidFill>
                <a:ea typeface="+mn-lt"/>
                <a:cs typeface="+mn-lt"/>
              </a:rPr>
              <a:t>Government venture capital</a:t>
            </a:r>
            <a:endParaRPr lang="en-US" sz="2000" dirty="0">
              <a:ea typeface="+mn-lt"/>
              <a:cs typeface="+mn-lt"/>
            </a:endParaRPr>
          </a:p>
          <a:p>
            <a:pPr lvl="1">
              <a:lnSpc>
                <a:spcPct val="170000"/>
              </a:lnSpc>
              <a:spcBef>
                <a:spcPct val="0"/>
              </a:spcBef>
              <a:spcAft>
                <a:spcPct val="0"/>
              </a:spcAft>
            </a:pPr>
            <a:r>
              <a:rPr lang="en-US" sz="2000" dirty="0">
                <a:solidFill>
                  <a:srgbClr val="222222"/>
                </a:solidFill>
                <a:ea typeface="+mn-lt"/>
                <a:cs typeface="+mn-lt"/>
              </a:rPr>
              <a:t>They </a:t>
            </a:r>
            <a:r>
              <a:rPr lang="en-US" sz="2000" dirty="0">
                <a:solidFill>
                  <a:srgbClr val="FF0000"/>
                </a:solidFill>
                <a:highlight>
                  <a:srgbClr val="FFFF00"/>
                </a:highlight>
                <a:ea typeface="+mn-lt"/>
                <a:cs typeface="+mn-lt"/>
              </a:rPr>
              <a:t>aim to help new businesses solve the financial problem </a:t>
            </a:r>
            <a:r>
              <a:rPr lang="en-US" sz="2000" dirty="0">
                <a:solidFill>
                  <a:srgbClr val="222222"/>
                </a:solidFill>
                <a:ea typeface="+mn-lt"/>
                <a:cs typeface="+mn-lt"/>
              </a:rPr>
              <a:t>and reduce the gap between the company and finances.</a:t>
            </a:r>
            <a:endParaRPr lang="en-US" sz="2000" dirty="0">
              <a:ea typeface="+mn-lt"/>
              <a:cs typeface="+mn-lt"/>
            </a:endParaRPr>
          </a:p>
          <a:p>
            <a:pPr>
              <a:lnSpc>
                <a:spcPct val="170000"/>
              </a:lnSpc>
              <a:spcBef>
                <a:spcPct val="0"/>
              </a:spcBef>
              <a:spcAft>
                <a:spcPct val="0"/>
              </a:spcAft>
            </a:pPr>
            <a:r>
              <a:rPr lang="en-US" sz="2000" b="1" dirty="0">
                <a:solidFill>
                  <a:srgbClr val="222222"/>
                </a:solidFill>
                <a:ea typeface="+mn-lt"/>
                <a:cs typeface="+mn-lt"/>
              </a:rPr>
              <a:t>Corporate venture capital</a:t>
            </a:r>
            <a:endParaRPr lang="en-US" sz="2000" dirty="0">
              <a:ea typeface="+mn-lt"/>
              <a:cs typeface="+mn-lt"/>
            </a:endParaRPr>
          </a:p>
          <a:p>
            <a:pPr lvl="1">
              <a:lnSpc>
                <a:spcPct val="170000"/>
              </a:lnSpc>
              <a:spcBef>
                <a:spcPct val="0"/>
              </a:spcBef>
              <a:spcAft>
                <a:spcPct val="0"/>
              </a:spcAft>
            </a:pPr>
            <a:r>
              <a:rPr lang="en-US" sz="2000" dirty="0">
                <a:solidFill>
                  <a:srgbClr val="222222"/>
                </a:solidFill>
                <a:ea typeface="+mn-lt"/>
                <a:cs typeface="+mn-lt"/>
              </a:rPr>
              <a:t>These are venture capital investments by established companies in startups or growth companies. </a:t>
            </a:r>
            <a:endParaRPr lang="en-US" sz="2000" dirty="0">
              <a:solidFill>
                <a:srgbClr val="000000"/>
              </a:solidFill>
              <a:ea typeface="+mn-lt"/>
              <a:cs typeface="+mn-lt"/>
            </a:endParaRPr>
          </a:p>
          <a:p>
            <a:pPr lvl="1">
              <a:lnSpc>
                <a:spcPct val="170000"/>
              </a:lnSpc>
              <a:spcBef>
                <a:spcPct val="0"/>
              </a:spcBef>
              <a:spcAft>
                <a:spcPct val="0"/>
              </a:spcAft>
            </a:pPr>
            <a:r>
              <a:rPr lang="en-US" sz="2000" dirty="0">
                <a:solidFill>
                  <a:srgbClr val="FF0000"/>
                </a:solidFill>
                <a:highlight>
                  <a:srgbClr val="FFFF00"/>
                </a:highlight>
                <a:ea typeface="+mn-lt"/>
                <a:cs typeface="+mn-lt"/>
              </a:rPr>
              <a:t>Take  a major stake in these young firms and help them develop the market</a:t>
            </a:r>
            <a:r>
              <a:rPr lang="en-US" sz="2000" dirty="0">
                <a:solidFill>
                  <a:srgbClr val="222222"/>
                </a:solidFill>
                <a:ea typeface="+mn-lt"/>
                <a:cs typeface="+mn-lt"/>
              </a:rPr>
              <a:t>.</a:t>
            </a:r>
            <a:endParaRPr lang="en-US" sz="2000" dirty="0">
              <a:ea typeface="+mn-lt"/>
              <a:cs typeface="+mn-lt"/>
            </a:endParaRPr>
          </a:p>
          <a:p>
            <a:pPr lvl="1">
              <a:lnSpc>
                <a:spcPct val="170000"/>
              </a:lnSpc>
              <a:spcBef>
                <a:spcPct val="0"/>
              </a:spcBef>
              <a:spcAft>
                <a:spcPct val="0"/>
              </a:spcAft>
            </a:pPr>
            <a:r>
              <a:rPr lang="en-US" sz="2000" dirty="0">
                <a:solidFill>
                  <a:srgbClr val="222222"/>
                </a:solidFill>
                <a:ea typeface="+mn-lt"/>
                <a:cs typeface="+mn-lt"/>
              </a:rPr>
              <a:t>Usually invest either in the early venture stage or late stage of the venture.</a:t>
            </a:r>
            <a:endParaRPr lang="en-US" sz="2000" dirty="0">
              <a:ea typeface="+mn-lt"/>
              <a:cs typeface="+mn-lt"/>
            </a:endParaRPr>
          </a:p>
          <a:p>
            <a:pPr>
              <a:lnSpc>
                <a:spcPct val="170000"/>
              </a:lnSpc>
              <a:spcBef>
                <a:spcPct val="0"/>
              </a:spcBef>
              <a:spcAft>
                <a:spcPct val="0"/>
              </a:spcAft>
            </a:pPr>
            <a:r>
              <a:rPr lang="en-US" sz="2000" b="1" dirty="0">
                <a:solidFill>
                  <a:srgbClr val="222222"/>
                </a:solidFill>
                <a:ea typeface="+mn-lt"/>
                <a:cs typeface="+mn-lt"/>
              </a:rPr>
              <a:t>Family offices</a:t>
            </a:r>
            <a:endParaRPr lang="en-US" sz="2000" dirty="0">
              <a:ea typeface="+mn-lt"/>
              <a:cs typeface="+mn-lt"/>
            </a:endParaRPr>
          </a:p>
          <a:p>
            <a:pPr lvl="1">
              <a:lnSpc>
                <a:spcPct val="170000"/>
              </a:lnSpc>
              <a:spcBef>
                <a:spcPct val="0"/>
              </a:spcBef>
              <a:spcAft>
                <a:spcPct val="0"/>
              </a:spcAft>
            </a:pPr>
            <a:r>
              <a:rPr lang="en-US" sz="2000" dirty="0">
                <a:solidFill>
                  <a:srgbClr val="222222"/>
                </a:solidFill>
                <a:ea typeface="+mn-lt"/>
                <a:cs typeface="+mn-lt"/>
              </a:rPr>
              <a:t>The families who own very high net worth and large companies establish their own offices. </a:t>
            </a:r>
            <a:endParaRPr lang="en-US" sz="2000" dirty="0">
              <a:solidFill>
                <a:srgbClr val="000000"/>
              </a:solidFill>
              <a:ea typeface="+mn-lt"/>
              <a:cs typeface="+mn-lt"/>
            </a:endParaRPr>
          </a:p>
          <a:p>
            <a:pPr lvl="1">
              <a:lnSpc>
                <a:spcPct val="170000"/>
              </a:lnSpc>
              <a:spcBef>
                <a:spcPct val="0"/>
              </a:spcBef>
              <a:spcAft>
                <a:spcPct val="0"/>
              </a:spcAft>
            </a:pPr>
            <a:r>
              <a:rPr lang="en-US" sz="2000" dirty="0">
                <a:solidFill>
                  <a:srgbClr val="222222"/>
                </a:solidFill>
                <a:ea typeface="+mn-lt"/>
                <a:cs typeface="+mn-lt"/>
              </a:rPr>
              <a:t>The primary objective of these offices is to manage their wealth. </a:t>
            </a:r>
            <a:endParaRPr lang="en-US" sz="2000" dirty="0">
              <a:solidFill>
                <a:srgbClr val="000000"/>
              </a:solidFill>
              <a:ea typeface="+mn-lt"/>
              <a:cs typeface="+mn-lt"/>
            </a:endParaRPr>
          </a:p>
          <a:p>
            <a:pPr lvl="1">
              <a:lnSpc>
                <a:spcPct val="170000"/>
              </a:lnSpc>
              <a:spcBef>
                <a:spcPct val="0"/>
              </a:spcBef>
              <a:spcAft>
                <a:spcPct val="0"/>
              </a:spcAft>
            </a:pPr>
            <a:r>
              <a:rPr lang="en-US" sz="2000" dirty="0">
                <a:solidFill>
                  <a:srgbClr val="FF0000"/>
                </a:solidFill>
                <a:highlight>
                  <a:srgbClr val="FFFF00"/>
                </a:highlight>
                <a:ea typeface="+mn-lt"/>
                <a:cs typeface="+mn-lt"/>
              </a:rPr>
              <a:t>These family offices also invest in different growth ventures</a:t>
            </a:r>
            <a:r>
              <a:rPr lang="en-US" sz="2000" dirty="0">
                <a:solidFill>
                  <a:srgbClr val="222222"/>
                </a:solidFill>
                <a:ea typeface="+mn-lt"/>
                <a:cs typeface="+mn-lt"/>
              </a:rPr>
              <a:t>.</a:t>
            </a:r>
            <a:endParaRPr lang="en-US" sz="2000" b="1" dirty="0">
              <a:solidFill>
                <a:srgbClr val="222222"/>
              </a:solidFill>
              <a:ea typeface="+mn-lt"/>
              <a:cs typeface="+mn-lt"/>
            </a:endParaRPr>
          </a:p>
        </p:txBody>
      </p:sp>
    </p:spTree>
    <p:extLst>
      <p:ext uri="{BB962C8B-B14F-4D97-AF65-F5344CB8AC3E}">
        <p14:creationId xmlns:p14="http://schemas.microsoft.com/office/powerpoint/2010/main" val="8281825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6D94E5-B789-4BFF-90B1-F7A859FE9B86}"/>
              </a:ext>
            </a:extLst>
          </p:cNvPr>
          <p:cNvSpPr>
            <a:spLocks noGrp="1"/>
          </p:cNvSpPr>
          <p:nvPr>
            <p:ph type="title"/>
          </p:nvPr>
        </p:nvSpPr>
        <p:spPr>
          <a:xfrm>
            <a:off x="2117" y="-5292"/>
            <a:ext cx="12187766" cy="817563"/>
          </a:xfrm>
        </p:spPr>
        <p:txBody>
          <a:bodyPr/>
          <a:lstStyle/>
          <a:p>
            <a:pPr algn="ctr"/>
            <a:r>
              <a:rPr lang="en-US" b="1" dirty="0">
                <a:ea typeface="+mj-lt"/>
                <a:cs typeface="+mj-lt"/>
              </a:rPr>
              <a:t>Entrepreneurial Sources of Finance</a:t>
            </a:r>
            <a:endParaRPr lang="en-US" b="1" dirty="0">
              <a:cs typeface="Calibri Light"/>
            </a:endParaRPr>
          </a:p>
        </p:txBody>
      </p:sp>
      <p:sp>
        <p:nvSpPr>
          <p:cNvPr id="3" name="Content Placeholder 2">
            <a:extLst>
              <a:ext uri="{FF2B5EF4-FFF2-40B4-BE49-F238E27FC236}">
                <a16:creationId xmlns:a16="http://schemas.microsoft.com/office/drawing/2014/main" xmlns="" id="{1155A084-C7DB-4E11-9EF9-FB294CBAEBE2}"/>
              </a:ext>
            </a:extLst>
          </p:cNvPr>
          <p:cNvSpPr>
            <a:spLocks noGrp="1"/>
          </p:cNvSpPr>
          <p:nvPr>
            <p:ph idx="1"/>
          </p:nvPr>
        </p:nvSpPr>
        <p:spPr>
          <a:xfrm>
            <a:off x="2117" y="830793"/>
            <a:ext cx="12187766" cy="6023503"/>
          </a:xfrm>
        </p:spPr>
        <p:txBody>
          <a:bodyPr vert="horz" lIns="91440" tIns="45720" rIns="91440" bIns="45720" rtlCol="0" anchor="t">
            <a:normAutofit fontScale="92500" lnSpcReduction="10000"/>
          </a:bodyPr>
          <a:lstStyle/>
          <a:p>
            <a:pPr algn="just">
              <a:lnSpc>
                <a:spcPct val="170000"/>
              </a:lnSpc>
              <a:spcBef>
                <a:spcPct val="0"/>
              </a:spcBef>
              <a:spcAft>
                <a:spcPct val="0"/>
              </a:spcAft>
            </a:pPr>
            <a:r>
              <a:rPr lang="en-US" b="1" dirty="0">
                <a:solidFill>
                  <a:srgbClr val="222222"/>
                </a:solidFill>
                <a:ea typeface="+mn-lt"/>
                <a:cs typeface="+mn-lt"/>
              </a:rPr>
              <a:t>Financial bootstrapping</a:t>
            </a:r>
            <a:endParaRPr lang="en-US" dirty="0">
              <a:ea typeface="+mn-lt"/>
              <a:cs typeface="+mn-lt"/>
            </a:endParaRPr>
          </a:p>
          <a:p>
            <a:pPr lvl="1" algn="just">
              <a:lnSpc>
                <a:spcPct val="170000"/>
              </a:lnSpc>
              <a:spcBef>
                <a:spcPct val="0"/>
              </a:spcBef>
              <a:spcAft>
                <a:spcPct val="0"/>
              </a:spcAft>
            </a:pPr>
            <a:r>
              <a:rPr lang="en-US" dirty="0">
                <a:solidFill>
                  <a:srgbClr val="222222"/>
                </a:solidFill>
                <a:ea typeface="+mn-lt"/>
                <a:cs typeface="+mn-lt"/>
              </a:rPr>
              <a:t>Is used to encompass various methods for </a:t>
            </a:r>
            <a:r>
              <a:rPr lang="en-US" dirty="0">
                <a:solidFill>
                  <a:srgbClr val="FF0000"/>
                </a:solidFill>
                <a:highlight>
                  <a:srgbClr val="FFFF00"/>
                </a:highlight>
                <a:ea typeface="+mn-lt"/>
                <a:cs typeface="+mn-lt"/>
              </a:rPr>
              <a:t>avoiding the </a:t>
            </a:r>
            <a:r>
              <a:rPr lang="en-US" dirty="0" smtClean="0">
                <a:solidFill>
                  <a:srgbClr val="FF0000"/>
                </a:solidFill>
                <a:highlight>
                  <a:srgbClr val="FFFF00"/>
                </a:highlight>
                <a:ea typeface="+mn-lt"/>
                <a:cs typeface="+mn-lt"/>
              </a:rPr>
              <a:t>finances </a:t>
            </a:r>
            <a:r>
              <a:rPr lang="en-US" dirty="0">
                <a:solidFill>
                  <a:srgbClr val="FF0000"/>
                </a:solidFill>
                <a:highlight>
                  <a:srgbClr val="FFFF00"/>
                </a:highlight>
                <a:ea typeface="+mn-lt"/>
                <a:cs typeface="+mn-lt"/>
              </a:rPr>
              <a:t>of external investors</a:t>
            </a:r>
            <a:r>
              <a:rPr lang="en-US" dirty="0">
                <a:solidFill>
                  <a:srgbClr val="222222"/>
                </a:solidFill>
                <a:ea typeface="+mn-lt"/>
                <a:cs typeface="+mn-lt"/>
              </a:rPr>
              <a:t>. </a:t>
            </a:r>
            <a:endParaRPr lang="en-US" dirty="0">
              <a:ea typeface="+mn-lt"/>
              <a:cs typeface="+mn-lt"/>
            </a:endParaRPr>
          </a:p>
          <a:p>
            <a:pPr lvl="1" algn="just">
              <a:lnSpc>
                <a:spcPct val="170000"/>
              </a:lnSpc>
              <a:spcBef>
                <a:spcPct val="0"/>
              </a:spcBef>
              <a:spcAft>
                <a:spcPct val="0"/>
              </a:spcAft>
            </a:pPr>
            <a:r>
              <a:rPr lang="en-US" dirty="0">
                <a:solidFill>
                  <a:srgbClr val="FF0000"/>
                </a:solidFill>
                <a:highlight>
                  <a:srgbClr val="FFFF00"/>
                </a:highlight>
                <a:ea typeface="+mn-lt"/>
                <a:cs typeface="+mn-lt"/>
              </a:rPr>
              <a:t>Founders invest in their own money, which gives them the freedom to develop their venture</a:t>
            </a:r>
            <a:r>
              <a:rPr lang="en-US" dirty="0">
                <a:solidFill>
                  <a:srgbClr val="222222"/>
                </a:solidFill>
                <a:ea typeface="+mn-lt"/>
                <a:cs typeface="+mn-lt"/>
              </a:rPr>
              <a:t>.</a:t>
            </a:r>
            <a:endParaRPr lang="en-US" dirty="0">
              <a:ea typeface="+mn-lt"/>
              <a:cs typeface="+mn-lt"/>
            </a:endParaRPr>
          </a:p>
          <a:p>
            <a:pPr lvl="1" algn="just">
              <a:lnSpc>
                <a:spcPct val="170000"/>
              </a:lnSpc>
              <a:spcBef>
                <a:spcPct val="0"/>
              </a:spcBef>
              <a:spcAft>
                <a:spcPct val="0"/>
              </a:spcAft>
            </a:pPr>
            <a:r>
              <a:rPr lang="en-US" dirty="0">
                <a:solidFill>
                  <a:srgbClr val="222222"/>
                </a:solidFill>
                <a:ea typeface="+mn-lt"/>
                <a:cs typeface="+mn-lt"/>
              </a:rPr>
              <a:t>Types of financial bootstrapping - joint </a:t>
            </a:r>
            <a:r>
              <a:rPr lang="en-US" dirty="0" smtClean="0">
                <a:solidFill>
                  <a:srgbClr val="222222"/>
                </a:solidFill>
                <a:ea typeface="+mn-lt"/>
                <a:cs typeface="+mn-lt"/>
              </a:rPr>
              <a:t>utilization, </a:t>
            </a:r>
            <a:r>
              <a:rPr lang="en-US" dirty="0">
                <a:solidFill>
                  <a:srgbClr val="222222"/>
                </a:solidFill>
                <a:ea typeface="+mn-lt"/>
                <a:cs typeface="+mn-lt"/>
              </a:rPr>
              <a:t>owner financing, delaying payment, personal debt, etc.</a:t>
            </a:r>
          </a:p>
          <a:p>
            <a:pPr lvl="1" algn="just">
              <a:lnSpc>
                <a:spcPct val="170000"/>
              </a:lnSpc>
              <a:spcBef>
                <a:spcPct val="0"/>
              </a:spcBef>
              <a:spcAft>
                <a:spcPct val="0"/>
              </a:spcAft>
            </a:pPr>
            <a:r>
              <a:rPr lang="en-US" dirty="0">
                <a:solidFill>
                  <a:srgbClr val="FF0000"/>
                </a:solidFill>
              </a:rPr>
              <a:t>Bootstrapping is </a:t>
            </a:r>
            <a:r>
              <a:rPr lang="en-US" b="1" dirty="0">
                <a:solidFill>
                  <a:srgbClr val="FF0000"/>
                </a:solidFill>
              </a:rPr>
              <a:t>founding and running a company using only personal finances or operating revenue</a:t>
            </a:r>
            <a:r>
              <a:rPr lang="en-US" dirty="0">
                <a:solidFill>
                  <a:srgbClr val="FF0000"/>
                </a:solidFill>
              </a:rPr>
              <a:t>. </a:t>
            </a:r>
            <a:r>
              <a:rPr lang="en-US" dirty="0"/>
              <a:t>This form of financing allows the entrepreneur to maintain more control, but it also can increase financial strain.</a:t>
            </a:r>
            <a:endParaRPr lang="en-US" dirty="0">
              <a:ea typeface="+mn-lt"/>
              <a:cs typeface="+mn-lt"/>
            </a:endParaRPr>
          </a:p>
          <a:p>
            <a:pPr algn="just">
              <a:lnSpc>
                <a:spcPct val="150000"/>
              </a:lnSpc>
              <a:spcBef>
                <a:spcPct val="0"/>
              </a:spcBef>
              <a:spcAft>
                <a:spcPct val="0"/>
              </a:spcAft>
            </a:pPr>
            <a:r>
              <a:rPr lang="en-US" b="1" dirty="0">
                <a:solidFill>
                  <a:srgbClr val="222222"/>
                </a:solidFill>
                <a:ea typeface="+mn-lt"/>
                <a:cs typeface="+mn-lt"/>
              </a:rPr>
              <a:t>Buyouts</a:t>
            </a:r>
            <a:endParaRPr lang="en-US" dirty="0">
              <a:ea typeface="+mn-lt"/>
              <a:cs typeface="+mn-lt"/>
            </a:endParaRPr>
          </a:p>
          <a:p>
            <a:pPr lvl="1" algn="just">
              <a:lnSpc>
                <a:spcPct val="150000"/>
              </a:lnSpc>
              <a:spcBef>
                <a:spcPct val="0"/>
              </a:spcBef>
              <a:spcAft>
                <a:spcPct val="0"/>
              </a:spcAft>
            </a:pPr>
            <a:r>
              <a:rPr lang="en-US" dirty="0">
                <a:solidFill>
                  <a:srgbClr val="222222"/>
                </a:solidFill>
                <a:ea typeface="+mn-lt"/>
                <a:cs typeface="+mn-lt"/>
              </a:rPr>
              <a:t>One company buying </a:t>
            </a:r>
            <a:r>
              <a:rPr lang="en-US" dirty="0" smtClean="0">
                <a:solidFill>
                  <a:srgbClr val="222222"/>
                </a:solidFill>
                <a:ea typeface="+mn-lt"/>
                <a:cs typeface="+mn-lt"/>
              </a:rPr>
              <a:t>other </a:t>
            </a:r>
            <a:r>
              <a:rPr lang="en-US" dirty="0">
                <a:solidFill>
                  <a:srgbClr val="222222"/>
                </a:solidFill>
                <a:ea typeface="+mn-lt"/>
                <a:cs typeface="+mn-lt"/>
              </a:rPr>
              <a:t>company shares more </a:t>
            </a:r>
            <a:r>
              <a:rPr lang="en-US" dirty="0" smtClean="0">
                <a:solidFill>
                  <a:srgbClr val="222222"/>
                </a:solidFill>
                <a:ea typeface="+mn-lt"/>
                <a:cs typeface="+mn-lt"/>
              </a:rPr>
              <a:t>than </a:t>
            </a:r>
            <a:r>
              <a:rPr lang="en-US" dirty="0">
                <a:solidFill>
                  <a:srgbClr val="222222"/>
                </a:solidFill>
                <a:ea typeface="+mn-lt"/>
                <a:cs typeface="+mn-lt"/>
              </a:rPr>
              <a:t>51%</a:t>
            </a:r>
          </a:p>
          <a:p>
            <a:pPr lvl="1" algn="just">
              <a:lnSpc>
                <a:spcPct val="150000"/>
              </a:lnSpc>
              <a:spcBef>
                <a:spcPct val="0"/>
              </a:spcBef>
              <a:spcAft>
                <a:spcPct val="0"/>
              </a:spcAft>
            </a:pPr>
            <a:r>
              <a:rPr lang="en-US" dirty="0">
                <a:solidFill>
                  <a:srgbClr val="000000"/>
                </a:solidFill>
                <a:ea typeface="+mn-lt"/>
                <a:cs typeface="+mn-lt"/>
              </a:rPr>
              <a:t>Then purchasing company will get controlling </a:t>
            </a:r>
            <a:r>
              <a:rPr lang="en-US" dirty="0" smtClean="0">
                <a:solidFill>
                  <a:srgbClr val="000000"/>
                </a:solidFill>
                <a:ea typeface="+mn-lt"/>
                <a:cs typeface="+mn-lt"/>
              </a:rPr>
              <a:t>rights</a:t>
            </a:r>
            <a:endParaRPr lang="en-US" dirty="0">
              <a:solidFill>
                <a:srgbClr val="000000"/>
              </a:solidFill>
              <a:ea typeface="+mn-lt"/>
              <a:cs typeface="+mn-lt"/>
            </a:endParaRPr>
          </a:p>
        </p:txBody>
      </p:sp>
    </p:spTree>
    <p:extLst>
      <p:ext uri="{BB962C8B-B14F-4D97-AF65-F5344CB8AC3E}">
        <p14:creationId xmlns:p14="http://schemas.microsoft.com/office/powerpoint/2010/main" val="1899830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075777-8B02-478B-9470-97BE1B4B8ABE}"/>
              </a:ext>
            </a:extLst>
          </p:cNvPr>
          <p:cNvSpPr>
            <a:spLocks noGrp="1"/>
          </p:cNvSpPr>
          <p:nvPr>
            <p:ph type="title"/>
          </p:nvPr>
        </p:nvSpPr>
        <p:spPr>
          <a:xfrm>
            <a:off x="0" y="1"/>
            <a:ext cx="12192000" cy="804333"/>
          </a:xfrm>
        </p:spPr>
        <p:txBody>
          <a:bodyPr/>
          <a:lstStyle/>
          <a:p>
            <a:pPr algn="ctr"/>
            <a:r>
              <a:rPr lang="en-US" b="1" dirty="0"/>
              <a:t>Entrepreneurial Sources of Finance</a:t>
            </a:r>
            <a:endParaRPr lang="en-IN" b="1">
              <a:cs typeface="Calibri Light" panose="020F0302020204030204"/>
            </a:endParaRPr>
          </a:p>
        </p:txBody>
      </p:sp>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649849"/>
            <a:ext cx="12191999" cy="6208150"/>
          </a:xfrm>
        </p:spPr>
        <p:txBody>
          <a:bodyPr vert="horz" lIns="91440" tIns="45720" rIns="91440" bIns="45720" rtlCol="0" anchor="t">
            <a:noAutofit/>
          </a:bodyPr>
          <a:lstStyle/>
          <a:p>
            <a:pPr>
              <a:lnSpc>
                <a:spcPct val="170000"/>
              </a:lnSpc>
              <a:spcBef>
                <a:spcPct val="0"/>
              </a:spcBef>
              <a:spcAft>
                <a:spcPct val="0"/>
              </a:spcAft>
            </a:pPr>
            <a:r>
              <a:rPr lang="en-US" b="1" dirty="0">
                <a:solidFill>
                  <a:srgbClr val="222222"/>
                </a:solidFill>
                <a:ea typeface="+mn-lt"/>
                <a:cs typeface="+mn-lt"/>
              </a:rPr>
              <a:t>Accelerators and Incubators</a:t>
            </a:r>
            <a:endParaRPr lang="en-US" dirty="0">
              <a:ea typeface="+mn-lt"/>
              <a:cs typeface="+mn-lt"/>
            </a:endParaRPr>
          </a:p>
          <a:p>
            <a:pPr lvl="1">
              <a:lnSpc>
                <a:spcPct val="170000"/>
              </a:lnSpc>
              <a:spcBef>
                <a:spcPct val="0"/>
              </a:spcBef>
              <a:spcAft>
                <a:spcPct val="0"/>
              </a:spcAft>
            </a:pPr>
            <a:r>
              <a:rPr lang="en-US" sz="2800" dirty="0">
                <a:solidFill>
                  <a:srgbClr val="222222"/>
                </a:solidFill>
                <a:ea typeface="+mn-lt"/>
                <a:cs typeface="+mn-lt"/>
              </a:rPr>
              <a:t>Accelerators and incubators can be government or private institutions.</a:t>
            </a:r>
            <a:endParaRPr lang="en-US" sz="2800" dirty="0">
              <a:ea typeface="+mn-lt"/>
              <a:cs typeface="+mn-lt"/>
            </a:endParaRPr>
          </a:p>
          <a:p>
            <a:pPr lvl="1">
              <a:lnSpc>
                <a:spcPct val="170000"/>
              </a:lnSpc>
              <a:spcBef>
                <a:spcPct val="0"/>
              </a:spcBef>
              <a:spcAft>
                <a:spcPct val="0"/>
              </a:spcAft>
            </a:pPr>
            <a:r>
              <a:rPr lang="en-US" sz="2800" dirty="0">
                <a:solidFill>
                  <a:srgbClr val="222222"/>
                </a:solidFill>
                <a:ea typeface="+mn-lt"/>
                <a:cs typeface="+mn-lt"/>
              </a:rPr>
              <a:t>The objective  is to </a:t>
            </a:r>
            <a:r>
              <a:rPr lang="en-US" sz="2800" dirty="0">
                <a:solidFill>
                  <a:srgbClr val="222222"/>
                </a:solidFill>
                <a:highlight>
                  <a:srgbClr val="FFFF00"/>
                </a:highlight>
                <a:ea typeface="+mn-lt"/>
                <a:cs typeface="+mn-lt"/>
              </a:rPr>
              <a:t>assist the ventures with advice, access for network, shared resources, and mentorship to grow. </a:t>
            </a:r>
            <a:endParaRPr lang="en-US" sz="2800" dirty="0">
              <a:solidFill>
                <a:srgbClr val="000000"/>
              </a:solidFill>
              <a:highlight>
                <a:srgbClr val="FFFF00"/>
              </a:highlight>
              <a:ea typeface="+mn-lt"/>
              <a:cs typeface="+mn-lt"/>
            </a:endParaRPr>
          </a:p>
          <a:p>
            <a:pPr lvl="1">
              <a:lnSpc>
                <a:spcPct val="170000"/>
              </a:lnSpc>
              <a:spcBef>
                <a:spcPct val="0"/>
              </a:spcBef>
              <a:spcAft>
                <a:spcPct val="0"/>
              </a:spcAft>
            </a:pPr>
            <a:r>
              <a:rPr lang="en-US" sz="2800" dirty="0">
                <a:solidFill>
                  <a:srgbClr val="222222"/>
                </a:solidFill>
                <a:ea typeface="+mn-lt"/>
                <a:cs typeface="+mn-lt"/>
              </a:rPr>
              <a:t>They  also </a:t>
            </a:r>
            <a:r>
              <a:rPr lang="en-US" sz="2800" dirty="0">
                <a:solidFill>
                  <a:srgbClr val="222222"/>
                </a:solidFill>
                <a:highlight>
                  <a:srgbClr val="FFFF00"/>
                </a:highlight>
                <a:ea typeface="+mn-lt"/>
                <a:cs typeface="+mn-lt"/>
              </a:rPr>
              <a:t>offer physical space </a:t>
            </a:r>
            <a:r>
              <a:rPr lang="en-US" sz="2800" dirty="0">
                <a:solidFill>
                  <a:srgbClr val="222222"/>
                </a:solidFill>
                <a:ea typeface="+mn-lt"/>
                <a:cs typeface="+mn-lt"/>
              </a:rPr>
              <a:t>along with financial resources and against that, they expect equity from the venture. </a:t>
            </a:r>
            <a:endParaRPr lang="en-US" sz="2800" dirty="0">
              <a:solidFill>
                <a:srgbClr val="000000"/>
              </a:solidFill>
              <a:ea typeface="+mn-lt"/>
              <a:cs typeface="+mn-lt"/>
            </a:endParaRPr>
          </a:p>
          <a:p>
            <a:pPr>
              <a:lnSpc>
                <a:spcPct val="170000"/>
              </a:lnSpc>
              <a:spcBef>
                <a:spcPct val="0"/>
              </a:spcBef>
              <a:spcAft>
                <a:spcPct val="0"/>
              </a:spcAft>
            </a:pPr>
            <a:endParaRPr lang="en-US" dirty="0">
              <a:ea typeface="+mn-lt"/>
              <a:cs typeface="+mn-lt"/>
            </a:endParaRPr>
          </a:p>
        </p:txBody>
      </p:sp>
    </p:spTree>
    <p:extLst>
      <p:ext uri="{BB962C8B-B14F-4D97-AF65-F5344CB8AC3E}">
        <p14:creationId xmlns:p14="http://schemas.microsoft.com/office/powerpoint/2010/main" val="35889346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j-lt"/>
                <a:cs typeface="+mj-lt"/>
              </a:rPr>
              <a:t>Entrepreneurial Sources of Finance</a:t>
            </a:r>
            <a:r>
              <a:rPr lang="en-GB" b="1" dirty="0">
                <a:ea typeface="+mj-lt"/>
                <a:cs typeface="+mj-lt"/>
              </a:rPr>
              <a:t/>
            </a:r>
            <a:br>
              <a:rPr lang="en-GB" b="1" dirty="0">
                <a:ea typeface="+mj-lt"/>
                <a:cs typeface="+mj-lt"/>
              </a:rPr>
            </a:br>
            <a:endParaRPr lang="en-US" dirty="0"/>
          </a:p>
        </p:txBody>
      </p:sp>
      <p:sp>
        <p:nvSpPr>
          <p:cNvPr id="3" name="Content Placeholder 2"/>
          <p:cNvSpPr>
            <a:spLocks noGrp="1"/>
          </p:cNvSpPr>
          <p:nvPr>
            <p:ph idx="1"/>
          </p:nvPr>
        </p:nvSpPr>
        <p:spPr>
          <a:xfrm>
            <a:off x="838200" y="1313792"/>
            <a:ext cx="10515600" cy="5034455"/>
          </a:xfrm>
        </p:spPr>
        <p:txBody>
          <a:bodyPr>
            <a:normAutofit/>
          </a:bodyPr>
          <a:lstStyle/>
          <a:p>
            <a:pPr marL="0" indent="0">
              <a:lnSpc>
                <a:spcPct val="170000"/>
              </a:lnSpc>
              <a:spcBef>
                <a:spcPct val="0"/>
              </a:spcBef>
              <a:spcAft>
                <a:spcPct val="0"/>
              </a:spcAft>
              <a:buNone/>
            </a:pPr>
            <a:r>
              <a:rPr lang="en-US" sz="2400" b="1" dirty="0">
                <a:solidFill>
                  <a:srgbClr val="222222"/>
                </a:solidFill>
                <a:ea typeface="+mn-lt"/>
                <a:cs typeface="+mn-lt"/>
              </a:rPr>
              <a:t>Crowdfunding</a:t>
            </a:r>
          </a:p>
          <a:p>
            <a:pPr>
              <a:lnSpc>
                <a:spcPct val="170000"/>
              </a:lnSpc>
              <a:spcBef>
                <a:spcPct val="0"/>
              </a:spcBef>
              <a:spcAft>
                <a:spcPct val="0"/>
              </a:spcAft>
            </a:pPr>
            <a:r>
              <a:rPr lang="en-US" sz="2400" dirty="0">
                <a:solidFill>
                  <a:srgbClr val="222222"/>
                </a:solidFill>
                <a:ea typeface="+mn-lt"/>
                <a:cs typeface="+mn-lt"/>
              </a:rPr>
              <a:t>It is pooling of resources by a group of people for common goal.</a:t>
            </a:r>
          </a:p>
          <a:p>
            <a:pPr>
              <a:lnSpc>
                <a:spcPct val="170000"/>
              </a:lnSpc>
              <a:spcBef>
                <a:spcPct val="0"/>
              </a:spcBef>
              <a:spcAft>
                <a:spcPct val="0"/>
              </a:spcAft>
            </a:pPr>
            <a:r>
              <a:rPr lang="en-US" sz="2400" dirty="0" smtClean="0">
                <a:solidFill>
                  <a:srgbClr val="222222"/>
                </a:solidFill>
                <a:ea typeface="+mn-lt"/>
                <a:cs typeface="+mn-lt"/>
              </a:rPr>
              <a:t>When a ‘crowd’ funds a project or business, rather than one or two major investors.</a:t>
            </a:r>
            <a:endParaRPr lang="en-US" sz="2400" dirty="0">
              <a:solidFill>
                <a:srgbClr val="222222"/>
              </a:solidFill>
              <a:ea typeface="+mn-lt"/>
              <a:cs typeface="+mn-lt"/>
            </a:endParaRPr>
          </a:p>
          <a:p>
            <a:pPr lvl="1">
              <a:lnSpc>
                <a:spcPct val="170000"/>
              </a:lnSpc>
              <a:spcBef>
                <a:spcPct val="0"/>
              </a:spcBef>
              <a:spcAft>
                <a:spcPct val="0"/>
              </a:spcAft>
            </a:pPr>
            <a:r>
              <a:rPr lang="en-US" b="1" dirty="0" smtClean="0">
                <a:solidFill>
                  <a:srgbClr val="222222"/>
                </a:solidFill>
                <a:ea typeface="+mn-lt"/>
                <a:cs typeface="+mn-lt"/>
              </a:rPr>
              <a:t>Investment-based/Equity based Crowdfunding</a:t>
            </a:r>
            <a:endParaRPr lang="en-US" dirty="0">
              <a:ea typeface="+mn-lt"/>
              <a:cs typeface="+mn-lt"/>
            </a:endParaRPr>
          </a:p>
          <a:p>
            <a:pPr marL="457200" lvl="1" indent="0">
              <a:lnSpc>
                <a:spcPct val="170000"/>
              </a:lnSpc>
              <a:spcBef>
                <a:spcPct val="0"/>
              </a:spcBef>
              <a:spcAft>
                <a:spcPct val="0"/>
              </a:spcAft>
              <a:buNone/>
            </a:pPr>
            <a:r>
              <a:rPr lang="en-US" dirty="0" smtClean="0">
                <a:solidFill>
                  <a:srgbClr val="222222"/>
                </a:solidFill>
                <a:ea typeface="+mn-lt"/>
                <a:cs typeface="+mn-lt"/>
              </a:rPr>
              <a:t>	In </a:t>
            </a:r>
            <a:r>
              <a:rPr lang="en-US" dirty="0">
                <a:solidFill>
                  <a:srgbClr val="222222"/>
                </a:solidFill>
                <a:ea typeface="+mn-lt"/>
                <a:cs typeface="+mn-lt"/>
              </a:rPr>
              <a:t>which entrepreneurs make an open call on the website with an intention </a:t>
            </a:r>
            <a:r>
              <a:rPr lang="en-US" dirty="0" smtClean="0">
                <a:solidFill>
                  <a:srgbClr val="222222"/>
                </a:solidFill>
                <a:ea typeface="+mn-lt"/>
                <a:cs typeface="+mn-lt"/>
              </a:rPr>
              <a:t> </a:t>
            </a:r>
            <a:r>
              <a:rPr lang="en-US" dirty="0">
                <a:solidFill>
                  <a:srgbClr val="222222"/>
                </a:solidFill>
                <a:ea typeface="+mn-lt"/>
                <a:cs typeface="+mn-lt"/>
              </a:rPr>
              <a:t>to sell a specific amount of equity.</a:t>
            </a:r>
            <a:endParaRPr lang="en-US" dirty="0">
              <a:ea typeface="+mn-lt"/>
              <a:cs typeface="+mn-lt"/>
            </a:endParaRP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ACC791-71F5-4A40-83BC-2134A543FB20}"/>
              </a:ext>
            </a:extLst>
          </p:cNvPr>
          <p:cNvSpPr>
            <a:spLocks noGrp="1"/>
          </p:cNvSpPr>
          <p:nvPr>
            <p:ph type="title"/>
          </p:nvPr>
        </p:nvSpPr>
        <p:spPr/>
        <p:txBody>
          <a:bodyPr>
            <a:normAutofit/>
          </a:bodyPr>
          <a:lstStyle/>
          <a:p>
            <a:pPr algn="ctr"/>
            <a:r>
              <a:rPr lang="en-US" b="1" dirty="0">
                <a:ea typeface="+mj-lt"/>
                <a:cs typeface="+mj-lt"/>
              </a:rPr>
              <a:t>Entrepreneurial Sources of Finance</a:t>
            </a:r>
            <a:endParaRPr lang="en-GB" b="1" dirty="0">
              <a:ea typeface="+mj-lt"/>
              <a:cs typeface="+mj-lt"/>
            </a:endParaRPr>
          </a:p>
          <a:p>
            <a:endParaRPr lang="en-GB" b="1" dirty="0">
              <a:cs typeface="Calibri Light"/>
            </a:endParaRPr>
          </a:p>
        </p:txBody>
      </p:sp>
      <p:sp>
        <p:nvSpPr>
          <p:cNvPr id="5" name="Content Placeholder 4">
            <a:extLst>
              <a:ext uri="{FF2B5EF4-FFF2-40B4-BE49-F238E27FC236}">
                <a16:creationId xmlns:a16="http://schemas.microsoft.com/office/drawing/2014/main" xmlns="" id="{BFF00A38-E963-4707-B178-AD11DC035865}"/>
              </a:ext>
            </a:extLst>
          </p:cNvPr>
          <p:cNvSpPr>
            <a:spLocks noGrp="1"/>
          </p:cNvSpPr>
          <p:nvPr>
            <p:ph idx="1"/>
          </p:nvPr>
        </p:nvSpPr>
        <p:spPr>
          <a:xfrm>
            <a:off x="346588" y="1026755"/>
            <a:ext cx="11842953" cy="5666401"/>
          </a:xfrm>
        </p:spPr>
        <p:txBody>
          <a:bodyPr vert="horz" lIns="91440" tIns="45720" rIns="91440" bIns="45720" rtlCol="0" anchor="t">
            <a:normAutofit/>
          </a:bodyPr>
          <a:lstStyle/>
          <a:p>
            <a:pPr lvl="1">
              <a:lnSpc>
                <a:spcPct val="170000"/>
              </a:lnSpc>
              <a:spcBef>
                <a:spcPct val="0"/>
              </a:spcBef>
              <a:spcAft>
                <a:spcPct val="0"/>
              </a:spcAft>
            </a:pPr>
            <a:endParaRPr lang="en-GB" dirty="0">
              <a:cs typeface="Calibri" panose="020F0502020204030204"/>
            </a:endParaRPr>
          </a:p>
          <a:p>
            <a:pPr lvl="1">
              <a:lnSpc>
                <a:spcPct val="170000"/>
              </a:lnSpc>
              <a:spcBef>
                <a:spcPct val="0"/>
              </a:spcBef>
              <a:spcAft>
                <a:spcPct val="0"/>
              </a:spcAft>
            </a:pPr>
            <a:r>
              <a:rPr lang="en-US" b="1" dirty="0">
                <a:solidFill>
                  <a:srgbClr val="222222"/>
                </a:solidFill>
                <a:cs typeface="Calibri"/>
              </a:rPr>
              <a:t>Reward-based </a:t>
            </a:r>
            <a:r>
              <a:rPr lang="en-US" b="1" dirty="0" smtClean="0">
                <a:solidFill>
                  <a:srgbClr val="222222"/>
                </a:solidFill>
                <a:cs typeface="Calibri"/>
              </a:rPr>
              <a:t>crowdfunding </a:t>
            </a:r>
            <a:r>
              <a:rPr lang="en-US" dirty="0" smtClean="0">
                <a:solidFill>
                  <a:srgbClr val="222222"/>
                </a:solidFill>
                <a:cs typeface="Calibri"/>
              </a:rPr>
              <a:t>: donors receive something in return for their donations.</a:t>
            </a:r>
            <a:endParaRPr lang="en-US" dirty="0">
              <a:ea typeface="+mn-lt"/>
              <a:cs typeface="+mn-lt"/>
            </a:endParaRPr>
          </a:p>
          <a:p>
            <a:pPr lvl="1">
              <a:lnSpc>
                <a:spcPct val="170000"/>
              </a:lnSpc>
              <a:spcBef>
                <a:spcPct val="0"/>
              </a:spcBef>
              <a:spcAft>
                <a:spcPct val="0"/>
              </a:spcAft>
            </a:pPr>
            <a:r>
              <a:rPr lang="en-US" b="1" dirty="0">
                <a:solidFill>
                  <a:srgbClr val="222222"/>
                </a:solidFill>
                <a:cs typeface="Calibri"/>
              </a:rPr>
              <a:t>Donation-based </a:t>
            </a:r>
            <a:r>
              <a:rPr lang="en-US" b="1" dirty="0" smtClean="0">
                <a:solidFill>
                  <a:srgbClr val="222222"/>
                </a:solidFill>
                <a:cs typeface="Calibri"/>
              </a:rPr>
              <a:t>crowdfunding: </a:t>
            </a:r>
            <a:r>
              <a:rPr lang="en-US" dirty="0" smtClean="0">
                <a:solidFill>
                  <a:srgbClr val="222222"/>
                </a:solidFill>
                <a:cs typeface="Calibri"/>
              </a:rPr>
              <a:t>Individuals </a:t>
            </a:r>
            <a:r>
              <a:rPr lang="en-US" dirty="0">
                <a:solidFill>
                  <a:srgbClr val="222222"/>
                </a:solidFill>
                <a:cs typeface="Calibri"/>
              </a:rPr>
              <a:t>or NGOs </a:t>
            </a:r>
          </a:p>
          <a:p>
            <a:pPr lvl="1">
              <a:lnSpc>
                <a:spcPct val="170000"/>
              </a:lnSpc>
              <a:spcBef>
                <a:spcPct val="0"/>
              </a:spcBef>
              <a:spcAft>
                <a:spcPct val="0"/>
              </a:spcAft>
            </a:pPr>
            <a:r>
              <a:rPr lang="en-US" b="1" dirty="0">
                <a:solidFill>
                  <a:srgbClr val="222222"/>
                </a:solidFill>
                <a:cs typeface="Calibri"/>
              </a:rPr>
              <a:t> Lending-based </a:t>
            </a:r>
            <a:r>
              <a:rPr lang="en-US" b="1" dirty="0" smtClean="0">
                <a:solidFill>
                  <a:srgbClr val="222222"/>
                </a:solidFill>
                <a:cs typeface="Calibri"/>
              </a:rPr>
              <a:t>crowdfunding</a:t>
            </a:r>
            <a:r>
              <a:rPr lang="en-US" dirty="0" smtClean="0">
                <a:ea typeface="+mn-lt"/>
                <a:cs typeface="+mn-lt"/>
              </a:rPr>
              <a:t>: </a:t>
            </a:r>
            <a:r>
              <a:rPr lang="en-US" dirty="0" smtClean="0">
                <a:solidFill>
                  <a:srgbClr val="222222"/>
                </a:solidFill>
                <a:cs typeface="Calibri"/>
              </a:rPr>
              <a:t>The </a:t>
            </a:r>
            <a:r>
              <a:rPr lang="en-US" dirty="0">
                <a:solidFill>
                  <a:srgbClr val="222222"/>
                </a:solidFill>
                <a:cs typeface="Calibri"/>
              </a:rPr>
              <a:t>lenders receive a fixed interest for their loans, which is the primary objective of the crowd.</a:t>
            </a:r>
            <a:endParaRPr lang="en-US" dirty="0">
              <a:ea typeface="+mn-lt"/>
              <a:cs typeface="+mn-lt"/>
            </a:endParaRPr>
          </a:p>
          <a:p>
            <a:endParaRPr lang="en-GB" dirty="0">
              <a:cs typeface="Calibri"/>
            </a:endParaRPr>
          </a:p>
        </p:txBody>
      </p:sp>
    </p:spTree>
    <p:extLst>
      <p:ext uri="{BB962C8B-B14F-4D97-AF65-F5344CB8AC3E}">
        <p14:creationId xmlns:p14="http://schemas.microsoft.com/office/powerpoint/2010/main" val="22038180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075777-8B02-478B-9470-97BE1B4B8ABE}"/>
              </a:ext>
            </a:extLst>
          </p:cNvPr>
          <p:cNvSpPr>
            <a:spLocks noGrp="1"/>
          </p:cNvSpPr>
          <p:nvPr>
            <p:ph type="title"/>
          </p:nvPr>
        </p:nvSpPr>
        <p:spPr>
          <a:xfrm>
            <a:off x="0" y="1"/>
            <a:ext cx="12192000" cy="804333"/>
          </a:xfrm>
        </p:spPr>
        <p:txBody>
          <a:bodyPr/>
          <a:lstStyle/>
          <a:p>
            <a:pPr algn="ctr"/>
            <a:r>
              <a:rPr lang="en-US" b="1" dirty="0"/>
              <a:t>Entrepreneurial Sources of Finance</a:t>
            </a:r>
            <a:endParaRPr lang="en-IN" b="1">
              <a:cs typeface="Calibri Light" panose="020F0302020204030204"/>
            </a:endParaRPr>
          </a:p>
        </p:txBody>
      </p:sp>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752523"/>
            <a:ext cx="12191999" cy="6105476"/>
          </a:xfrm>
        </p:spPr>
        <p:txBody>
          <a:bodyPr vert="horz" lIns="91440" tIns="45720" rIns="91440" bIns="45720" rtlCol="0" anchor="t">
            <a:noAutofit/>
          </a:bodyPr>
          <a:lstStyle/>
          <a:p>
            <a:pPr marL="342900" indent="-342900">
              <a:lnSpc>
                <a:spcPct val="170000"/>
              </a:lnSpc>
              <a:spcBef>
                <a:spcPct val="0"/>
              </a:spcBef>
              <a:spcAft>
                <a:spcPct val="0"/>
              </a:spcAft>
            </a:pPr>
            <a:r>
              <a:rPr lang="en-US" sz="2000" b="1" dirty="0">
                <a:solidFill>
                  <a:srgbClr val="222222"/>
                </a:solidFill>
                <a:ea typeface="+mn-lt"/>
                <a:cs typeface="+mn-lt"/>
              </a:rPr>
              <a:t> IP based investment funds</a:t>
            </a:r>
            <a:endParaRPr lang="en-US" sz="2000" dirty="0">
              <a:ea typeface="+mn-lt"/>
              <a:cs typeface="+mn-lt"/>
            </a:endParaRPr>
          </a:p>
          <a:p>
            <a:pPr lvl="1">
              <a:lnSpc>
                <a:spcPct val="170000"/>
              </a:lnSpc>
              <a:spcBef>
                <a:spcPct val="0"/>
              </a:spcBef>
              <a:spcAft>
                <a:spcPct val="0"/>
              </a:spcAft>
            </a:pPr>
            <a:r>
              <a:rPr lang="en-US" sz="2000" dirty="0">
                <a:solidFill>
                  <a:srgbClr val="222222"/>
                </a:solidFill>
                <a:ea typeface="+mn-lt"/>
                <a:cs typeface="+mn-lt"/>
              </a:rPr>
              <a:t>These investment funds invest in intellectual properties. They primarily look into </a:t>
            </a:r>
            <a:r>
              <a:rPr lang="en-US" sz="2000" dirty="0">
                <a:solidFill>
                  <a:srgbClr val="222222"/>
                </a:solidFill>
                <a:highlight>
                  <a:srgbClr val="FFFF00"/>
                </a:highlight>
                <a:ea typeface="+mn-lt"/>
                <a:cs typeface="+mn-lt"/>
              </a:rPr>
              <a:t>patents</a:t>
            </a:r>
            <a:r>
              <a:rPr lang="en-US" sz="2000" dirty="0">
                <a:solidFill>
                  <a:srgbClr val="222222"/>
                </a:solidFill>
                <a:ea typeface="+mn-lt"/>
                <a:cs typeface="+mn-lt"/>
              </a:rPr>
              <a:t>. When they invest in intellectual property, they can monetize it and use those funds to grow their venture.</a:t>
            </a:r>
            <a:endParaRPr lang="en-US" sz="2000" dirty="0">
              <a:ea typeface="+mn-lt"/>
              <a:cs typeface="+mn-lt"/>
            </a:endParaRPr>
          </a:p>
          <a:p>
            <a:pPr lvl="1">
              <a:lnSpc>
                <a:spcPct val="170000"/>
              </a:lnSpc>
              <a:spcBef>
                <a:spcPct val="0"/>
              </a:spcBef>
              <a:spcAft>
                <a:spcPct val="0"/>
              </a:spcAft>
            </a:pPr>
            <a:r>
              <a:rPr lang="en-US" sz="2000" dirty="0">
                <a:solidFill>
                  <a:srgbClr val="222222"/>
                </a:solidFill>
                <a:ea typeface="+mn-lt"/>
                <a:cs typeface="+mn-lt"/>
              </a:rPr>
              <a:t>Therefore IP-based investment funds do not provide debt or equity.</a:t>
            </a:r>
            <a:endParaRPr lang="en-US" sz="2000" dirty="0">
              <a:ea typeface="+mn-lt"/>
              <a:cs typeface="+mn-lt"/>
            </a:endParaRPr>
          </a:p>
        </p:txBody>
      </p:sp>
    </p:spTree>
    <p:extLst>
      <p:ext uri="{BB962C8B-B14F-4D97-AF65-F5344CB8AC3E}">
        <p14:creationId xmlns:p14="http://schemas.microsoft.com/office/powerpoint/2010/main" val="25275796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075777-8B02-478B-9470-97BE1B4B8ABE}"/>
              </a:ext>
            </a:extLst>
          </p:cNvPr>
          <p:cNvSpPr>
            <a:spLocks noGrp="1"/>
          </p:cNvSpPr>
          <p:nvPr>
            <p:ph type="title"/>
          </p:nvPr>
        </p:nvSpPr>
        <p:spPr>
          <a:xfrm>
            <a:off x="0" y="1"/>
            <a:ext cx="12192000" cy="837189"/>
          </a:xfrm>
        </p:spPr>
        <p:txBody>
          <a:bodyPr/>
          <a:lstStyle/>
          <a:p>
            <a:pPr algn="ctr"/>
            <a:r>
              <a:rPr lang="en-US" b="1"/>
              <a:t>Sources of Finance</a:t>
            </a:r>
            <a:endParaRPr lang="en-IN" b="1">
              <a:cs typeface="Calibri Light" panose="020F0302020204030204"/>
            </a:endParaRPr>
          </a:p>
        </p:txBody>
      </p:sp>
      <p:graphicFrame>
        <p:nvGraphicFramePr>
          <p:cNvPr id="4" name="Diagram 4">
            <a:extLst>
              <a:ext uri="{FF2B5EF4-FFF2-40B4-BE49-F238E27FC236}">
                <a16:creationId xmlns:a16="http://schemas.microsoft.com/office/drawing/2014/main" xmlns="" id="{2C47A2C5-5D90-421F-BA22-5BF9A7AD35C9}"/>
              </a:ext>
            </a:extLst>
          </p:cNvPr>
          <p:cNvGraphicFramePr>
            <a:graphicFrameLocks noGrp="1"/>
          </p:cNvGraphicFramePr>
          <p:nvPr>
            <p:ph idx="1"/>
            <p:extLst>
              <p:ext uri="{D42A27DB-BD31-4B8C-83A1-F6EECF244321}">
                <p14:modId xmlns:p14="http://schemas.microsoft.com/office/powerpoint/2010/main" val="1797451296"/>
              </p:ext>
            </p:extLst>
          </p:nvPr>
        </p:nvGraphicFramePr>
        <p:xfrm>
          <a:off x="7962" y="927148"/>
          <a:ext cx="12198823" cy="5943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66657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31745F-77DE-4E29-95E7-F6C6F8441E4E}"/>
              </a:ext>
            </a:extLst>
          </p:cNvPr>
          <p:cNvSpPr>
            <a:spLocks noGrp="1"/>
          </p:cNvSpPr>
          <p:nvPr>
            <p:ph type="title"/>
          </p:nvPr>
        </p:nvSpPr>
        <p:spPr/>
        <p:txBody>
          <a:bodyPr/>
          <a:lstStyle/>
          <a:p>
            <a:r>
              <a:rPr lang="en-IN" dirty="0"/>
              <a:t>Bill Discounting</a:t>
            </a:r>
          </a:p>
        </p:txBody>
      </p:sp>
      <p:sp>
        <p:nvSpPr>
          <p:cNvPr id="3" name="Content Placeholder 2">
            <a:extLst>
              <a:ext uri="{FF2B5EF4-FFF2-40B4-BE49-F238E27FC236}">
                <a16:creationId xmlns:a16="http://schemas.microsoft.com/office/drawing/2014/main" xmlns="" id="{AB0740E2-C4A4-6917-1EC0-73CDF5F33E1A}"/>
              </a:ext>
            </a:extLst>
          </p:cNvPr>
          <p:cNvSpPr>
            <a:spLocks noGrp="1"/>
          </p:cNvSpPr>
          <p:nvPr>
            <p:ph idx="1"/>
          </p:nvPr>
        </p:nvSpPr>
        <p:spPr/>
        <p:txBody>
          <a:bodyPr/>
          <a:lstStyle/>
          <a:p>
            <a:endParaRPr lang="en-IN"/>
          </a:p>
        </p:txBody>
      </p:sp>
      <p:pic>
        <p:nvPicPr>
          <p:cNvPr id="2050" name="Picture 2" descr="Bill Of Exchange: Meaning, definition, types, format, importance">
            <a:extLst>
              <a:ext uri="{FF2B5EF4-FFF2-40B4-BE49-F238E27FC236}">
                <a16:creationId xmlns:a16="http://schemas.microsoft.com/office/drawing/2014/main" xmlns="" id="{5EA3EB71-81FF-FA7C-0D45-770C8872C9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152" y="1843088"/>
            <a:ext cx="10381647"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5751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075777-8B02-478B-9470-97BE1B4B8ABE}"/>
              </a:ext>
            </a:extLst>
          </p:cNvPr>
          <p:cNvSpPr>
            <a:spLocks noGrp="1"/>
          </p:cNvSpPr>
          <p:nvPr>
            <p:ph type="title"/>
          </p:nvPr>
        </p:nvSpPr>
        <p:spPr>
          <a:xfrm>
            <a:off x="0" y="1"/>
            <a:ext cx="12192000" cy="793749"/>
          </a:xfrm>
        </p:spPr>
        <p:txBody>
          <a:bodyPr/>
          <a:lstStyle/>
          <a:p>
            <a:pPr algn="ctr"/>
            <a:r>
              <a:rPr lang="en-US" b="1" dirty="0">
                <a:cs typeface="Calibri Light"/>
              </a:rPr>
              <a:t>Loans from Financial Institutions</a:t>
            </a:r>
          </a:p>
        </p:txBody>
      </p:sp>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635000"/>
            <a:ext cx="7196665" cy="6222999"/>
          </a:xfrm>
        </p:spPr>
        <p:txBody>
          <a:bodyPr vert="horz" lIns="91440" tIns="45720" rIns="91440" bIns="45720" rtlCol="0" anchor="t">
            <a:normAutofit fontScale="77500" lnSpcReduction="20000"/>
          </a:bodyPr>
          <a:lstStyle/>
          <a:p>
            <a:pPr algn="just">
              <a:lnSpc>
                <a:spcPct val="160000"/>
              </a:lnSpc>
            </a:pPr>
            <a:r>
              <a:rPr lang="en-IN" b="1" dirty="0">
                <a:ea typeface="+mn-lt"/>
                <a:cs typeface="+mn-lt"/>
              </a:rPr>
              <a:t>Financial Institutions </a:t>
            </a:r>
            <a:endParaRPr lang="en-IN" dirty="0">
              <a:ea typeface="+mn-lt"/>
              <a:cs typeface="+mn-lt"/>
            </a:endParaRPr>
          </a:p>
          <a:p>
            <a:pPr lvl="1" algn="just">
              <a:lnSpc>
                <a:spcPct val="160000"/>
              </a:lnSpc>
            </a:pPr>
            <a:r>
              <a:rPr lang="en-IN" dirty="0">
                <a:ea typeface="+mn-lt"/>
                <a:cs typeface="+mn-lt"/>
              </a:rPr>
              <a:t>Industrial Development Bank of India (IDBI)</a:t>
            </a:r>
            <a:endParaRPr lang="en-IN" dirty="0">
              <a:cs typeface="Calibri" panose="020F0502020204030204"/>
            </a:endParaRPr>
          </a:p>
          <a:p>
            <a:pPr lvl="1" algn="just">
              <a:lnSpc>
                <a:spcPct val="160000"/>
              </a:lnSpc>
            </a:pPr>
            <a:r>
              <a:rPr lang="en-IN" dirty="0">
                <a:ea typeface="+mn-lt"/>
                <a:cs typeface="+mn-lt"/>
              </a:rPr>
              <a:t>Industrial Credit and Investment Corporations of India Ltd (ICICI)</a:t>
            </a:r>
          </a:p>
          <a:p>
            <a:pPr lvl="1" algn="just">
              <a:lnSpc>
                <a:spcPct val="160000"/>
              </a:lnSpc>
            </a:pPr>
            <a:r>
              <a:rPr lang="en-IN" dirty="0">
                <a:ea typeface="+mn-lt"/>
                <a:cs typeface="+mn-lt"/>
              </a:rPr>
              <a:t>Industrial Finance Corporation of India (IFCI)</a:t>
            </a:r>
          </a:p>
          <a:p>
            <a:pPr lvl="1" algn="just">
              <a:lnSpc>
                <a:spcPct val="160000"/>
              </a:lnSpc>
            </a:pPr>
            <a:r>
              <a:rPr lang="en-IN" dirty="0">
                <a:ea typeface="+mn-lt"/>
                <a:cs typeface="+mn-lt"/>
              </a:rPr>
              <a:t>Industrial Investment Bank of India(IIBI)</a:t>
            </a:r>
            <a:endParaRPr lang="en-IN" dirty="0">
              <a:cs typeface="Calibri"/>
            </a:endParaRPr>
          </a:p>
          <a:p>
            <a:pPr lvl="1" algn="just">
              <a:lnSpc>
                <a:spcPct val="160000"/>
              </a:lnSpc>
            </a:pPr>
            <a:r>
              <a:rPr lang="en-IN" dirty="0">
                <a:ea typeface="+mn-lt"/>
                <a:cs typeface="+mn-lt"/>
              </a:rPr>
              <a:t>Small Industries Development Bank of India (SIDBI)</a:t>
            </a:r>
            <a:endParaRPr lang="en-IN" dirty="0">
              <a:cs typeface="Calibri"/>
            </a:endParaRPr>
          </a:p>
          <a:p>
            <a:pPr lvl="1" algn="just">
              <a:lnSpc>
                <a:spcPct val="160000"/>
              </a:lnSpc>
            </a:pPr>
            <a:r>
              <a:rPr lang="en-IN" dirty="0">
                <a:ea typeface="+mn-lt"/>
                <a:cs typeface="+mn-lt"/>
              </a:rPr>
              <a:t>National Small Industries Corporation Ltd (NSIC)</a:t>
            </a:r>
            <a:endParaRPr lang="en-IN" dirty="0">
              <a:cs typeface="Calibri"/>
            </a:endParaRPr>
          </a:p>
          <a:p>
            <a:pPr lvl="1" algn="just">
              <a:lnSpc>
                <a:spcPct val="160000"/>
              </a:lnSpc>
            </a:pPr>
            <a:r>
              <a:rPr lang="en-IN" dirty="0">
                <a:ea typeface="+mn-lt"/>
                <a:cs typeface="+mn-lt"/>
              </a:rPr>
              <a:t>State Small Industries Corporation (SSIC)</a:t>
            </a:r>
            <a:endParaRPr lang="en-IN" dirty="0">
              <a:cs typeface="Calibri"/>
            </a:endParaRPr>
          </a:p>
          <a:p>
            <a:pPr lvl="1" algn="just">
              <a:lnSpc>
                <a:spcPct val="160000"/>
              </a:lnSpc>
            </a:pPr>
            <a:r>
              <a:rPr lang="en-IN" dirty="0">
                <a:ea typeface="+mn-lt"/>
                <a:cs typeface="+mn-lt"/>
              </a:rPr>
              <a:t>Regional Rural Banks (RRBs)</a:t>
            </a:r>
            <a:endParaRPr lang="en-IN" dirty="0">
              <a:cs typeface="Calibri"/>
            </a:endParaRPr>
          </a:p>
          <a:p>
            <a:pPr lvl="1" algn="just">
              <a:lnSpc>
                <a:spcPct val="160000"/>
              </a:lnSpc>
            </a:pPr>
            <a:r>
              <a:rPr lang="en-IN" dirty="0">
                <a:ea typeface="+mn-lt"/>
                <a:cs typeface="+mn-lt"/>
              </a:rPr>
              <a:t>State Financial Corporations (SFCs)</a:t>
            </a:r>
            <a:endParaRPr lang="en-IN" dirty="0">
              <a:cs typeface="Calibri"/>
            </a:endParaRPr>
          </a:p>
          <a:p>
            <a:pPr lvl="1" algn="just">
              <a:lnSpc>
                <a:spcPct val="160000"/>
              </a:lnSpc>
            </a:pPr>
            <a:r>
              <a:rPr lang="en-IN" dirty="0">
                <a:ea typeface="+mn-lt"/>
                <a:cs typeface="+mn-lt"/>
              </a:rPr>
              <a:t>State Industrial Development Corporations (SIDCs)</a:t>
            </a:r>
            <a:endParaRPr lang="en-IN" dirty="0">
              <a:cs typeface="Calibri"/>
            </a:endParaRPr>
          </a:p>
          <a:p>
            <a:pPr lvl="1" algn="just">
              <a:lnSpc>
                <a:spcPct val="160000"/>
              </a:lnSpc>
            </a:pPr>
            <a:r>
              <a:rPr lang="en-IN" dirty="0">
                <a:ea typeface="+mn-lt"/>
                <a:cs typeface="+mn-lt"/>
              </a:rPr>
              <a:t>Cooperative Banks and </a:t>
            </a:r>
            <a:r>
              <a:rPr lang="en-IN" dirty="0" err="1">
                <a:ea typeface="+mn-lt"/>
                <a:cs typeface="+mn-lt"/>
              </a:rPr>
              <a:t>Gramin</a:t>
            </a:r>
            <a:r>
              <a:rPr lang="en-IN" dirty="0">
                <a:ea typeface="+mn-lt"/>
                <a:cs typeface="+mn-lt"/>
              </a:rPr>
              <a:t> Banks</a:t>
            </a:r>
            <a:endParaRPr lang="en-IN" dirty="0">
              <a:cs typeface="Calibri"/>
            </a:endParaRPr>
          </a:p>
          <a:p>
            <a:pPr lvl="1" algn="just">
              <a:lnSpc>
                <a:spcPct val="160000"/>
              </a:lnSpc>
            </a:pPr>
            <a:r>
              <a:rPr lang="en-IN" dirty="0">
                <a:ea typeface="+mn-lt"/>
                <a:cs typeface="+mn-lt"/>
              </a:rPr>
              <a:t>Micro, Small, and Medium Enterprises (MSME's)</a:t>
            </a:r>
            <a:endParaRPr lang="en-IN" dirty="0">
              <a:cs typeface="Calibri" panose="020F0502020204030204"/>
            </a:endParaRPr>
          </a:p>
        </p:txBody>
      </p:sp>
      <p:sp>
        <p:nvSpPr>
          <p:cNvPr id="6" name="Content Placeholder 2">
            <a:extLst>
              <a:ext uri="{FF2B5EF4-FFF2-40B4-BE49-F238E27FC236}">
                <a16:creationId xmlns:a16="http://schemas.microsoft.com/office/drawing/2014/main" xmlns="" id="{B3541E4B-7925-45C3-91E3-7F13983A6A71}"/>
              </a:ext>
            </a:extLst>
          </p:cNvPr>
          <p:cNvSpPr txBox="1">
            <a:spLocks/>
          </p:cNvSpPr>
          <p:nvPr/>
        </p:nvSpPr>
        <p:spPr>
          <a:xfrm>
            <a:off x="7243233" y="692150"/>
            <a:ext cx="4804832" cy="622299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60000"/>
              </a:lnSpc>
            </a:pPr>
            <a:r>
              <a:rPr lang="en-IN" b="1" dirty="0">
                <a:ea typeface="+mn-lt"/>
                <a:cs typeface="+mn-lt"/>
              </a:rPr>
              <a:t>Institutions for technical guidance</a:t>
            </a:r>
            <a:endParaRPr lang="en-IN" dirty="0">
              <a:cs typeface="Calibri" panose="020F0502020204030204"/>
            </a:endParaRPr>
          </a:p>
          <a:p>
            <a:pPr lvl="1" algn="just">
              <a:lnSpc>
                <a:spcPct val="160000"/>
              </a:lnSpc>
            </a:pPr>
            <a:r>
              <a:rPr lang="en-IN" dirty="0">
                <a:ea typeface="+mn-lt"/>
                <a:cs typeface="+mn-lt"/>
              </a:rPr>
              <a:t>Small Industries Development Organisation (SIDO)</a:t>
            </a:r>
            <a:endParaRPr lang="en-IN">
              <a:cs typeface="Calibri"/>
            </a:endParaRPr>
          </a:p>
          <a:p>
            <a:pPr lvl="1" algn="just">
              <a:lnSpc>
                <a:spcPct val="160000"/>
              </a:lnSpc>
            </a:pPr>
            <a:r>
              <a:rPr lang="en-IN" dirty="0">
                <a:ea typeface="+mn-lt"/>
                <a:cs typeface="+mn-lt"/>
              </a:rPr>
              <a:t> District Industries Centres (DICs)</a:t>
            </a:r>
            <a:endParaRPr lang="en-IN">
              <a:cs typeface="Calibri"/>
            </a:endParaRPr>
          </a:p>
          <a:p>
            <a:pPr lvl="1" algn="just">
              <a:lnSpc>
                <a:spcPct val="160000"/>
              </a:lnSpc>
            </a:pPr>
            <a:r>
              <a:rPr lang="en-IN" dirty="0">
                <a:ea typeface="+mn-lt"/>
                <a:cs typeface="+mn-lt"/>
              </a:rPr>
              <a:t>Technical Consultancy Organisations (TCOs)</a:t>
            </a:r>
            <a:endParaRPr lang="en-IN" dirty="0">
              <a:cs typeface="Calibri"/>
            </a:endParaRPr>
          </a:p>
        </p:txBody>
      </p:sp>
    </p:spTree>
    <p:extLst>
      <p:ext uri="{BB962C8B-B14F-4D97-AF65-F5344CB8AC3E}">
        <p14:creationId xmlns:p14="http://schemas.microsoft.com/office/powerpoint/2010/main" val="5293312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Industrial Development Bank of India(IDBI)</a:t>
            </a:r>
          </a:p>
        </p:txBody>
      </p:sp>
      <p:sp>
        <p:nvSpPr>
          <p:cNvPr id="3" name="Content Placeholder 2"/>
          <p:cNvSpPr>
            <a:spLocks noGrp="1"/>
          </p:cNvSpPr>
          <p:nvPr>
            <p:ph idx="1"/>
          </p:nvPr>
        </p:nvSpPr>
        <p:spPr>
          <a:xfrm>
            <a:off x="451945" y="1513490"/>
            <a:ext cx="11161986" cy="5108027"/>
          </a:xfrm>
        </p:spPr>
        <p:txBody>
          <a:bodyPr>
            <a:normAutofit/>
          </a:bodyPr>
          <a:lstStyle/>
          <a:p>
            <a:r>
              <a:rPr lang="en-US" sz="3200" dirty="0"/>
              <a:t>1</a:t>
            </a:r>
            <a:r>
              <a:rPr lang="en-US" sz="3200" baseline="30000" dirty="0"/>
              <a:t>st</a:t>
            </a:r>
            <a:r>
              <a:rPr lang="en-US" sz="3200" dirty="0"/>
              <a:t> July,1964</a:t>
            </a:r>
          </a:p>
          <a:p>
            <a:r>
              <a:rPr lang="en-US" sz="3200" dirty="0"/>
              <a:t>Large and Small scale Industries</a:t>
            </a:r>
          </a:p>
          <a:p>
            <a:r>
              <a:rPr lang="en-US" sz="3200" dirty="0"/>
              <a:t>Subsidiary of the RBI</a:t>
            </a:r>
          </a:p>
          <a:p>
            <a:pPr algn="just"/>
            <a:r>
              <a:rPr lang="en-US" sz="3200" dirty="0">
                <a:solidFill>
                  <a:srgbClr val="FF0000"/>
                </a:solidFill>
                <a:highlight>
                  <a:srgbClr val="FFFF00"/>
                </a:highlight>
              </a:rPr>
              <a:t>It provides technical and administrative assistance to any firm in order to promote, manage or expand it</a:t>
            </a:r>
            <a:r>
              <a:rPr lang="en-US" sz="3200" dirty="0"/>
              <a:t>.</a:t>
            </a:r>
          </a:p>
          <a:p>
            <a:pPr algn="just"/>
            <a:r>
              <a:rPr lang="en-US" sz="3200" dirty="0"/>
              <a:t>Manufacturing, processing or preservation of goods or mining, shipping, transport, hotel shore fishing or maintenance, repairs, testing or servicing of machinery or vehicles etc., Besides this IDBI also provides financial assistance or the export of Engineering goods and services on deferred payment basis.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697" y="365125"/>
            <a:ext cx="11792605" cy="1325563"/>
          </a:xfrm>
        </p:spPr>
        <p:txBody>
          <a:bodyPr>
            <a:noAutofit/>
          </a:bodyPr>
          <a:lstStyle/>
          <a:p>
            <a:pPr lvl="1" algn="l" rtl="0">
              <a:lnSpc>
                <a:spcPct val="90000"/>
              </a:lnSpc>
              <a:spcBef>
                <a:spcPct val="0"/>
              </a:spcBef>
            </a:pPr>
            <a:r>
              <a:rPr lang="en-IN" sz="3600" dirty="0">
                <a:ea typeface="+mn-lt"/>
                <a:cs typeface="+mn-lt"/>
              </a:rPr>
              <a:t>Industrial Credit and Investment Corporations of India Ltd (ICICI)</a:t>
            </a:r>
            <a:br>
              <a:rPr lang="en-IN" sz="3600" dirty="0">
                <a:ea typeface="+mn-lt"/>
                <a:cs typeface="+mn-lt"/>
              </a:rPr>
            </a:br>
            <a:endParaRPr lang="en-US" sz="3600" dirty="0"/>
          </a:p>
        </p:txBody>
      </p:sp>
      <p:sp>
        <p:nvSpPr>
          <p:cNvPr id="3" name="Content Placeholder 2"/>
          <p:cNvSpPr>
            <a:spLocks noGrp="1"/>
          </p:cNvSpPr>
          <p:nvPr>
            <p:ph idx="1"/>
          </p:nvPr>
        </p:nvSpPr>
        <p:spPr>
          <a:xfrm>
            <a:off x="262759" y="1502979"/>
            <a:ext cx="11498317" cy="5118538"/>
          </a:xfrm>
        </p:spPr>
        <p:txBody>
          <a:bodyPr>
            <a:normAutofit/>
          </a:bodyPr>
          <a:lstStyle/>
          <a:p>
            <a:pPr algn="just"/>
            <a:r>
              <a:rPr lang="en-US" sz="3200" dirty="0"/>
              <a:t>Private sector development bank and Financial Institution Established in 1955</a:t>
            </a:r>
          </a:p>
          <a:p>
            <a:pPr algn="just"/>
            <a:r>
              <a:rPr lang="en-US" sz="3200" dirty="0">
                <a:solidFill>
                  <a:srgbClr val="FF0000"/>
                </a:solidFill>
                <a:highlight>
                  <a:srgbClr val="FFFF00"/>
                </a:highlight>
              </a:rPr>
              <a:t>ICICI grants Medium and Long term loans</a:t>
            </a:r>
          </a:p>
          <a:p>
            <a:pPr algn="just"/>
            <a:r>
              <a:rPr lang="en-US" sz="3200" dirty="0">
                <a:solidFill>
                  <a:srgbClr val="FF0000"/>
                </a:solidFill>
                <a:highlight>
                  <a:srgbClr val="FFFF00"/>
                </a:highlight>
              </a:rPr>
              <a:t>Provide assistance in the establishment, expansion and up gradation, modernization of private sector units</a:t>
            </a:r>
          </a:p>
          <a:p>
            <a:pPr algn="just"/>
            <a:r>
              <a:rPr lang="en-US" sz="3200" dirty="0">
                <a:solidFill>
                  <a:srgbClr val="FF0000"/>
                </a:solidFill>
                <a:highlight>
                  <a:srgbClr val="FFFF00"/>
                </a:highlight>
              </a:rPr>
              <a:t>Considers only those projects whose budget/project cost is Rs.300 </a:t>
            </a:r>
            <a:r>
              <a:rPr lang="en-US" sz="3200" dirty="0" err="1">
                <a:solidFill>
                  <a:srgbClr val="FF0000"/>
                </a:solidFill>
                <a:highlight>
                  <a:srgbClr val="FFFF00"/>
                </a:highlight>
              </a:rPr>
              <a:t>lakhs</a:t>
            </a:r>
            <a:r>
              <a:rPr lang="en-US" sz="3200" dirty="0">
                <a:solidFill>
                  <a:srgbClr val="FF0000"/>
                </a:solidFill>
                <a:highlight>
                  <a:srgbClr val="FFFF00"/>
                </a:highlight>
              </a:rPr>
              <a:t> or above</a:t>
            </a:r>
          </a:p>
          <a:p>
            <a:pPr algn="just"/>
            <a:r>
              <a:rPr lang="en-US" sz="3200" dirty="0"/>
              <a:t>Companies with Limited liability. Sole proprietorship, Partnership firm or any Cooperative Society can take help for assistance in finance. </a:t>
            </a:r>
          </a:p>
          <a:p>
            <a:pPr algn="just"/>
            <a:endParaRPr lang="en-US" sz="32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IN" sz="4000" dirty="0">
                <a:ea typeface="+mn-lt"/>
                <a:cs typeface="+mn-lt"/>
              </a:rPr>
              <a:t>Industrial Finance Corporation of India (IFCI)</a:t>
            </a:r>
            <a:r>
              <a:rPr lang="en-IN" sz="4000" dirty="0">
                <a:cs typeface="Calibri"/>
              </a:rPr>
              <a:t/>
            </a:r>
            <a:br>
              <a:rPr lang="en-IN" sz="4000" dirty="0">
                <a:cs typeface="Calibri"/>
              </a:rPr>
            </a:br>
            <a:endParaRPr lang="en-US" sz="4000" dirty="0"/>
          </a:p>
        </p:txBody>
      </p:sp>
      <p:sp>
        <p:nvSpPr>
          <p:cNvPr id="3" name="Content Placeholder 2"/>
          <p:cNvSpPr>
            <a:spLocks noGrp="1"/>
          </p:cNvSpPr>
          <p:nvPr>
            <p:ph idx="1"/>
          </p:nvPr>
        </p:nvSpPr>
        <p:spPr>
          <a:xfrm>
            <a:off x="451945" y="1103586"/>
            <a:ext cx="11214538" cy="5370786"/>
          </a:xfrm>
        </p:spPr>
        <p:txBody>
          <a:bodyPr>
            <a:normAutofit/>
          </a:bodyPr>
          <a:lstStyle/>
          <a:p>
            <a:pPr algn="just"/>
            <a:r>
              <a:rPr lang="en-US" dirty="0"/>
              <a:t>Established  under IFCI Act in July,1948. Since July 1, 1993 it has been included under the Companies Act</a:t>
            </a:r>
          </a:p>
          <a:p>
            <a:pPr algn="just"/>
            <a:r>
              <a:rPr lang="en-US" dirty="0">
                <a:solidFill>
                  <a:srgbClr val="FF0000"/>
                </a:solidFill>
                <a:highlight>
                  <a:srgbClr val="FFFF00"/>
                </a:highlight>
              </a:rPr>
              <a:t>Provides financial assistance to the Industrial sector in the form of rupee and foreign currency loans, underwriting, subscription to shares and debentures and purchase of </a:t>
            </a:r>
            <a:r>
              <a:rPr lang="en-US" dirty="0" smtClean="0">
                <a:solidFill>
                  <a:srgbClr val="FF0000"/>
                </a:solidFill>
                <a:highlight>
                  <a:srgbClr val="FFFF00"/>
                </a:highlight>
              </a:rPr>
              <a:t>equipment, </a:t>
            </a:r>
            <a:r>
              <a:rPr lang="en-US" dirty="0">
                <a:solidFill>
                  <a:srgbClr val="FF0000"/>
                </a:solidFill>
                <a:highlight>
                  <a:srgbClr val="FFFF00"/>
                </a:highlight>
              </a:rPr>
              <a:t>procurement, leasing, </a:t>
            </a:r>
            <a:r>
              <a:rPr lang="en-US" dirty="0"/>
              <a:t>etc.,</a:t>
            </a:r>
          </a:p>
          <a:p>
            <a:pPr algn="just"/>
            <a:r>
              <a:rPr lang="en-US" dirty="0"/>
              <a:t>Financial assistance to companies and cooperative societies which are </a:t>
            </a:r>
          </a:p>
          <a:p>
            <a:pPr algn="just">
              <a:buNone/>
            </a:pPr>
            <a:r>
              <a:rPr lang="en-US" dirty="0"/>
              <a:t>   incorporated in India</a:t>
            </a:r>
          </a:p>
          <a:p>
            <a:pPr algn="just"/>
            <a:r>
              <a:rPr lang="en-US" dirty="0"/>
              <a:t>Manufacturing, preservation or processing of goods, shipping, mining or hotel industry or in the generation or distribution of power and electricity in industrial project either in the private or joint sectors.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00" b="1" dirty="0">
                <a:ea typeface="+mn-lt"/>
                <a:cs typeface="+mn-lt"/>
              </a:rPr>
              <a:t>Industrial Investment Bank of India(IIBI)</a:t>
            </a:r>
            <a:endParaRPr lang="en-US" sz="4800" b="1" dirty="0"/>
          </a:p>
        </p:txBody>
      </p:sp>
      <p:sp>
        <p:nvSpPr>
          <p:cNvPr id="3" name="Content Placeholder 2"/>
          <p:cNvSpPr>
            <a:spLocks noGrp="1"/>
          </p:cNvSpPr>
          <p:nvPr>
            <p:ph idx="1"/>
          </p:nvPr>
        </p:nvSpPr>
        <p:spPr/>
        <p:txBody>
          <a:bodyPr>
            <a:normAutofit lnSpcReduction="10000"/>
          </a:bodyPr>
          <a:lstStyle/>
          <a:p>
            <a:r>
              <a:rPr lang="en-US" dirty="0"/>
              <a:t>IRCI was established in April,1971</a:t>
            </a:r>
          </a:p>
          <a:p>
            <a:r>
              <a:rPr lang="en-US" b="1" dirty="0"/>
              <a:t>Aim and Objective</a:t>
            </a:r>
            <a:r>
              <a:rPr lang="en-US" dirty="0"/>
              <a:t>-Solve </a:t>
            </a:r>
            <a:r>
              <a:rPr lang="en-US" dirty="0">
                <a:highlight>
                  <a:srgbClr val="FFFF00"/>
                </a:highlight>
              </a:rPr>
              <a:t>the problems and difficulties faced by the sick units and give proper and quick assistance for speedy reconstruction and development of those industries</a:t>
            </a:r>
          </a:p>
          <a:p>
            <a:r>
              <a:rPr lang="en-US" dirty="0"/>
              <a:t>IRCI was </a:t>
            </a:r>
            <a:r>
              <a:rPr lang="en-US" dirty="0" smtClean="0"/>
              <a:t>renamed </a:t>
            </a:r>
            <a:r>
              <a:rPr lang="en-US" dirty="0"/>
              <a:t>as IIBI(Industrial Reconstruction Corporation of India)</a:t>
            </a:r>
          </a:p>
          <a:p>
            <a:r>
              <a:rPr lang="en-US" dirty="0"/>
              <a:t>Provides technical and managerial assistance to the sick industrial units</a:t>
            </a:r>
          </a:p>
          <a:p>
            <a:r>
              <a:rPr lang="en-US" dirty="0"/>
              <a:t>Provide the merchant banking services while dealing with corporate restructuring such as merges, amalgamations and so on</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200" b="1" dirty="0">
                <a:ea typeface="+mn-lt"/>
                <a:cs typeface="+mn-lt"/>
              </a:rPr>
              <a:t>Small Industries Development Bank of India (SIDBI)</a:t>
            </a:r>
            <a:r>
              <a:rPr lang="en-IN" sz="3200" b="1" dirty="0">
                <a:cs typeface="Calibri"/>
              </a:rPr>
              <a:t/>
            </a:r>
            <a:br>
              <a:rPr lang="en-IN" sz="3200" b="1" dirty="0">
                <a:cs typeface="Calibri"/>
              </a:rPr>
            </a:br>
            <a:endParaRPr lang="en-US" sz="3200" b="1" dirty="0"/>
          </a:p>
        </p:txBody>
      </p:sp>
      <p:sp>
        <p:nvSpPr>
          <p:cNvPr id="3" name="Content Placeholder 2"/>
          <p:cNvSpPr>
            <a:spLocks noGrp="1"/>
          </p:cNvSpPr>
          <p:nvPr>
            <p:ph idx="1"/>
          </p:nvPr>
        </p:nvSpPr>
        <p:spPr>
          <a:xfrm>
            <a:off x="409903" y="1576552"/>
            <a:ext cx="11340663" cy="4971393"/>
          </a:xfrm>
        </p:spPr>
        <p:txBody>
          <a:bodyPr>
            <a:normAutofit lnSpcReduction="10000"/>
          </a:bodyPr>
          <a:lstStyle/>
          <a:p>
            <a:pPr algn="just"/>
            <a:r>
              <a:rPr lang="en-US" dirty="0"/>
              <a:t>Started by Government of India under the Parliament’s act in October,1989 as wholly owned IDBI subsidiary</a:t>
            </a:r>
          </a:p>
          <a:p>
            <a:pPr algn="just"/>
            <a:r>
              <a:rPr lang="en-US" dirty="0">
                <a:solidFill>
                  <a:srgbClr val="FF0000"/>
                </a:solidFill>
                <a:highlight>
                  <a:srgbClr val="FFFF00"/>
                </a:highlight>
              </a:rPr>
              <a:t>Basically set up as an institution for providing financial and non-financial assistance to tiny and small scale industries</a:t>
            </a:r>
          </a:p>
          <a:p>
            <a:pPr algn="just"/>
            <a:r>
              <a:rPr lang="en-US" dirty="0"/>
              <a:t>Coordinates the work of other development financial institutions</a:t>
            </a:r>
          </a:p>
          <a:p>
            <a:pPr algn="just"/>
            <a:r>
              <a:rPr lang="en-US" dirty="0"/>
              <a:t>Taking initiative in developing and updating the existing  technology and improving the sick units</a:t>
            </a:r>
          </a:p>
          <a:p>
            <a:pPr algn="just"/>
            <a:r>
              <a:rPr lang="en-US" dirty="0"/>
              <a:t>Initiating and taking up new projects</a:t>
            </a:r>
          </a:p>
          <a:p>
            <a:pPr algn="just"/>
            <a:r>
              <a:rPr lang="en-US" dirty="0"/>
              <a:t>Improving the infrastructure for SSI(Small Scale Industries)</a:t>
            </a:r>
          </a:p>
          <a:p>
            <a:pPr algn="just"/>
            <a:r>
              <a:rPr lang="en-US" dirty="0"/>
              <a:t>Agencies to </a:t>
            </a:r>
            <a:r>
              <a:rPr lang="en-US" dirty="0" err="1"/>
              <a:t>organise</a:t>
            </a:r>
            <a:r>
              <a:rPr lang="en-US" dirty="0"/>
              <a:t> EDP</a:t>
            </a:r>
          </a:p>
          <a:p>
            <a:pPr algn="just"/>
            <a:r>
              <a:rPr lang="en-US" dirty="0"/>
              <a:t>Micro Credit Schemes</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600" b="1" dirty="0">
                <a:ea typeface="+mn-lt"/>
                <a:cs typeface="+mn-lt"/>
              </a:rPr>
              <a:t/>
            </a:r>
            <a:br>
              <a:rPr lang="en-IN" sz="3600" b="1" dirty="0">
                <a:ea typeface="+mn-lt"/>
                <a:cs typeface="+mn-lt"/>
              </a:rPr>
            </a:br>
            <a:r>
              <a:rPr lang="en-IN" sz="3600" b="1" dirty="0">
                <a:ea typeface="+mn-lt"/>
                <a:cs typeface="+mn-lt"/>
              </a:rPr>
              <a:t>State Small Industries Corporation (SSIDCs) and </a:t>
            </a:r>
            <a:br>
              <a:rPr lang="en-IN" sz="3600" b="1" dirty="0">
                <a:ea typeface="+mn-lt"/>
                <a:cs typeface="+mn-lt"/>
              </a:rPr>
            </a:br>
            <a:r>
              <a:rPr lang="en-IN" sz="3600" b="1" dirty="0">
                <a:ea typeface="+mn-lt"/>
                <a:cs typeface="+mn-lt"/>
              </a:rPr>
              <a:t>Small Industries Service Institutions(SISIs)</a:t>
            </a:r>
            <a:r>
              <a:rPr lang="en-IN" sz="4000" b="1" dirty="0">
                <a:cs typeface="Calibri"/>
              </a:rPr>
              <a:t/>
            </a:r>
            <a:br>
              <a:rPr lang="en-IN" sz="4000" b="1" dirty="0">
                <a:cs typeface="Calibri"/>
              </a:rPr>
            </a:br>
            <a:endParaRPr lang="en-US" sz="4000" b="1" dirty="0"/>
          </a:p>
        </p:txBody>
      </p:sp>
      <p:sp>
        <p:nvSpPr>
          <p:cNvPr id="3" name="Content Placeholder 2"/>
          <p:cNvSpPr>
            <a:spLocks noGrp="1"/>
          </p:cNvSpPr>
          <p:nvPr>
            <p:ph idx="1"/>
          </p:nvPr>
        </p:nvSpPr>
        <p:spPr>
          <a:xfrm>
            <a:off x="838200" y="1825624"/>
            <a:ext cx="10515600" cy="4848445"/>
          </a:xfrm>
        </p:spPr>
        <p:txBody>
          <a:bodyPr/>
          <a:lstStyle/>
          <a:p>
            <a:pPr algn="just"/>
            <a:r>
              <a:rPr lang="en-US" dirty="0"/>
              <a:t>This bank was setup under the Companies Act,1956</a:t>
            </a:r>
          </a:p>
          <a:p>
            <a:pPr algn="just"/>
            <a:r>
              <a:rPr lang="en-US" dirty="0"/>
              <a:t>Its main objective is </a:t>
            </a:r>
            <a:r>
              <a:rPr lang="en-US" dirty="0">
                <a:highlight>
                  <a:srgbClr val="FFFF00"/>
                </a:highlight>
              </a:rPr>
              <a:t>to take care of the needs of the small, tiny industries</a:t>
            </a:r>
          </a:p>
          <a:p>
            <a:pPr algn="just"/>
            <a:r>
              <a:rPr lang="en-US" dirty="0">
                <a:highlight>
                  <a:srgbClr val="FFFF00"/>
                </a:highlight>
              </a:rPr>
              <a:t>Acquiring and distributing the scarce raw material</a:t>
            </a:r>
          </a:p>
          <a:p>
            <a:pPr algn="just"/>
            <a:r>
              <a:rPr lang="en-US" dirty="0">
                <a:highlight>
                  <a:srgbClr val="FFFF00"/>
                </a:highlight>
              </a:rPr>
              <a:t>Supplying machines on hire purchase agreement</a:t>
            </a:r>
          </a:p>
          <a:p>
            <a:pPr algn="just"/>
            <a:r>
              <a:rPr lang="en-US" dirty="0">
                <a:highlight>
                  <a:srgbClr val="FFFF00"/>
                </a:highlight>
              </a:rPr>
              <a:t>Assisting in Marketing of goods manufactured  by small industries</a:t>
            </a:r>
          </a:p>
          <a:p>
            <a:pPr algn="just"/>
            <a:r>
              <a:rPr lang="en-US" dirty="0"/>
              <a:t>Providing Seed capital to the entrepreneurs</a:t>
            </a:r>
          </a:p>
          <a:p>
            <a:pPr algn="just"/>
            <a:r>
              <a:rPr lang="en-US" dirty="0"/>
              <a:t>Providing management assistance to manufacturing and production units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a typeface="+mn-lt"/>
                <a:cs typeface="+mn-lt"/>
              </a:rPr>
              <a:t/>
            </a:r>
            <a:br>
              <a:rPr lang="en-IN" b="1" dirty="0">
                <a:ea typeface="+mn-lt"/>
                <a:cs typeface="+mn-lt"/>
              </a:rPr>
            </a:br>
            <a:r>
              <a:rPr lang="en-IN" b="1" dirty="0">
                <a:latin typeface="+mn-lt"/>
                <a:ea typeface="+mn-lt"/>
                <a:cs typeface="+mn-lt"/>
              </a:rPr>
              <a:t>State Small Industries Corporation (SSIDCs) and </a:t>
            </a:r>
            <a:br>
              <a:rPr lang="en-IN" b="1" dirty="0">
                <a:latin typeface="+mn-lt"/>
                <a:ea typeface="+mn-lt"/>
                <a:cs typeface="+mn-lt"/>
              </a:rPr>
            </a:br>
            <a:r>
              <a:rPr lang="en-IN" b="1" dirty="0">
                <a:latin typeface="+mn-lt"/>
                <a:ea typeface="+mn-lt"/>
                <a:cs typeface="+mn-lt"/>
              </a:rPr>
              <a:t>Small Industries Service Institutions(SISIs)</a:t>
            </a:r>
            <a:r>
              <a:rPr lang="en-IN" sz="4800" b="1" dirty="0">
                <a:latin typeface="+mn-lt"/>
                <a:cs typeface="Calibri"/>
              </a:rPr>
              <a:t/>
            </a:r>
            <a:br>
              <a:rPr lang="en-IN" sz="4800" b="1" dirty="0">
                <a:latin typeface="+mn-lt"/>
                <a:cs typeface="Calibri"/>
              </a:rPr>
            </a:br>
            <a:endParaRPr lang="en-US" b="1" dirty="0">
              <a:latin typeface="+mn-lt"/>
            </a:endParaRPr>
          </a:p>
        </p:txBody>
      </p:sp>
      <p:sp>
        <p:nvSpPr>
          <p:cNvPr id="3" name="Content Placeholder 2"/>
          <p:cNvSpPr>
            <a:spLocks noGrp="1"/>
          </p:cNvSpPr>
          <p:nvPr>
            <p:ph idx="1"/>
          </p:nvPr>
        </p:nvSpPr>
        <p:spPr>
          <a:xfrm>
            <a:off x="557047" y="1825625"/>
            <a:ext cx="11130455" cy="4669768"/>
          </a:xfrm>
        </p:spPr>
        <p:txBody>
          <a:bodyPr>
            <a:normAutofit/>
          </a:bodyPr>
          <a:lstStyle/>
          <a:p>
            <a:r>
              <a:rPr lang="en-US" dirty="0"/>
              <a:t>Role of </a:t>
            </a:r>
            <a:r>
              <a:rPr lang="en-IN" b="1" dirty="0">
                <a:ea typeface="+mn-lt"/>
                <a:cs typeface="+mn-lt"/>
              </a:rPr>
              <a:t>Small Industries Service Institutions(SISI</a:t>
            </a:r>
            <a:r>
              <a:rPr lang="en-IN" dirty="0">
                <a:ea typeface="+mn-lt"/>
                <a:cs typeface="+mn-lt"/>
              </a:rPr>
              <a:t>)</a:t>
            </a:r>
          </a:p>
          <a:p>
            <a:pPr algn="just"/>
            <a:r>
              <a:rPr lang="en-IN" sz="3200" dirty="0">
                <a:ea typeface="+mn-lt"/>
                <a:cs typeface="+mn-lt"/>
              </a:rPr>
              <a:t>The SISI is one of the extensive training service provider which is subsidiary of SIDO(small industrial development organization)</a:t>
            </a:r>
          </a:p>
          <a:p>
            <a:pPr algn="just"/>
            <a:r>
              <a:rPr lang="en-IN" sz="3200" dirty="0">
                <a:highlight>
                  <a:srgbClr val="FFFF00"/>
                </a:highlight>
                <a:ea typeface="+mn-lt"/>
                <a:cs typeface="+mn-lt"/>
              </a:rPr>
              <a:t>Develop the skills of employees and managerial personnel</a:t>
            </a:r>
          </a:p>
          <a:p>
            <a:pPr algn="just"/>
            <a:r>
              <a:rPr lang="en-IN" sz="3200" dirty="0">
                <a:ea typeface="+mn-lt"/>
                <a:cs typeface="+mn-lt"/>
              </a:rPr>
              <a:t>Initiating the EDP programmes to transform the skilled and prospective individuals into entrepreneurs</a:t>
            </a:r>
          </a:p>
          <a:p>
            <a:pPr algn="just"/>
            <a:r>
              <a:rPr lang="en-IN" sz="3200" dirty="0">
                <a:highlight>
                  <a:srgbClr val="FFFF00"/>
                </a:highlight>
                <a:ea typeface="+mn-lt"/>
                <a:cs typeface="+mn-lt"/>
              </a:rPr>
              <a:t>Provide technical training</a:t>
            </a:r>
            <a:r>
              <a:rPr lang="en-IN" sz="3200" dirty="0">
                <a:ea typeface="+mn-lt"/>
                <a:cs typeface="+mn-lt"/>
              </a:rPr>
              <a:t> and service to small scale </a:t>
            </a:r>
            <a:r>
              <a:rPr lang="en-IN" sz="3200" dirty="0" smtClean="0">
                <a:ea typeface="+mn-lt"/>
                <a:cs typeface="+mn-lt"/>
              </a:rPr>
              <a:t>entrepreneurs in </a:t>
            </a:r>
            <a:r>
              <a:rPr lang="en-IN" sz="3200" dirty="0">
                <a:ea typeface="+mn-lt"/>
                <a:cs typeface="+mn-lt"/>
              </a:rPr>
              <a:t>specialised fields</a:t>
            </a:r>
            <a:r>
              <a:rPr lang="en-IN" sz="3200" dirty="0">
                <a:cs typeface="Calibri"/>
              </a:rPr>
              <a:t/>
            </a:r>
            <a:br>
              <a:rPr lang="en-IN" sz="3200" dirty="0">
                <a:cs typeface="Calibri"/>
              </a:rPr>
            </a:b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nSpc>
                <a:spcPct val="160000"/>
              </a:lnSpc>
            </a:pPr>
            <a:r>
              <a:rPr lang="en-IN" sz="3200" b="1" dirty="0">
                <a:latin typeface="+mn-lt"/>
                <a:ea typeface="+mn-lt"/>
                <a:cs typeface="+mn-lt"/>
              </a:rPr>
              <a:t>National Small Industries Corporation Ltd (NSIC)</a:t>
            </a:r>
            <a:r>
              <a:rPr lang="en-IN" sz="3200" b="1" dirty="0">
                <a:cs typeface="Calibri"/>
              </a:rPr>
              <a:t/>
            </a:r>
            <a:br>
              <a:rPr lang="en-IN" sz="3200" b="1" dirty="0">
                <a:cs typeface="Calibri"/>
              </a:rPr>
            </a:br>
            <a:endParaRPr lang="en-US" sz="3200" b="1" dirty="0"/>
          </a:p>
        </p:txBody>
      </p:sp>
      <p:sp>
        <p:nvSpPr>
          <p:cNvPr id="3" name="Content Placeholder 2"/>
          <p:cNvSpPr>
            <a:spLocks noGrp="1"/>
          </p:cNvSpPr>
          <p:nvPr>
            <p:ph idx="1"/>
          </p:nvPr>
        </p:nvSpPr>
        <p:spPr/>
        <p:txBody>
          <a:bodyPr>
            <a:normAutofit fontScale="92500" lnSpcReduction="10000"/>
          </a:bodyPr>
          <a:lstStyle/>
          <a:p>
            <a:r>
              <a:rPr lang="en-US" dirty="0"/>
              <a:t>Established  by GOI in 1955</a:t>
            </a:r>
          </a:p>
          <a:p>
            <a:r>
              <a:rPr lang="en-US" dirty="0"/>
              <a:t>Promoting and developing SSIs in the country</a:t>
            </a:r>
          </a:p>
          <a:p>
            <a:r>
              <a:rPr lang="en-US" dirty="0">
                <a:highlight>
                  <a:srgbClr val="FFFF00"/>
                </a:highlight>
              </a:rPr>
              <a:t>Provides equipment on hire-purchase and leasing system to SSIs</a:t>
            </a:r>
          </a:p>
          <a:p>
            <a:r>
              <a:rPr lang="en-US" dirty="0"/>
              <a:t>Enable marketing of SSI’s products</a:t>
            </a:r>
          </a:p>
          <a:p>
            <a:r>
              <a:rPr lang="en-US" dirty="0"/>
              <a:t>Make a provision for special concessions to the Women entrepreneurs, weak entrepreneurs, ex-servicemen and SSI’s located in down trodden areas</a:t>
            </a:r>
          </a:p>
          <a:p>
            <a:r>
              <a:rPr lang="en-US" dirty="0"/>
              <a:t>Encourage export of SSIs products</a:t>
            </a:r>
          </a:p>
          <a:p>
            <a:r>
              <a:rPr lang="en-US" dirty="0"/>
              <a:t>Improving the prototypes of machines, equipments and tools</a:t>
            </a:r>
          </a:p>
          <a:p>
            <a:r>
              <a:rPr lang="en-US" dirty="0"/>
              <a:t>Providing technical training</a:t>
            </a:r>
          </a:p>
          <a:p>
            <a:endParaRPr lang="en-US" dirty="0"/>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600" b="1" dirty="0">
                <a:ea typeface="+mn-lt"/>
                <a:cs typeface="+mn-lt"/>
              </a:rPr>
              <a:t>State Industrial Development Corporations (SIDCs)</a:t>
            </a:r>
            <a:r>
              <a:rPr lang="en-IN" sz="3600" b="1" dirty="0">
                <a:cs typeface="Calibri"/>
              </a:rPr>
              <a:t/>
            </a:r>
            <a:br>
              <a:rPr lang="en-IN" sz="3600" b="1" dirty="0">
                <a:cs typeface="Calibri"/>
              </a:rPr>
            </a:br>
            <a:endParaRPr lang="en-US" sz="3600" b="1" dirty="0"/>
          </a:p>
        </p:txBody>
      </p:sp>
      <p:sp>
        <p:nvSpPr>
          <p:cNvPr id="3" name="Content Placeholder 2"/>
          <p:cNvSpPr>
            <a:spLocks noGrp="1"/>
          </p:cNvSpPr>
          <p:nvPr>
            <p:ph idx="1"/>
          </p:nvPr>
        </p:nvSpPr>
        <p:spPr>
          <a:xfrm>
            <a:off x="441433" y="1450428"/>
            <a:ext cx="11414235" cy="5202620"/>
          </a:xfrm>
        </p:spPr>
        <p:txBody>
          <a:bodyPr>
            <a:normAutofit/>
          </a:bodyPr>
          <a:lstStyle/>
          <a:p>
            <a:pPr algn="just"/>
            <a:r>
              <a:rPr lang="en-US" dirty="0"/>
              <a:t>SIDC was set up under Companies Act,1956, in the 1960 and 1970 as a </a:t>
            </a:r>
            <a:r>
              <a:rPr lang="en-US" dirty="0">
                <a:highlight>
                  <a:srgbClr val="FFFF00"/>
                </a:highlight>
              </a:rPr>
              <a:t>wholly owned undertaking of state government with an objective of promoting and developing </a:t>
            </a:r>
            <a:r>
              <a:rPr lang="en-US" b="1" dirty="0">
                <a:highlight>
                  <a:srgbClr val="FFFF00"/>
                </a:highlight>
              </a:rPr>
              <a:t>medium and large industries</a:t>
            </a:r>
            <a:r>
              <a:rPr lang="en-US" b="1" dirty="0"/>
              <a:t>, </a:t>
            </a:r>
            <a:r>
              <a:rPr lang="en-US" dirty="0"/>
              <a:t>they play predominant role in industrial development</a:t>
            </a:r>
          </a:p>
          <a:p>
            <a:pPr algn="just"/>
            <a:r>
              <a:rPr lang="en-US" dirty="0"/>
              <a:t>The SIDCs are the agents of IDBI and SIDBI</a:t>
            </a:r>
          </a:p>
          <a:p>
            <a:pPr algn="just"/>
            <a:r>
              <a:rPr lang="en-US" dirty="0"/>
              <a:t>Extending risk capital to the entrepreneurs in the form of equity participation and seed capital assistance</a:t>
            </a:r>
          </a:p>
          <a:p>
            <a:pPr algn="just"/>
            <a:r>
              <a:rPr lang="en-US" dirty="0">
                <a:highlight>
                  <a:srgbClr val="FFFF00"/>
                </a:highlight>
              </a:rPr>
              <a:t>Granting loans, lease finance and guarantees to the industries</a:t>
            </a:r>
          </a:p>
          <a:p>
            <a:pPr algn="just"/>
            <a:r>
              <a:rPr lang="en-US" dirty="0"/>
              <a:t>Performing promotional activities such as generating project ideas, preparing feasibility reports, choosing and training of entrepreneurs</a:t>
            </a:r>
          </a:p>
          <a:p>
            <a:pPr algn="just"/>
            <a:r>
              <a:rPr lang="en-US" dirty="0"/>
              <a:t>Establishing industrial estates by providing infrastructural facilities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IN" sz="4400" b="1" dirty="0">
                <a:ea typeface="+mn-lt"/>
                <a:cs typeface="+mn-lt"/>
              </a:rPr>
              <a:t>State Financial Corporations (SFCs)</a:t>
            </a:r>
            <a:r>
              <a:rPr lang="en-IN" sz="4400" b="1" dirty="0">
                <a:cs typeface="Calibri"/>
              </a:rPr>
              <a:t/>
            </a:r>
            <a:br>
              <a:rPr lang="en-IN" sz="4400" b="1" dirty="0">
                <a:cs typeface="Calibri"/>
              </a:rPr>
            </a:br>
            <a:endParaRPr lang="en-US" sz="4400" b="1" dirty="0"/>
          </a:p>
        </p:txBody>
      </p:sp>
      <p:sp>
        <p:nvSpPr>
          <p:cNvPr id="3" name="Content Placeholder 2"/>
          <p:cNvSpPr>
            <a:spLocks noGrp="1"/>
          </p:cNvSpPr>
          <p:nvPr>
            <p:ph idx="1"/>
          </p:nvPr>
        </p:nvSpPr>
        <p:spPr>
          <a:xfrm>
            <a:off x="283779" y="1429406"/>
            <a:ext cx="11351173" cy="5160579"/>
          </a:xfrm>
        </p:spPr>
        <p:txBody>
          <a:bodyPr>
            <a:normAutofit lnSpcReduction="10000"/>
          </a:bodyPr>
          <a:lstStyle/>
          <a:p>
            <a:r>
              <a:rPr lang="en-US" dirty="0"/>
              <a:t>Initiated through SFC Act which was passed by the parliament on September 28</a:t>
            </a:r>
            <a:r>
              <a:rPr lang="en-US" baseline="30000" dirty="0"/>
              <a:t>th</a:t>
            </a:r>
            <a:r>
              <a:rPr lang="en-US" dirty="0"/>
              <a:t>, 1951</a:t>
            </a:r>
          </a:p>
          <a:p>
            <a:r>
              <a:rPr lang="en-US" dirty="0"/>
              <a:t>The first SFC was set up in 1953 in Punjab</a:t>
            </a:r>
          </a:p>
          <a:p>
            <a:r>
              <a:rPr lang="en-US" dirty="0">
                <a:highlight>
                  <a:srgbClr val="FFFF00"/>
                </a:highlight>
              </a:rPr>
              <a:t>Provide Financial assistance only  to medium and small size industries</a:t>
            </a:r>
          </a:p>
          <a:p>
            <a:r>
              <a:rPr lang="en-US" dirty="0"/>
              <a:t>At present there are about 18 SFCs which are operating since 40 years</a:t>
            </a:r>
          </a:p>
          <a:p>
            <a:r>
              <a:rPr lang="en-US" dirty="0"/>
              <a:t>Offer long term finance to small and medium scale industries in both Public and private sector companies</a:t>
            </a:r>
          </a:p>
          <a:p>
            <a:r>
              <a:rPr lang="en-US" dirty="0"/>
              <a:t>Term loans for the purchase of land, building, plant, machinery, prerequisites and other assets</a:t>
            </a:r>
          </a:p>
          <a:p>
            <a:r>
              <a:rPr lang="en-US" dirty="0"/>
              <a:t>Inculcating and promoting self employment</a:t>
            </a:r>
          </a:p>
          <a:p>
            <a:r>
              <a:rPr lang="en-US" dirty="0"/>
              <a:t>Extend seed capital assistance under the IDBI scheme</a:t>
            </a: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lnSpc>
                <a:spcPct val="90000"/>
              </a:lnSpc>
              <a:spcBef>
                <a:spcPct val="0"/>
              </a:spcBef>
            </a:pPr>
            <a:r>
              <a:rPr lang="en-IN" sz="3600" b="1" dirty="0">
                <a:ea typeface="+mn-lt"/>
                <a:cs typeface="+mn-lt"/>
              </a:rPr>
              <a:t>Micro, Small, and Medium Enterprises (</a:t>
            </a:r>
            <a:r>
              <a:rPr lang="en-IN" sz="3600" b="1">
                <a:ea typeface="+mn-lt"/>
                <a:cs typeface="+mn-lt"/>
              </a:rPr>
              <a:t>MSME’s)</a:t>
            </a:r>
            <a:r>
              <a:rPr lang="en-IN" sz="3600" b="1">
                <a:cs typeface="Calibri" panose="020F0502020204030204"/>
              </a:rPr>
              <a:t>-</a:t>
            </a:r>
            <a:endParaRPr lang="en-US" sz="3600" b="1" dirty="0"/>
          </a:p>
        </p:txBody>
      </p:sp>
      <p:sp>
        <p:nvSpPr>
          <p:cNvPr id="3" name="Content Placeholder 2"/>
          <p:cNvSpPr>
            <a:spLocks noGrp="1"/>
          </p:cNvSpPr>
          <p:nvPr>
            <p:ph idx="1"/>
          </p:nvPr>
        </p:nvSpPr>
        <p:spPr/>
        <p:txBody>
          <a:bodyPr>
            <a:normAutofit/>
          </a:bodyPr>
          <a:lstStyle/>
          <a:p>
            <a:pPr fontAlgn="base"/>
            <a:r>
              <a:rPr lang="en-US" dirty="0"/>
              <a:t>The Government of India has enacted the Micro, Small and Medium Enterprises Development (MSMED) Act, 2006</a:t>
            </a:r>
          </a:p>
          <a:p>
            <a:pPr fontAlgn="base"/>
            <a:r>
              <a:rPr lang="en-US" dirty="0"/>
              <a:t> Enterprises engaged in the manufacture or production, processing of goods as specified below:</a:t>
            </a:r>
          </a:p>
          <a:p>
            <a:pPr lvl="1" fontAlgn="base"/>
            <a:r>
              <a:rPr lang="en-US" dirty="0"/>
              <a:t>A micro enterprise is an enterprise </a:t>
            </a:r>
            <a:r>
              <a:rPr lang="en-US" dirty="0">
                <a:highlight>
                  <a:srgbClr val="FFFF00"/>
                </a:highlight>
              </a:rPr>
              <a:t>where investment in plant and machinery does not exceed Rs. 25 </a:t>
            </a:r>
            <a:r>
              <a:rPr lang="en-US" dirty="0" err="1">
                <a:highlight>
                  <a:srgbClr val="FFFF00"/>
                </a:highlight>
              </a:rPr>
              <a:t>lakh</a:t>
            </a:r>
            <a:r>
              <a:rPr lang="en-US" dirty="0">
                <a:highlight>
                  <a:srgbClr val="FFFF00"/>
                </a:highlight>
              </a:rPr>
              <a:t>;</a:t>
            </a:r>
          </a:p>
          <a:p>
            <a:pPr lvl="1" fontAlgn="base"/>
            <a:r>
              <a:rPr lang="en-US" dirty="0">
                <a:highlight>
                  <a:srgbClr val="FFFF00"/>
                </a:highlight>
              </a:rPr>
              <a:t>A small enterprise is an enterprise where the investment in plant and machinery is more than Rs. 25 </a:t>
            </a:r>
            <a:r>
              <a:rPr lang="en-US" dirty="0" err="1">
                <a:highlight>
                  <a:srgbClr val="FFFF00"/>
                </a:highlight>
              </a:rPr>
              <a:t>lakh</a:t>
            </a:r>
            <a:r>
              <a:rPr lang="en-US" dirty="0">
                <a:highlight>
                  <a:srgbClr val="FFFF00"/>
                </a:highlight>
              </a:rPr>
              <a:t> but does not exceed Rs. 5 </a:t>
            </a:r>
            <a:r>
              <a:rPr lang="en-US" dirty="0" err="1">
                <a:highlight>
                  <a:srgbClr val="FFFF00"/>
                </a:highlight>
              </a:rPr>
              <a:t>crore</a:t>
            </a:r>
            <a:r>
              <a:rPr lang="en-US" dirty="0">
                <a:highlight>
                  <a:srgbClr val="FFFF00"/>
                </a:highlight>
              </a:rPr>
              <a:t>;</a:t>
            </a:r>
          </a:p>
          <a:p>
            <a:pPr lvl="1" fontAlgn="base"/>
            <a:r>
              <a:rPr lang="en-US" dirty="0"/>
              <a:t>A medium enterprise is an enterprise where the investment in plant and machinery is more than </a:t>
            </a:r>
            <a:r>
              <a:rPr lang="en-US" dirty="0">
                <a:highlight>
                  <a:srgbClr val="FFFF00"/>
                </a:highlight>
              </a:rPr>
              <a:t>Rs.5 </a:t>
            </a:r>
            <a:r>
              <a:rPr lang="en-US" dirty="0" err="1">
                <a:highlight>
                  <a:srgbClr val="FFFF00"/>
                </a:highlight>
              </a:rPr>
              <a:t>crore</a:t>
            </a:r>
            <a:r>
              <a:rPr lang="en-US" dirty="0">
                <a:highlight>
                  <a:srgbClr val="FFFF00"/>
                </a:highlight>
              </a:rPr>
              <a:t> but does not exceed Rs.10 </a:t>
            </a:r>
            <a:r>
              <a:rPr lang="en-US" dirty="0" err="1">
                <a:highlight>
                  <a:srgbClr val="FFFF00"/>
                </a:highlight>
              </a:rPr>
              <a:t>crore</a:t>
            </a:r>
            <a:r>
              <a:rPr lang="en-US" dirty="0">
                <a:highlight>
                  <a:srgbClr val="FFFF00"/>
                </a:highlight>
              </a:rPr>
              <a:t>.</a:t>
            </a:r>
            <a:br>
              <a:rPr lang="en-US" dirty="0">
                <a:highlight>
                  <a:srgbClr val="FFFF00"/>
                </a:highlight>
              </a:rPr>
            </a:br>
            <a:endParaRPr lang="en-US" dirty="0">
              <a:highlight>
                <a:srgbClr val="FFFF00"/>
              </a:highlight>
            </a:endParaRP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1714499"/>
            <a:ext cx="11678195" cy="5143500"/>
          </a:xfrm>
        </p:spPr>
        <p:txBody>
          <a:bodyPr vert="horz" lIns="91440" tIns="45720" rIns="91440" bIns="45720" rtlCol="0" anchor="t">
            <a:normAutofit fontScale="92500" lnSpcReduction="20000"/>
          </a:bodyPr>
          <a:lstStyle/>
          <a:p>
            <a:pPr marL="457200" lvl="1" indent="0">
              <a:lnSpc>
                <a:spcPct val="150000"/>
              </a:lnSpc>
              <a:buNone/>
            </a:pPr>
            <a:r>
              <a:rPr lang="en-US" dirty="0" smtClean="0">
                <a:cs typeface="Calibri"/>
              </a:rPr>
              <a:t>Types:</a:t>
            </a:r>
          </a:p>
          <a:p>
            <a:pPr lvl="1">
              <a:lnSpc>
                <a:spcPct val="150000"/>
              </a:lnSpc>
            </a:pPr>
            <a:r>
              <a:rPr lang="en-US" dirty="0" smtClean="0">
                <a:cs typeface="Calibri"/>
              </a:rPr>
              <a:t>Redeemable and Irredeemable:</a:t>
            </a:r>
            <a:r>
              <a:rPr lang="en-US" dirty="0"/>
              <a:t> </a:t>
            </a:r>
            <a:endParaRPr lang="en-US" dirty="0" smtClean="0"/>
          </a:p>
          <a:p>
            <a:pPr marL="457200" lvl="1" indent="0">
              <a:lnSpc>
                <a:spcPct val="150000"/>
              </a:lnSpc>
              <a:buNone/>
            </a:pPr>
            <a:r>
              <a:rPr lang="en-US" dirty="0" smtClean="0">
                <a:cs typeface="Calibri"/>
              </a:rPr>
              <a:t>	Redeemable: </a:t>
            </a:r>
            <a:r>
              <a:rPr lang="en-US" dirty="0" smtClean="0"/>
              <a:t>Such </a:t>
            </a:r>
            <a:r>
              <a:rPr lang="en-US" dirty="0"/>
              <a:t>debentures hold a particular date of redemption which is mentioned on the </a:t>
            </a:r>
            <a:r>
              <a:rPr lang="en-US" dirty="0" smtClean="0"/>
              <a:t>certificate.</a:t>
            </a:r>
          </a:p>
          <a:p>
            <a:pPr marL="457200" lvl="1" indent="0">
              <a:lnSpc>
                <a:spcPct val="150000"/>
              </a:lnSpc>
              <a:buNone/>
            </a:pPr>
            <a:r>
              <a:rPr lang="en-US" dirty="0" smtClean="0">
                <a:cs typeface="Calibri"/>
              </a:rPr>
              <a:t>	Irredeemable: </a:t>
            </a:r>
            <a:r>
              <a:rPr lang="en-US" dirty="0"/>
              <a:t>This type of debentures do not carry any specific time of redemption on their repayment </a:t>
            </a:r>
            <a:r>
              <a:rPr lang="en-US" dirty="0" smtClean="0"/>
              <a:t>terms.</a:t>
            </a:r>
            <a:endParaRPr lang="en-US" dirty="0" smtClean="0">
              <a:cs typeface="Calibri"/>
            </a:endParaRPr>
          </a:p>
          <a:p>
            <a:pPr lvl="1">
              <a:lnSpc>
                <a:spcPct val="150000"/>
              </a:lnSpc>
            </a:pPr>
            <a:r>
              <a:rPr lang="en-US" dirty="0" smtClean="0">
                <a:cs typeface="Calibri"/>
              </a:rPr>
              <a:t>Registered and Bearer:</a:t>
            </a:r>
          </a:p>
          <a:p>
            <a:pPr marL="914400" lvl="2" indent="0">
              <a:lnSpc>
                <a:spcPct val="150000"/>
              </a:lnSpc>
              <a:buNone/>
            </a:pPr>
            <a:r>
              <a:rPr lang="en-US" dirty="0" smtClean="0">
                <a:cs typeface="Calibri"/>
              </a:rPr>
              <a:t>Registered: </a:t>
            </a:r>
            <a:r>
              <a:rPr lang="en-US" dirty="0"/>
              <a:t>In the case of registered debentures, the name and address of the debenture holder and information pertinent to holding are registered with the issuing organisation</a:t>
            </a:r>
            <a:r>
              <a:rPr lang="en-US" dirty="0" smtClean="0"/>
              <a:t>.</a:t>
            </a:r>
          </a:p>
          <a:p>
            <a:pPr marL="914400" lvl="2" indent="0">
              <a:lnSpc>
                <a:spcPct val="150000"/>
              </a:lnSpc>
              <a:buNone/>
            </a:pPr>
            <a:r>
              <a:rPr lang="en-US" dirty="0" smtClean="0">
                <a:cs typeface="Calibri"/>
              </a:rPr>
              <a:t>Bearer: </a:t>
            </a:r>
            <a:r>
              <a:rPr lang="en-US" dirty="0"/>
              <a:t>Such debentures can be transferred easily to a new holder as details of the previous holder are not registered with the issuing company</a:t>
            </a:r>
            <a:r>
              <a:rPr lang="en-US" dirty="0" smtClean="0"/>
              <a:t>.</a:t>
            </a:r>
            <a:endParaRPr lang="en-US" dirty="0" smtClean="0">
              <a:cs typeface="Calibri"/>
            </a:endParaRP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endParaRPr lang="en-IN" dirty="0">
              <a:cs typeface="Calibri"/>
            </a:endParaRPr>
          </a:p>
        </p:txBody>
      </p:sp>
      <p:sp>
        <p:nvSpPr>
          <p:cNvPr id="5" name="Title 1">
            <a:extLst>
              <a:ext uri="{FF2B5EF4-FFF2-40B4-BE49-F238E27FC236}">
                <a16:creationId xmlns:a16="http://schemas.microsoft.com/office/drawing/2014/main" xmlns="" id="{B869CD52-79E5-4473-BA2D-9894F8F28CA6}"/>
              </a:ext>
            </a:extLst>
          </p:cNvPr>
          <p:cNvSpPr>
            <a:spLocks noGrp="1"/>
          </p:cNvSpPr>
          <p:nvPr/>
        </p:nvSpPr>
        <p:spPr>
          <a:xfrm>
            <a:off x="0" y="1"/>
            <a:ext cx="12192000" cy="9419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Debentures </a:t>
            </a:r>
          </a:p>
        </p:txBody>
      </p:sp>
    </p:spTree>
    <p:extLst>
      <p:ext uri="{BB962C8B-B14F-4D97-AF65-F5344CB8AC3E}">
        <p14:creationId xmlns:p14="http://schemas.microsoft.com/office/powerpoint/2010/main" val="41840573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1714499"/>
            <a:ext cx="11678195" cy="5143500"/>
          </a:xfrm>
        </p:spPr>
        <p:txBody>
          <a:bodyPr vert="horz" lIns="91440" tIns="45720" rIns="91440" bIns="45720" rtlCol="0" anchor="t">
            <a:normAutofit fontScale="85000" lnSpcReduction="10000"/>
          </a:bodyPr>
          <a:lstStyle/>
          <a:p>
            <a:pPr lvl="1">
              <a:lnSpc>
                <a:spcPct val="150000"/>
              </a:lnSpc>
            </a:pPr>
            <a:r>
              <a:rPr lang="en-US" dirty="0" smtClean="0">
                <a:cs typeface="Calibri"/>
              </a:rPr>
              <a:t>Secured and Unsecured:</a:t>
            </a:r>
          </a:p>
          <a:p>
            <a:pPr marL="457200" lvl="1" indent="0">
              <a:lnSpc>
                <a:spcPct val="150000"/>
              </a:lnSpc>
              <a:buNone/>
            </a:pPr>
            <a:r>
              <a:rPr lang="en-US" dirty="0">
                <a:cs typeface="Calibri"/>
              </a:rPr>
              <a:t>	 </a:t>
            </a:r>
            <a:r>
              <a:rPr lang="en-US" dirty="0" smtClean="0">
                <a:cs typeface="Calibri"/>
              </a:rPr>
              <a:t>Secured: </a:t>
            </a:r>
            <a:r>
              <a:rPr lang="en-US" dirty="0"/>
              <a:t>Such debentures are secured by some asset or set of assets which the holders can liquidate if </a:t>
            </a:r>
            <a:r>
              <a:rPr lang="en-US" dirty="0" smtClean="0"/>
              <a:t>needed.</a:t>
            </a:r>
            <a:endParaRPr lang="en-US" dirty="0" smtClean="0">
              <a:cs typeface="Calibri"/>
            </a:endParaRPr>
          </a:p>
          <a:p>
            <a:pPr marL="457200" lvl="1" indent="0">
              <a:lnSpc>
                <a:spcPct val="150000"/>
              </a:lnSpc>
              <a:buNone/>
            </a:pPr>
            <a:r>
              <a:rPr lang="en-US" dirty="0">
                <a:cs typeface="Calibri"/>
              </a:rPr>
              <a:t>	 </a:t>
            </a:r>
            <a:r>
              <a:rPr lang="en-US" dirty="0" smtClean="0">
                <a:cs typeface="Calibri"/>
              </a:rPr>
              <a:t>Unsecured: </a:t>
            </a:r>
            <a:r>
              <a:rPr lang="en-US" dirty="0"/>
              <a:t>When the debentures are issued solely by leveraging the creditworthiness and goodwill of a company, it is known as unsecured debentures or naked debentures.</a:t>
            </a:r>
            <a:endParaRPr lang="en-US" dirty="0" smtClean="0">
              <a:cs typeface="Calibri"/>
            </a:endParaRPr>
          </a:p>
          <a:p>
            <a:pPr lvl="1">
              <a:lnSpc>
                <a:spcPct val="150000"/>
              </a:lnSpc>
            </a:pPr>
            <a:r>
              <a:rPr lang="en-US" dirty="0" smtClean="0">
                <a:cs typeface="Calibri"/>
              </a:rPr>
              <a:t>Convertible and Unconvertible:</a:t>
            </a:r>
          </a:p>
          <a:p>
            <a:pPr marL="457200" lvl="1" indent="0">
              <a:lnSpc>
                <a:spcPct val="150000"/>
              </a:lnSpc>
              <a:buNone/>
            </a:pPr>
            <a:r>
              <a:rPr lang="en-US" dirty="0">
                <a:cs typeface="Calibri"/>
              </a:rPr>
              <a:t>	 </a:t>
            </a:r>
            <a:r>
              <a:rPr lang="en-US" dirty="0" smtClean="0">
                <a:cs typeface="Calibri"/>
              </a:rPr>
              <a:t>Convertible:</a:t>
            </a:r>
            <a:r>
              <a:rPr lang="en-US" dirty="0"/>
              <a:t> </a:t>
            </a:r>
            <a:r>
              <a:rPr lang="en-US" dirty="0" smtClean="0"/>
              <a:t>Holders </a:t>
            </a:r>
            <a:r>
              <a:rPr lang="en-US" dirty="0"/>
              <a:t>can exercise their right to convert all of their holdings into equity </a:t>
            </a:r>
            <a:r>
              <a:rPr lang="en-US" dirty="0" smtClean="0"/>
              <a:t>shares.</a:t>
            </a:r>
          </a:p>
          <a:p>
            <a:pPr marL="1828800" lvl="3" indent="-457200">
              <a:lnSpc>
                <a:spcPct val="150000"/>
              </a:lnSpc>
              <a:buFont typeface="+mj-lt"/>
              <a:buAutoNum type="arabicPeriod"/>
            </a:pPr>
            <a:r>
              <a:rPr lang="en-US" dirty="0" smtClean="0">
                <a:cs typeface="Calibri"/>
              </a:rPr>
              <a:t>Fully Convertible</a:t>
            </a:r>
          </a:p>
          <a:p>
            <a:pPr marL="1828800" lvl="3" indent="-457200">
              <a:lnSpc>
                <a:spcPct val="150000"/>
              </a:lnSpc>
              <a:buFont typeface="+mj-lt"/>
              <a:buAutoNum type="arabicPeriod"/>
            </a:pPr>
            <a:r>
              <a:rPr lang="en-US" dirty="0" smtClean="0">
                <a:cs typeface="Calibri"/>
              </a:rPr>
              <a:t>Partly Convertible</a:t>
            </a:r>
          </a:p>
          <a:p>
            <a:pPr marL="457200" lvl="1" indent="0">
              <a:lnSpc>
                <a:spcPct val="150000"/>
              </a:lnSpc>
              <a:buNone/>
            </a:pPr>
            <a:r>
              <a:rPr lang="en-US" dirty="0">
                <a:cs typeface="Calibri"/>
              </a:rPr>
              <a:t>	 </a:t>
            </a:r>
            <a:r>
              <a:rPr lang="en-US" dirty="0" smtClean="0">
                <a:cs typeface="Calibri"/>
              </a:rPr>
              <a:t>Unconvertible: </a:t>
            </a:r>
            <a:r>
              <a:rPr lang="en-US" dirty="0"/>
              <a:t>N</a:t>
            </a:r>
            <a:r>
              <a:rPr lang="en-US" dirty="0" smtClean="0"/>
              <a:t>on-convertible </a:t>
            </a:r>
            <a:r>
              <a:rPr lang="en-US" dirty="0"/>
              <a:t>debentures, holders do not have the option of converting their holdings into equity shares, and it will always remain as debt for the whole of the tenure.</a:t>
            </a:r>
            <a:endParaRPr lang="en-IN" dirty="0">
              <a:cs typeface="Calibri"/>
            </a:endParaRP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endParaRPr lang="en-IN" dirty="0">
              <a:cs typeface="Calibri"/>
            </a:endParaRPr>
          </a:p>
        </p:txBody>
      </p:sp>
      <p:sp>
        <p:nvSpPr>
          <p:cNvPr id="5" name="Title 1">
            <a:extLst>
              <a:ext uri="{FF2B5EF4-FFF2-40B4-BE49-F238E27FC236}">
                <a16:creationId xmlns:a16="http://schemas.microsoft.com/office/drawing/2014/main" xmlns="" id="{B869CD52-79E5-4473-BA2D-9894F8F28CA6}"/>
              </a:ext>
            </a:extLst>
          </p:cNvPr>
          <p:cNvSpPr>
            <a:spLocks noGrp="1"/>
          </p:cNvSpPr>
          <p:nvPr/>
        </p:nvSpPr>
        <p:spPr>
          <a:xfrm>
            <a:off x="0" y="1"/>
            <a:ext cx="12192000" cy="9419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Debentures </a:t>
            </a:r>
          </a:p>
        </p:txBody>
      </p:sp>
    </p:spTree>
    <p:extLst>
      <p:ext uri="{BB962C8B-B14F-4D97-AF65-F5344CB8AC3E}">
        <p14:creationId xmlns:p14="http://schemas.microsoft.com/office/powerpoint/2010/main" val="39304821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1714499"/>
            <a:ext cx="6085415" cy="5143500"/>
          </a:xfrm>
        </p:spPr>
        <p:txBody>
          <a:bodyPr vert="horz" lIns="91440" tIns="45720" rIns="91440" bIns="45720" rtlCol="0" anchor="t">
            <a:normAutofit/>
          </a:bodyPr>
          <a:lstStyle/>
          <a:p>
            <a:pPr>
              <a:lnSpc>
                <a:spcPct val="150000"/>
              </a:lnSpc>
            </a:pPr>
            <a:r>
              <a:rPr lang="en-IN" b="1" dirty="0">
                <a:cs typeface="Calibri"/>
              </a:rPr>
              <a:t>Advantages</a:t>
            </a:r>
            <a:endParaRPr lang="en-US" b="1" dirty="0">
              <a:cs typeface="Calibri"/>
            </a:endParaRPr>
          </a:p>
          <a:p>
            <a:pPr lvl="1">
              <a:lnSpc>
                <a:spcPct val="150000"/>
              </a:lnSpc>
            </a:pPr>
            <a:r>
              <a:rPr lang="en-IN" dirty="0">
                <a:cs typeface="Calibri"/>
              </a:rPr>
              <a:t>Control of Company is not Surrendered</a:t>
            </a:r>
            <a:endParaRPr lang="en-IN" dirty="0"/>
          </a:p>
          <a:p>
            <a:pPr lvl="1">
              <a:lnSpc>
                <a:spcPct val="150000"/>
              </a:lnSpc>
            </a:pPr>
            <a:r>
              <a:rPr lang="en-IN" dirty="0" smtClean="0">
                <a:cs typeface="Calibri"/>
              </a:rPr>
              <a:t>Interest </a:t>
            </a:r>
            <a:r>
              <a:rPr lang="en-IN" dirty="0">
                <a:cs typeface="Calibri"/>
              </a:rPr>
              <a:t>is an allowable Expenditure</a:t>
            </a:r>
          </a:p>
          <a:p>
            <a:pPr lvl="1">
              <a:lnSpc>
                <a:spcPct val="150000"/>
              </a:lnSpc>
            </a:pPr>
            <a:r>
              <a:rPr lang="en-IN" dirty="0">
                <a:cs typeface="Calibri"/>
              </a:rPr>
              <a:t>Can be reduced if company has Surplus Funds</a:t>
            </a:r>
          </a:p>
          <a:p>
            <a:pPr lvl="1">
              <a:lnSpc>
                <a:spcPct val="150000"/>
              </a:lnSpc>
            </a:pPr>
            <a:endParaRPr lang="en-IN" dirty="0">
              <a:cs typeface="Calibri"/>
            </a:endParaRP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b="1" dirty="0">
                <a:cs typeface="Calibri"/>
              </a:rPr>
              <a:t>Disadvantages</a:t>
            </a:r>
          </a:p>
          <a:p>
            <a:pPr lvl="1">
              <a:lnSpc>
                <a:spcPct val="150000"/>
              </a:lnSpc>
            </a:pPr>
            <a:r>
              <a:rPr lang="en-IN" dirty="0">
                <a:cs typeface="Calibri"/>
              </a:rPr>
              <a:t>Cost of Raising Capital is High</a:t>
            </a:r>
            <a:endParaRPr lang="en-IN" b="1" dirty="0">
              <a:cs typeface="Calibri"/>
            </a:endParaRPr>
          </a:p>
          <a:p>
            <a:pPr lvl="1">
              <a:lnSpc>
                <a:spcPct val="150000"/>
              </a:lnSpc>
            </a:pPr>
            <a:r>
              <a:rPr lang="en-IN" dirty="0">
                <a:cs typeface="Calibri"/>
              </a:rPr>
              <a:t>Common People cannot buy Debentures</a:t>
            </a:r>
          </a:p>
          <a:p>
            <a:pPr lvl="1">
              <a:lnSpc>
                <a:spcPct val="150000"/>
              </a:lnSpc>
            </a:pPr>
            <a:endParaRPr lang="en-IN" dirty="0">
              <a:cs typeface="Calibri"/>
            </a:endParaRPr>
          </a:p>
        </p:txBody>
      </p:sp>
      <p:sp>
        <p:nvSpPr>
          <p:cNvPr id="5" name="Title 1">
            <a:extLst>
              <a:ext uri="{FF2B5EF4-FFF2-40B4-BE49-F238E27FC236}">
                <a16:creationId xmlns:a16="http://schemas.microsoft.com/office/drawing/2014/main" xmlns="" id="{B869CD52-79E5-4473-BA2D-9894F8F28CA6}"/>
              </a:ext>
            </a:extLst>
          </p:cNvPr>
          <p:cNvSpPr>
            <a:spLocks noGrp="1"/>
          </p:cNvSpPr>
          <p:nvPr/>
        </p:nvSpPr>
        <p:spPr>
          <a:xfrm>
            <a:off x="0" y="1"/>
            <a:ext cx="12192000" cy="9419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Debentures </a:t>
            </a:r>
          </a:p>
        </p:txBody>
      </p:sp>
    </p:spTree>
    <p:extLst>
      <p:ext uri="{BB962C8B-B14F-4D97-AF65-F5344CB8AC3E}">
        <p14:creationId xmlns:p14="http://schemas.microsoft.com/office/powerpoint/2010/main" val="33863015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2" y="1703916"/>
            <a:ext cx="11639007" cy="5154083"/>
          </a:xfrm>
        </p:spPr>
        <p:txBody>
          <a:bodyPr vert="horz" lIns="91440" tIns="45720" rIns="91440" bIns="45720" rtlCol="0" anchor="t">
            <a:noAutofit/>
          </a:bodyPr>
          <a:lstStyle/>
          <a:p>
            <a:pPr marL="457200" lvl="1" indent="0">
              <a:lnSpc>
                <a:spcPct val="150000"/>
              </a:lnSpc>
              <a:buNone/>
            </a:pPr>
            <a:r>
              <a:rPr lang="en-US" sz="1800" b="1" dirty="0" smtClean="0">
                <a:cs typeface="Calibri"/>
              </a:rPr>
              <a:t>Types:</a:t>
            </a:r>
          </a:p>
          <a:p>
            <a:pPr lvl="1">
              <a:lnSpc>
                <a:spcPct val="150000"/>
              </a:lnSpc>
            </a:pPr>
            <a:r>
              <a:rPr lang="en-US" sz="2000" dirty="0" smtClean="0">
                <a:cs typeface="Calibri"/>
              </a:rPr>
              <a:t>Cumulative and Non-cumulative</a:t>
            </a:r>
          </a:p>
          <a:p>
            <a:pPr marL="457200" lvl="1" indent="0">
              <a:lnSpc>
                <a:spcPct val="150000"/>
              </a:lnSpc>
              <a:buNone/>
            </a:pPr>
            <a:r>
              <a:rPr lang="en-US" sz="2000" dirty="0">
                <a:cs typeface="Calibri"/>
              </a:rPr>
              <a:t>	</a:t>
            </a:r>
            <a:r>
              <a:rPr lang="en-US" sz="2000" dirty="0" smtClean="0">
                <a:cs typeface="Calibri"/>
              </a:rPr>
              <a:t>Cumulative: Arrears are payable</a:t>
            </a:r>
          </a:p>
          <a:p>
            <a:pPr marL="457200" lvl="1" indent="0">
              <a:lnSpc>
                <a:spcPct val="150000"/>
              </a:lnSpc>
              <a:buNone/>
            </a:pPr>
            <a:r>
              <a:rPr lang="en-US" sz="2000" dirty="0">
                <a:cs typeface="Calibri"/>
              </a:rPr>
              <a:t>	</a:t>
            </a:r>
            <a:r>
              <a:rPr lang="en-US" sz="2000" dirty="0" smtClean="0">
                <a:cs typeface="Calibri"/>
              </a:rPr>
              <a:t>Non – Cumulative : Arrears are not payable</a:t>
            </a:r>
          </a:p>
          <a:p>
            <a:pPr lvl="1">
              <a:lnSpc>
                <a:spcPct val="150000"/>
              </a:lnSpc>
            </a:pPr>
            <a:r>
              <a:rPr lang="en-US" sz="2000" dirty="0" smtClean="0">
                <a:cs typeface="Calibri"/>
              </a:rPr>
              <a:t>Redeemable and Irredeemable:</a:t>
            </a:r>
          </a:p>
          <a:p>
            <a:pPr marL="457200" lvl="1" indent="0">
              <a:lnSpc>
                <a:spcPct val="150000"/>
              </a:lnSpc>
              <a:buNone/>
            </a:pPr>
            <a:r>
              <a:rPr lang="en-US" sz="2000" dirty="0">
                <a:cs typeface="Calibri"/>
              </a:rPr>
              <a:t>	 Redeemable </a:t>
            </a:r>
            <a:r>
              <a:rPr lang="en-US" sz="2000" dirty="0" smtClean="0">
                <a:cs typeface="Calibri"/>
              </a:rPr>
              <a:t>: </a:t>
            </a:r>
            <a:r>
              <a:rPr lang="en-US" sz="2000" dirty="0"/>
              <a:t> </a:t>
            </a:r>
            <a:r>
              <a:rPr lang="en-US" sz="2000" dirty="0" smtClean="0"/>
              <a:t>The </a:t>
            </a:r>
            <a:r>
              <a:rPr lang="en-US" sz="2000" dirty="0"/>
              <a:t>redeemable preference shares are repurchased at a fixed rate on a fixed date or by announcing the same in </a:t>
            </a:r>
            <a:r>
              <a:rPr lang="en-US" sz="2000" dirty="0" smtClean="0"/>
              <a:t>advance.</a:t>
            </a:r>
          </a:p>
          <a:p>
            <a:pPr marL="457200" lvl="1" indent="0">
              <a:lnSpc>
                <a:spcPct val="150000"/>
              </a:lnSpc>
              <a:buNone/>
            </a:pPr>
            <a:r>
              <a:rPr lang="en-US" sz="2000" dirty="0">
                <a:cs typeface="Calibri"/>
              </a:rPr>
              <a:t>	 </a:t>
            </a:r>
            <a:r>
              <a:rPr lang="en-US" sz="2000" dirty="0" smtClean="0">
                <a:cs typeface="Calibri"/>
              </a:rPr>
              <a:t>Irredeemable: </a:t>
            </a:r>
            <a:r>
              <a:rPr lang="en-US" sz="2000" dirty="0"/>
              <a:t>This particular share cannot be redeemed or repaid during the active lifetime of a company.</a:t>
            </a:r>
            <a:endParaRPr lang="en-US" sz="2000" dirty="0" smtClean="0">
              <a:cs typeface="Calibri"/>
            </a:endParaRPr>
          </a:p>
          <a:p>
            <a:pPr lvl="1">
              <a:lnSpc>
                <a:spcPct val="150000"/>
              </a:lnSpc>
            </a:pPr>
            <a:endParaRPr lang="en-IN" sz="1450" dirty="0">
              <a:cs typeface="Calibri"/>
            </a:endParaRP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None/>
            </a:pPr>
            <a:endParaRPr lang="en-IN" dirty="0">
              <a:cs typeface="Calibri"/>
            </a:endParaRPr>
          </a:p>
        </p:txBody>
      </p:sp>
      <p:sp>
        <p:nvSpPr>
          <p:cNvPr id="9" name="Title 1">
            <a:extLst>
              <a:ext uri="{FF2B5EF4-FFF2-40B4-BE49-F238E27FC236}">
                <a16:creationId xmlns:a16="http://schemas.microsoft.com/office/drawing/2014/main" xmlns="" id="{4905CC3C-B3F3-45AC-B951-BA3E54E655E0}"/>
              </a:ext>
            </a:extLst>
          </p:cNvPr>
          <p:cNvSpPr>
            <a:spLocks noGrp="1"/>
          </p:cNvSpPr>
          <p:nvPr/>
        </p:nvSpPr>
        <p:spPr>
          <a:xfrm>
            <a:off x="0" y="1"/>
            <a:ext cx="12192000" cy="101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Preference Shares</a:t>
            </a:r>
          </a:p>
        </p:txBody>
      </p:sp>
    </p:spTree>
    <p:extLst>
      <p:ext uri="{BB962C8B-B14F-4D97-AF65-F5344CB8AC3E}">
        <p14:creationId xmlns:p14="http://schemas.microsoft.com/office/powerpoint/2010/main" val="378742802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2" y="1703916"/>
            <a:ext cx="11639007" cy="5154083"/>
          </a:xfrm>
        </p:spPr>
        <p:txBody>
          <a:bodyPr vert="horz" lIns="91440" tIns="45720" rIns="91440" bIns="45720" rtlCol="0" anchor="t">
            <a:noAutofit/>
          </a:bodyPr>
          <a:lstStyle/>
          <a:p>
            <a:pPr lvl="1">
              <a:lnSpc>
                <a:spcPct val="150000"/>
              </a:lnSpc>
            </a:pPr>
            <a:r>
              <a:rPr lang="en-US" sz="1800" dirty="0" smtClean="0">
                <a:cs typeface="Calibri"/>
              </a:rPr>
              <a:t>Participative and Non-Participative</a:t>
            </a:r>
          </a:p>
          <a:p>
            <a:pPr marL="457200" lvl="1" indent="0">
              <a:lnSpc>
                <a:spcPct val="150000"/>
              </a:lnSpc>
              <a:buNone/>
            </a:pPr>
            <a:r>
              <a:rPr lang="en-US" sz="1800" dirty="0">
                <a:cs typeface="Calibri"/>
              </a:rPr>
              <a:t>	 </a:t>
            </a:r>
            <a:r>
              <a:rPr lang="en-US" sz="1800" dirty="0" smtClean="0">
                <a:cs typeface="Calibri"/>
              </a:rPr>
              <a:t>Participative: </a:t>
            </a:r>
            <a:r>
              <a:rPr lang="en-US" sz="1800" dirty="0"/>
              <a:t>T</a:t>
            </a:r>
            <a:r>
              <a:rPr lang="en-US" sz="1800" dirty="0" smtClean="0"/>
              <a:t>he </a:t>
            </a:r>
            <a:r>
              <a:rPr lang="en-US" sz="1800" dirty="0"/>
              <a:t>participating preference shareholders receive a fixed rate of dividend and also have a share in the company’s extra </a:t>
            </a:r>
            <a:r>
              <a:rPr lang="en-US" sz="1800" dirty="0" smtClean="0"/>
              <a:t>earnings.</a:t>
            </a:r>
          </a:p>
          <a:p>
            <a:pPr marL="457200" lvl="1" indent="0">
              <a:lnSpc>
                <a:spcPct val="150000"/>
              </a:lnSpc>
              <a:buNone/>
            </a:pPr>
            <a:r>
              <a:rPr lang="en-US" sz="1800" dirty="0">
                <a:cs typeface="Calibri"/>
              </a:rPr>
              <a:t>	</a:t>
            </a:r>
            <a:r>
              <a:rPr lang="en-US" sz="1800" dirty="0" smtClean="0">
                <a:cs typeface="Calibri"/>
              </a:rPr>
              <a:t>Non-Participative: </a:t>
            </a:r>
            <a:r>
              <a:rPr lang="en-US" sz="1800" dirty="0"/>
              <a:t> </a:t>
            </a:r>
            <a:r>
              <a:rPr lang="en-US" sz="1800" dirty="0" smtClean="0"/>
              <a:t>Preference </a:t>
            </a:r>
            <a:r>
              <a:rPr lang="en-US" sz="1800" dirty="0"/>
              <a:t>shareholders do not have a share in the extra earnings or surplus assets during the liquidation of a </a:t>
            </a:r>
            <a:r>
              <a:rPr lang="en-US" sz="1800" dirty="0" smtClean="0"/>
              <a:t>company</a:t>
            </a:r>
            <a:endParaRPr lang="en-US" sz="1800" dirty="0" smtClean="0">
              <a:cs typeface="Calibri"/>
            </a:endParaRPr>
          </a:p>
          <a:p>
            <a:pPr lvl="1">
              <a:lnSpc>
                <a:spcPct val="150000"/>
              </a:lnSpc>
            </a:pPr>
            <a:r>
              <a:rPr lang="en-US" sz="1800" dirty="0" smtClean="0">
                <a:cs typeface="Calibri"/>
              </a:rPr>
              <a:t>Convertible and Non –convertible:</a:t>
            </a:r>
          </a:p>
          <a:p>
            <a:pPr marL="457200" lvl="1" indent="0">
              <a:lnSpc>
                <a:spcPct val="150000"/>
              </a:lnSpc>
              <a:buNone/>
            </a:pPr>
            <a:r>
              <a:rPr lang="en-US" sz="1800" dirty="0">
                <a:cs typeface="Calibri"/>
              </a:rPr>
              <a:t>	 </a:t>
            </a:r>
            <a:r>
              <a:rPr lang="en-US" sz="1800" dirty="0" smtClean="0">
                <a:cs typeface="Calibri"/>
              </a:rPr>
              <a:t>Convertible: </a:t>
            </a:r>
            <a:r>
              <a:rPr lang="en-US" sz="1800" dirty="0"/>
              <a:t>Convertible shares are fundamentally those shares which enable holders to get them converted into equity shares at a fixed </a:t>
            </a:r>
            <a:r>
              <a:rPr lang="en-US" sz="1800" dirty="0" smtClean="0"/>
              <a:t>rate.</a:t>
            </a:r>
          </a:p>
          <a:p>
            <a:pPr marL="457200" lvl="1" indent="0">
              <a:lnSpc>
                <a:spcPct val="150000"/>
              </a:lnSpc>
              <a:buNone/>
            </a:pPr>
            <a:r>
              <a:rPr lang="en-US" sz="1800" dirty="0">
                <a:cs typeface="Calibri"/>
              </a:rPr>
              <a:t>	 Non –</a:t>
            </a:r>
            <a:r>
              <a:rPr lang="en-US" sz="1800" dirty="0" smtClean="0">
                <a:cs typeface="Calibri"/>
              </a:rPr>
              <a:t>convertible: </a:t>
            </a:r>
            <a:r>
              <a:rPr lang="en-US" sz="1800" dirty="0"/>
              <a:t>Non-convertible shareholders cannot convert their shares into equity </a:t>
            </a:r>
            <a:r>
              <a:rPr lang="en-US" sz="1800" dirty="0" smtClean="0"/>
              <a:t>shares.</a:t>
            </a:r>
            <a:endParaRPr lang="en-IN" sz="1800" dirty="0">
              <a:cs typeface="Calibri"/>
            </a:endParaRP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None/>
            </a:pPr>
            <a:endParaRPr lang="en-IN" dirty="0">
              <a:cs typeface="Calibri"/>
            </a:endParaRPr>
          </a:p>
        </p:txBody>
      </p:sp>
      <p:sp>
        <p:nvSpPr>
          <p:cNvPr id="9" name="Title 1">
            <a:extLst>
              <a:ext uri="{FF2B5EF4-FFF2-40B4-BE49-F238E27FC236}">
                <a16:creationId xmlns:a16="http://schemas.microsoft.com/office/drawing/2014/main" xmlns="" id="{4905CC3C-B3F3-45AC-B951-BA3E54E655E0}"/>
              </a:ext>
            </a:extLst>
          </p:cNvPr>
          <p:cNvSpPr>
            <a:spLocks noGrp="1"/>
          </p:cNvSpPr>
          <p:nvPr/>
        </p:nvSpPr>
        <p:spPr>
          <a:xfrm>
            <a:off x="0" y="1"/>
            <a:ext cx="12192000" cy="101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Preference Shares</a:t>
            </a:r>
          </a:p>
        </p:txBody>
      </p:sp>
    </p:spTree>
    <p:extLst>
      <p:ext uri="{BB962C8B-B14F-4D97-AF65-F5344CB8AC3E}">
        <p14:creationId xmlns:p14="http://schemas.microsoft.com/office/powerpoint/2010/main" val="78146601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1703916"/>
            <a:ext cx="6085415" cy="5154083"/>
          </a:xfrm>
        </p:spPr>
        <p:txBody>
          <a:bodyPr vert="horz" lIns="91440" tIns="45720" rIns="91440" bIns="45720" rtlCol="0" anchor="t">
            <a:normAutofit/>
          </a:bodyPr>
          <a:lstStyle/>
          <a:p>
            <a:pPr>
              <a:lnSpc>
                <a:spcPct val="150000"/>
              </a:lnSpc>
            </a:pPr>
            <a:r>
              <a:rPr lang="en-IN" b="1" dirty="0">
                <a:cs typeface="Calibri"/>
              </a:rPr>
              <a:t>Advantages</a:t>
            </a:r>
            <a:endParaRPr lang="en-US" b="1" dirty="0">
              <a:cs typeface="Calibri"/>
            </a:endParaRPr>
          </a:p>
          <a:p>
            <a:pPr lvl="1">
              <a:lnSpc>
                <a:spcPct val="150000"/>
              </a:lnSpc>
            </a:pPr>
            <a:r>
              <a:rPr lang="en-IN" dirty="0">
                <a:cs typeface="Calibri"/>
              </a:rPr>
              <a:t>Fixed Return</a:t>
            </a:r>
          </a:p>
          <a:p>
            <a:pPr lvl="1">
              <a:lnSpc>
                <a:spcPct val="150000"/>
              </a:lnSpc>
            </a:pPr>
            <a:r>
              <a:rPr lang="en-IN" dirty="0">
                <a:cs typeface="Calibri"/>
              </a:rPr>
              <a:t>Long Term Funds</a:t>
            </a:r>
          </a:p>
          <a:p>
            <a:pPr lvl="1">
              <a:lnSpc>
                <a:spcPct val="150000"/>
              </a:lnSpc>
            </a:pPr>
            <a:r>
              <a:rPr lang="en-IN" dirty="0">
                <a:cs typeface="Calibri"/>
              </a:rPr>
              <a:t>Restricted Voting Rights</a:t>
            </a:r>
          </a:p>
          <a:p>
            <a:pPr lvl="1">
              <a:lnSpc>
                <a:spcPct val="150000"/>
              </a:lnSpc>
            </a:pPr>
            <a:r>
              <a:rPr lang="en-IN" dirty="0">
                <a:cs typeface="Calibri"/>
              </a:rPr>
              <a:t>Repayment of </a:t>
            </a:r>
            <a:r>
              <a:rPr lang="en-IN" dirty="0" smtClean="0">
                <a:cs typeface="Calibri"/>
              </a:rPr>
              <a:t>Capital is possible in case of redeemable debentures</a:t>
            </a:r>
            <a:endParaRPr lang="en-IN" dirty="0">
              <a:cs typeface="Calibri"/>
            </a:endParaRPr>
          </a:p>
          <a:p>
            <a:pPr lvl="1">
              <a:lnSpc>
                <a:spcPct val="150000"/>
              </a:lnSpc>
            </a:pPr>
            <a:r>
              <a:rPr lang="en-IN" dirty="0">
                <a:cs typeface="Calibri"/>
              </a:rPr>
              <a:t>No Securities Required</a:t>
            </a:r>
          </a:p>
          <a:p>
            <a:pPr lvl="1">
              <a:lnSpc>
                <a:spcPct val="150000"/>
              </a:lnSpc>
            </a:pPr>
            <a:endParaRPr lang="en-IN" dirty="0">
              <a:cs typeface="Calibri"/>
            </a:endParaRP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708149"/>
            <a:ext cx="5810249" cy="5143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b="1" dirty="0">
                <a:cs typeface="Calibri"/>
              </a:rPr>
              <a:t>Disadvantages</a:t>
            </a:r>
          </a:p>
          <a:p>
            <a:pPr lvl="1">
              <a:lnSpc>
                <a:spcPct val="150000"/>
              </a:lnSpc>
            </a:pPr>
            <a:r>
              <a:rPr lang="en-IN" dirty="0">
                <a:cs typeface="Calibri"/>
              </a:rPr>
              <a:t>Burden of Fixed Return</a:t>
            </a:r>
            <a:endParaRPr lang="en-IN" dirty="0"/>
          </a:p>
          <a:p>
            <a:pPr lvl="1">
              <a:lnSpc>
                <a:spcPct val="150000"/>
              </a:lnSpc>
            </a:pPr>
            <a:r>
              <a:rPr lang="en-IN" dirty="0">
                <a:cs typeface="Calibri"/>
              </a:rPr>
              <a:t>No Controlling Rights</a:t>
            </a:r>
          </a:p>
          <a:p>
            <a:pPr lvl="1">
              <a:lnSpc>
                <a:spcPct val="150000"/>
              </a:lnSpc>
            </a:pPr>
            <a:r>
              <a:rPr lang="en-IN" dirty="0">
                <a:cs typeface="Calibri"/>
              </a:rPr>
              <a:t>Cost of Raising Capital is Higher</a:t>
            </a:r>
          </a:p>
          <a:p>
            <a:pPr lvl="1">
              <a:lnSpc>
                <a:spcPct val="150000"/>
              </a:lnSpc>
            </a:pPr>
            <a:r>
              <a:rPr lang="en-IN" dirty="0">
                <a:cs typeface="Calibri"/>
              </a:rPr>
              <a:t>Does not attract many Investors</a:t>
            </a:r>
          </a:p>
          <a:p>
            <a:pPr lvl="1">
              <a:lnSpc>
                <a:spcPct val="150000"/>
              </a:lnSpc>
            </a:pPr>
            <a:endParaRPr lang="en-IN" dirty="0">
              <a:cs typeface="Calibri"/>
            </a:endParaRPr>
          </a:p>
        </p:txBody>
      </p:sp>
      <p:sp>
        <p:nvSpPr>
          <p:cNvPr id="9" name="Title 1">
            <a:extLst>
              <a:ext uri="{FF2B5EF4-FFF2-40B4-BE49-F238E27FC236}">
                <a16:creationId xmlns:a16="http://schemas.microsoft.com/office/drawing/2014/main" xmlns="" id="{4905CC3C-B3F3-45AC-B951-BA3E54E655E0}"/>
              </a:ext>
            </a:extLst>
          </p:cNvPr>
          <p:cNvSpPr>
            <a:spLocks noGrp="1"/>
          </p:cNvSpPr>
          <p:nvPr/>
        </p:nvSpPr>
        <p:spPr>
          <a:xfrm>
            <a:off x="0" y="1"/>
            <a:ext cx="12192000" cy="101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cs typeface="Calibri Light"/>
              </a:rPr>
              <a:t>Preference Shares</a:t>
            </a:r>
          </a:p>
        </p:txBody>
      </p:sp>
    </p:spTree>
    <p:extLst>
      <p:ext uri="{BB962C8B-B14F-4D97-AF65-F5344CB8AC3E}">
        <p14:creationId xmlns:p14="http://schemas.microsoft.com/office/powerpoint/2010/main" val="4666013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075777-8B02-478B-9470-97BE1B4B8ABE}"/>
              </a:ext>
            </a:extLst>
          </p:cNvPr>
          <p:cNvSpPr>
            <a:spLocks noGrp="1"/>
          </p:cNvSpPr>
          <p:nvPr>
            <p:ph type="title"/>
          </p:nvPr>
        </p:nvSpPr>
        <p:spPr>
          <a:xfrm>
            <a:off x="0" y="1"/>
            <a:ext cx="12192000" cy="878416"/>
          </a:xfrm>
        </p:spPr>
        <p:txBody>
          <a:bodyPr/>
          <a:lstStyle/>
          <a:p>
            <a:pPr algn="ctr"/>
            <a:r>
              <a:rPr lang="en-US" b="1" dirty="0">
                <a:cs typeface="Calibri Light"/>
              </a:rPr>
              <a:t>Equity Shares</a:t>
            </a:r>
          </a:p>
        </p:txBody>
      </p:sp>
      <p:sp>
        <p:nvSpPr>
          <p:cNvPr id="3" name="Content Placeholder 2">
            <a:extLst>
              <a:ext uri="{FF2B5EF4-FFF2-40B4-BE49-F238E27FC236}">
                <a16:creationId xmlns:a16="http://schemas.microsoft.com/office/drawing/2014/main" xmlns="" id="{6639156C-F486-4469-B282-0513EC7A0194}"/>
              </a:ext>
            </a:extLst>
          </p:cNvPr>
          <p:cNvSpPr>
            <a:spLocks noGrp="1"/>
          </p:cNvSpPr>
          <p:nvPr>
            <p:ph idx="1"/>
          </p:nvPr>
        </p:nvSpPr>
        <p:spPr>
          <a:xfrm>
            <a:off x="-1" y="1587500"/>
            <a:ext cx="6085415" cy="5270499"/>
          </a:xfrm>
        </p:spPr>
        <p:txBody>
          <a:bodyPr vert="horz" lIns="91440" tIns="45720" rIns="91440" bIns="45720" rtlCol="0" anchor="t">
            <a:normAutofit/>
          </a:bodyPr>
          <a:lstStyle/>
          <a:p>
            <a:pPr>
              <a:lnSpc>
                <a:spcPct val="150000"/>
              </a:lnSpc>
            </a:pPr>
            <a:r>
              <a:rPr lang="en-IN" b="1" dirty="0">
                <a:cs typeface="Calibri"/>
              </a:rPr>
              <a:t>Advantages</a:t>
            </a:r>
            <a:endParaRPr lang="en-US" b="1">
              <a:cs typeface="Calibri"/>
            </a:endParaRPr>
          </a:p>
          <a:p>
            <a:pPr lvl="1">
              <a:lnSpc>
                <a:spcPct val="150000"/>
              </a:lnSpc>
            </a:pPr>
            <a:r>
              <a:rPr lang="en-IN" dirty="0">
                <a:cs typeface="Calibri"/>
              </a:rPr>
              <a:t>No Fixed Dividend</a:t>
            </a:r>
          </a:p>
          <a:p>
            <a:pPr lvl="1">
              <a:lnSpc>
                <a:spcPct val="150000"/>
              </a:lnSpc>
            </a:pPr>
            <a:r>
              <a:rPr lang="en-IN" dirty="0">
                <a:cs typeface="Calibri"/>
              </a:rPr>
              <a:t>No Charge on Assets</a:t>
            </a:r>
          </a:p>
          <a:p>
            <a:pPr lvl="1">
              <a:lnSpc>
                <a:spcPct val="150000"/>
              </a:lnSpc>
            </a:pPr>
            <a:r>
              <a:rPr lang="en-IN" dirty="0">
                <a:cs typeface="Calibri"/>
              </a:rPr>
              <a:t>Permanent Source</a:t>
            </a:r>
          </a:p>
          <a:p>
            <a:pPr lvl="1">
              <a:lnSpc>
                <a:spcPct val="150000"/>
              </a:lnSpc>
            </a:pPr>
            <a:r>
              <a:rPr lang="en-IN" dirty="0">
                <a:cs typeface="Calibri"/>
              </a:rPr>
              <a:t>Real Owners of the Company</a:t>
            </a:r>
          </a:p>
          <a:p>
            <a:pPr lvl="1">
              <a:lnSpc>
                <a:spcPct val="150000"/>
              </a:lnSpc>
            </a:pPr>
            <a:r>
              <a:rPr lang="en-IN" dirty="0">
                <a:cs typeface="Calibri"/>
              </a:rPr>
              <a:t>More Dividend</a:t>
            </a:r>
          </a:p>
        </p:txBody>
      </p:sp>
      <p:sp>
        <p:nvSpPr>
          <p:cNvPr id="8" name="Content Placeholder 2">
            <a:extLst>
              <a:ext uri="{FF2B5EF4-FFF2-40B4-BE49-F238E27FC236}">
                <a16:creationId xmlns:a16="http://schemas.microsoft.com/office/drawing/2014/main" xmlns="" id="{ABCD8B7C-3EFB-4627-B771-7C39466BE478}"/>
              </a:ext>
            </a:extLst>
          </p:cNvPr>
          <p:cNvSpPr txBox="1">
            <a:spLocks/>
          </p:cNvSpPr>
          <p:nvPr/>
        </p:nvSpPr>
        <p:spPr>
          <a:xfrm>
            <a:off x="6079066" y="1581149"/>
            <a:ext cx="5810249" cy="52705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b="1" dirty="0">
                <a:cs typeface="Calibri"/>
              </a:rPr>
              <a:t>Disadvantages</a:t>
            </a:r>
          </a:p>
          <a:p>
            <a:pPr lvl="1">
              <a:lnSpc>
                <a:spcPct val="150000"/>
              </a:lnSpc>
            </a:pPr>
            <a:r>
              <a:rPr lang="en-IN" dirty="0" smtClean="0">
                <a:cs typeface="Calibri"/>
              </a:rPr>
              <a:t>Danger </a:t>
            </a:r>
            <a:r>
              <a:rPr lang="en-IN" dirty="0">
                <a:cs typeface="Calibri"/>
              </a:rPr>
              <a:t>of Over Capitalization</a:t>
            </a:r>
          </a:p>
          <a:p>
            <a:pPr lvl="1">
              <a:lnSpc>
                <a:spcPct val="150000"/>
              </a:lnSpc>
            </a:pPr>
            <a:r>
              <a:rPr lang="en-IN" dirty="0">
                <a:cs typeface="Calibri"/>
              </a:rPr>
              <a:t>Obstacles for Management</a:t>
            </a:r>
          </a:p>
          <a:p>
            <a:pPr lvl="1">
              <a:lnSpc>
                <a:spcPct val="150000"/>
              </a:lnSpc>
            </a:pPr>
            <a:endParaRPr lang="en-IN" dirty="0">
              <a:cs typeface="Calibri"/>
            </a:endParaRPr>
          </a:p>
        </p:txBody>
      </p:sp>
    </p:spTree>
    <p:extLst>
      <p:ext uri="{BB962C8B-B14F-4D97-AF65-F5344CB8AC3E}">
        <p14:creationId xmlns:p14="http://schemas.microsoft.com/office/powerpoint/2010/main" val="2542185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Frame">
  <a:themeElements>
    <a:clrScheme name="Frame">
      <a:dk1>
        <a:sysClr val="windowText" lastClr="000000"/>
      </a:dk1>
      <a:lt1>
        <a:sysClr val="window" lastClr="FFFFFF"/>
      </a:lt1>
      <a:dk2>
        <a:srgbClr val="4A3F38"/>
      </a:dk2>
      <a:lt2>
        <a:srgbClr val="EEEDCB"/>
      </a:lt2>
      <a:accent1>
        <a:srgbClr val="818E9F"/>
      </a:accent1>
      <a:accent2>
        <a:srgbClr val="D26400"/>
      </a:accent2>
      <a:accent3>
        <a:srgbClr val="C3BA45"/>
      </a:accent3>
      <a:accent4>
        <a:srgbClr val="8A8552"/>
      </a:accent4>
      <a:accent5>
        <a:srgbClr val="F3B843"/>
      </a:accent5>
      <a:accent6>
        <a:srgbClr val="786C71"/>
      </a:accent6>
      <a:hlink>
        <a:srgbClr val="46A7CA"/>
      </a:hlink>
      <a:folHlink>
        <a:srgbClr val="B2B2B2"/>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9935E573-C197-41A8-BCA1-5D5F62C560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1431</TotalTime>
  <Words>1685</Words>
  <Application>Microsoft Office PowerPoint</Application>
  <PresentationFormat>Widescreen</PresentationFormat>
  <Paragraphs>337</Paragraphs>
  <Slides>43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43</vt:i4>
      </vt:variant>
    </vt:vector>
  </HeadingPairs>
  <TitlesOfParts>
    <vt:vector size="51" baseType="lpstr">
      <vt:lpstr>Arial</vt:lpstr>
      <vt:lpstr>Calibri</vt:lpstr>
      <vt:lpstr>Calibri Light</vt:lpstr>
      <vt:lpstr>Corbel</vt:lpstr>
      <vt:lpstr>graphikweb-regular</vt:lpstr>
      <vt:lpstr>Wingdings 2</vt:lpstr>
      <vt:lpstr>Frame</vt:lpstr>
      <vt:lpstr>Office Theme</vt:lpstr>
      <vt:lpstr>Entrepreneurial Finance </vt:lpstr>
      <vt:lpstr>Entrepreneurial Finance</vt:lpstr>
      <vt:lpstr>Entrepreneurial Finance</vt:lpstr>
      <vt:lpstr>Factors determining the capital requirements</vt:lpstr>
      <vt:lpstr>Classification of Capital</vt:lpstr>
      <vt:lpstr>Classification of Capital</vt:lpstr>
      <vt:lpstr>Classification of Capital</vt:lpstr>
      <vt:lpstr>Fixed Capital</vt:lpstr>
      <vt:lpstr>Factors Determining Fixed Capital Requirement</vt:lpstr>
      <vt:lpstr>Working Capital</vt:lpstr>
      <vt:lpstr>Working Capital</vt:lpstr>
      <vt:lpstr>Working Capital Classification</vt:lpstr>
      <vt:lpstr>On the basis of Concept</vt:lpstr>
      <vt:lpstr>On the basis of Concept  </vt:lpstr>
      <vt:lpstr>Factors Determining Working Capital Requirement</vt:lpstr>
      <vt:lpstr>Entrepreneurial Sources of Finance</vt:lpstr>
      <vt:lpstr>Entrepreneurial Sources of Finance</vt:lpstr>
      <vt:lpstr>Entrepreneurial Sources of Finance</vt:lpstr>
      <vt:lpstr>Entrepreneurial Sources of Finance</vt:lpstr>
      <vt:lpstr>Entrepreneurial Sources of Finance </vt:lpstr>
      <vt:lpstr>Entrepreneurial Sources of Finance </vt:lpstr>
      <vt:lpstr>Entrepreneurial Sources of Finance</vt:lpstr>
      <vt:lpstr>Sources of Finance</vt:lpstr>
      <vt:lpstr>Bill Discounting</vt:lpstr>
      <vt:lpstr>Loans from Financial Institutions</vt:lpstr>
      <vt:lpstr>Industrial Development Bank of India(IDBI)</vt:lpstr>
      <vt:lpstr>Industrial Credit and Investment Corporations of India Ltd (ICICI) </vt:lpstr>
      <vt:lpstr>Industrial Finance Corporation of India (IFCI) </vt:lpstr>
      <vt:lpstr>Industrial Investment Bank of India(IIBI)</vt:lpstr>
      <vt:lpstr>Small Industries Development Bank of India (SIDBI) </vt:lpstr>
      <vt:lpstr> State Small Industries Corporation (SSIDCs) and  Small Industries Service Institutions(SISIs) </vt:lpstr>
      <vt:lpstr> State Small Industries Corporation (SSIDCs) and  Small Industries Service Institutions(SISIs) </vt:lpstr>
      <vt:lpstr>National Small Industries Corporation Ltd (NSIC) </vt:lpstr>
      <vt:lpstr>State Industrial Development Corporations (SIDCs) </vt:lpstr>
      <vt:lpstr>State Financial Corporations (SFCs) </vt:lpstr>
      <vt:lpstr>Micro, Small, and Medium Enterprises (MSME’s)-</vt:lpstr>
      <vt:lpstr>PowerPoint Presentation</vt:lpstr>
      <vt:lpstr>PowerPoint Presentation</vt:lpstr>
      <vt:lpstr>PowerPoint Presentation</vt:lpstr>
      <vt:lpstr>PowerPoint Presentation</vt:lpstr>
      <vt:lpstr>PowerPoint Presentation</vt:lpstr>
      <vt:lpstr>PowerPoint Presentation</vt:lpstr>
      <vt:lpstr>Equity Shares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p:lastModifiedBy>
  <cp:revision>367</cp:revision>
  <dcterms:created xsi:type="dcterms:W3CDTF">2021-10-23T08:32:33Z</dcterms:created>
  <dcterms:modified xsi:type="dcterms:W3CDTF">2026-02-13T04:53:02Z</dcterms:modified>
</cp:coreProperties>
</file>