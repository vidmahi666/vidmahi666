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24" r:id="rId1"/>
    <p:sldMasterId id="2147483960" r:id="rId2"/>
  </p:sldMasterIdLst>
  <p:notesMasterIdLst>
    <p:notesMasterId r:id="rId51"/>
  </p:notesMasterIdLst>
  <p:sldIdLst>
    <p:sldId id="307" r:id="rId3"/>
    <p:sldId id="308" r:id="rId4"/>
    <p:sldId id="306" r:id="rId5"/>
    <p:sldId id="305" r:id="rId6"/>
    <p:sldId id="304" r:id="rId7"/>
    <p:sldId id="260" r:id="rId8"/>
    <p:sldId id="272" r:id="rId9"/>
    <p:sldId id="264" r:id="rId10"/>
    <p:sldId id="273" r:id="rId11"/>
    <p:sldId id="266" r:id="rId12"/>
    <p:sldId id="275" r:id="rId13"/>
    <p:sldId id="277" r:id="rId14"/>
    <p:sldId id="278" r:id="rId15"/>
    <p:sldId id="279" r:id="rId16"/>
    <p:sldId id="280" r:id="rId17"/>
    <p:sldId id="267" r:id="rId18"/>
    <p:sldId id="309" r:id="rId19"/>
    <p:sldId id="265" r:id="rId20"/>
    <p:sldId id="310" r:id="rId21"/>
    <p:sldId id="263" r:id="rId22"/>
    <p:sldId id="262" r:id="rId23"/>
    <p:sldId id="261" r:id="rId24"/>
    <p:sldId id="311" r:id="rId25"/>
    <p:sldId id="259" r:id="rId26"/>
    <p:sldId id="258" r:id="rId27"/>
    <p:sldId id="257" r:id="rId28"/>
    <p:sldId id="303" r:id="rId29"/>
    <p:sldId id="281" r:id="rId30"/>
    <p:sldId id="282" r:id="rId31"/>
    <p:sldId id="289" r:id="rId32"/>
    <p:sldId id="283" r:id="rId33"/>
    <p:sldId id="284" r:id="rId34"/>
    <p:sldId id="286" r:id="rId35"/>
    <p:sldId id="290" r:id="rId36"/>
    <p:sldId id="291" r:id="rId37"/>
    <p:sldId id="292" r:id="rId38"/>
    <p:sldId id="301" r:id="rId39"/>
    <p:sldId id="293" r:id="rId40"/>
    <p:sldId id="295" r:id="rId41"/>
    <p:sldId id="299" r:id="rId42"/>
    <p:sldId id="294" r:id="rId43"/>
    <p:sldId id="296" r:id="rId44"/>
    <p:sldId id="298" r:id="rId45"/>
    <p:sldId id="297" r:id="rId46"/>
    <p:sldId id="302" r:id="rId47"/>
    <p:sldId id="288" r:id="rId48"/>
    <p:sldId id="287" r:id="rId49"/>
    <p:sldId id="276" r:id="rId50"/>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2" autoAdjust="0"/>
    <p:restoredTop sz="94660"/>
  </p:normalViewPr>
  <p:slideViewPr>
    <p:cSldViewPr snapToGrid="0">
      <p:cViewPr varScale="1">
        <p:scale>
          <a:sx n="66" d="100"/>
          <a:sy n="66" d="100"/>
        </p:scale>
        <p:origin x="480" y="4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viewProps" Target="viewProp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microsoft.com/office/2016/11/relationships/changesInfo" Target="changesInfos/changesInfo1.xml"/><Relationship Id="rId8" Type="http://schemas.openxmlformats.org/officeDocument/2006/relationships/slide" Target="slides/slide6.xml"/><Relationship Id="rId51" Type="http://schemas.openxmlformats.org/officeDocument/2006/relationships/notesMaster" Target="notesMasters/notes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MITHA MAHINDRAKAR" userId="f09a2cd1-1aff-4dcb-a309-4bd9a1e65aad" providerId="ADAL" clId="{81E1E601-F7E3-4DFF-A2CC-68967658338F}"/>
    <pc:docChg chg="custSel addSld modSld">
      <pc:chgData name="SMITHA MAHINDRAKAR" userId="f09a2cd1-1aff-4dcb-a309-4bd9a1e65aad" providerId="ADAL" clId="{81E1E601-F7E3-4DFF-A2CC-68967658338F}" dt="2026-01-19T18:12:51.496" v="52" actId="478"/>
      <pc:docMkLst>
        <pc:docMk/>
      </pc:docMkLst>
      <pc:sldChg chg="add">
        <pc:chgData name="SMITHA MAHINDRAKAR" userId="f09a2cd1-1aff-4dcb-a309-4bd9a1e65aad" providerId="ADAL" clId="{81E1E601-F7E3-4DFF-A2CC-68967658338F}" dt="2026-01-19T18:04:02.544" v="0"/>
        <pc:sldMkLst>
          <pc:docMk/>
          <pc:sldMk cId="2651036850" sldId="257"/>
        </pc:sldMkLst>
      </pc:sldChg>
      <pc:sldChg chg="add">
        <pc:chgData name="SMITHA MAHINDRAKAR" userId="f09a2cd1-1aff-4dcb-a309-4bd9a1e65aad" providerId="ADAL" clId="{81E1E601-F7E3-4DFF-A2CC-68967658338F}" dt="2026-01-19T18:04:02.544" v="0"/>
        <pc:sldMkLst>
          <pc:docMk/>
          <pc:sldMk cId="2550242958" sldId="258"/>
        </pc:sldMkLst>
      </pc:sldChg>
      <pc:sldChg chg="add">
        <pc:chgData name="SMITHA MAHINDRAKAR" userId="f09a2cd1-1aff-4dcb-a309-4bd9a1e65aad" providerId="ADAL" clId="{81E1E601-F7E3-4DFF-A2CC-68967658338F}" dt="2026-01-19T18:04:02.544" v="0"/>
        <pc:sldMkLst>
          <pc:docMk/>
          <pc:sldMk cId="1579038114" sldId="259"/>
        </pc:sldMkLst>
      </pc:sldChg>
      <pc:sldChg chg="add">
        <pc:chgData name="SMITHA MAHINDRAKAR" userId="f09a2cd1-1aff-4dcb-a309-4bd9a1e65aad" providerId="ADAL" clId="{81E1E601-F7E3-4DFF-A2CC-68967658338F}" dt="2026-01-19T18:04:02.544" v="0"/>
        <pc:sldMkLst>
          <pc:docMk/>
          <pc:sldMk cId="1398027265" sldId="261"/>
        </pc:sldMkLst>
      </pc:sldChg>
      <pc:sldChg chg="add">
        <pc:chgData name="SMITHA MAHINDRAKAR" userId="f09a2cd1-1aff-4dcb-a309-4bd9a1e65aad" providerId="ADAL" clId="{81E1E601-F7E3-4DFF-A2CC-68967658338F}" dt="2026-01-19T18:04:02.544" v="0"/>
        <pc:sldMkLst>
          <pc:docMk/>
          <pc:sldMk cId="1039119322" sldId="262"/>
        </pc:sldMkLst>
      </pc:sldChg>
      <pc:sldChg chg="add">
        <pc:chgData name="SMITHA MAHINDRAKAR" userId="f09a2cd1-1aff-4dcb-a309-4bd9a1e65aad" providerId="ADAL" clId="{81E1E601-F7E3-4DFF-A2CC-68967658338F}" dt="2026-01-19T18:04:02.544" v="0"/>
        <pc:sldMkLst>
          <pc:docMk/>
          <pc:sldMk cId="2233749009" sldId="263"/>
        </pc:sldMkLst>
      </pc:sldChg>
      <pc:sldChg chg="add">
        <pc:chgData name="SMITHA MAHINDRAKAR" userId="f09a2cd1-1aff-4dcb-a309-4bd9a1e65aad" providerId="ADAL" clId="{81E1E601-F7E3-4DFF-A2CC-68967658338F}" dt="2026-01-19T18:04:02.544" v="0"/>
        <pc:sldMkLst>
          <pc:docMk/>
          <pc:sldMk cId="536692546" sldId="265"/>
        </pc:sldMkLst>
      </pc:sldChg>
      <pc:sldChg chg="add">
        <pc:chgData name="SMITHA MAHINDRAKAR" userId="f09a2cd1-1aff-4dcb-a309-4bd9a1e65aad" providerId="ADAL" clId="{81E1E601-F7E3-4DFF-A2CC-68967658338F}" dt="2026-01-19T18:04:02.544" v="0"/>
        <pc:sldMkLst>
          <pc:docMk/>
          <pc:sldMk cId="2377754746" sldId="267"/>
        </pc:sldMkLst>
      </pc:sldChg>
      <pc:sldChg chg="delSp modSp mod">
        <pc:chgData name="SMITHA MAHINDRAKAR" userId="f09a2cd1-1aff-4dcb-a309-4bd9a1e65aad" providerId="ADAL" clId="{81E1E601-F7E3-4DFF-A2CC-68967658338F}" dt="2026-01-19T18:12:51.496" v="52" actId="478"/>
        <pc:sldMkLst>
          <pc:docMk/>
          <pc:sldMk cId="2580003757" sldId="307"/>
        </pc:sldMkLst>
        <pc:spChg chg="del mod">
          <ac:chgData name="SMITHA MAHINDRAKAR" userId="f09a2cd1-1aff-4dcb-a309-4bd9a1e65aad" providerId="ADAL" clId="{81E1E601-F7E3-4DFF-A2CC-68967658338F}" dt="2026-01-19T18:12:51.496" v="52" actId="478"/>
          <ac:spMkLst>
            <pc:docMk/>
            <pc:sldMk cId="2580003757" sldId="307"/>
            <ac:spMk id="6" creationId="{CC4952E8-BEC2-8343-5E55-B22D8879B01C}"/>
          </ac:spMkLst>
        </pc:spChg>
        <pc:spChg chg="mod">
          <ac:chgData name="SMITHA MAHINDRAKAR" userId="f09a2cd1-1aff-4dcb-a309-4bd9a1e65aad" providerId="ADAL" clId="{81E1E601-F7E3-4DFF-A2CC-68967658338F}" dt="2026-01-19T18:12:36.446" v="50" actId="20577"/>
          <ac:spMkLst>
            <pc:docMk/>
            <pc:sldMk cId="2580003757" sldId="307"/>
            <ac:spMk id="8" creationId="{C50BC093-0D53-C80D-5715-61D20835EF01}"/>
          </ac:spMkLst>
        </pc:spChg>
      </pc:sldChg>
      <pc:sldChg chg="add">
        <pc:chgData name="SMITHA MAHINDRAKAR" userId="f09a2cd1-1aff-4dcb-a309-4bd9a1e65aad" providerId="ADAL" clId="{81E1E601-F7E3-4DFF-A2CC-68967658338F}" dt="2026-01-19T18:04:02.544" v="0"/>
        <pc:sldMkLst>
          <pc:docMk/>
          <pc:sldMk cId="3182108845" sldId="309"/>
        </pc:sldMkLst>
      </pc:sldChg>
      <pc:sldChg chg="add">
        <pc:chgData name="SMITHA MAHINDRAKAR" userId="f09a2cd1-1aff-4dcb-a309-4bd9a1e65aad" providerId="ADAL" clId="{81E1E601-F7E3-4DFF-A2CC-68967658338F}" dt="2026-01-19T18:04:02.544" v="0"/>
        <pc:sldMkLst>
          <pc:docMk/>
          <pc:sldMk cId="1989010007" sldId="310"/>
        </pc:sldMkLst>
      </pc:sldChg>
      <pc:sldChg chg="add">
        <pc:chgData name="SMITHA MAHINDRAKAR" userId="f09a2cd1-1aff-4dcb-a309-4bd9a1e65aad" providerId="ADAL" clId="{81E1E601-F7E3-4DFF-A2CC-68967658338F}" dt="2026-01-19T18:04:02.544" v="0"/>
        <pc:sldMkLst>
          <pc:docMk/>
          <pc:sldMk cId="3549051964" sldId="311"/>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07926DF-678A-445A-8BA5-3B7893E4BD08}" type="doc">
      <dgm:prSet loTypeId="urn:microsoft.com/office/officeart/2005/8/layout/hierarchy3" loCatId="relationship" qsTypeId="urn:microsoft.com/office/officeart/2005/8/quickstyle/simple1" qsCatId="simple" csTypeId="urn:microsoft.com/office/officeart/2005/8/colors/accent1_2" csCatId="accent1" phldr="1"/>
      <dgm:spPr/>
      <dgm:t>
        <a:bodyPr/>
        <a:lstStyle/>
        <a:p>
          <a:endParaRPr lang="en-IN"/>
        </a:p>
      </dgm:t>
    </dgm:pt>
    <dgm:pt modelId="{BEE5F9BA-A0B1-4B87-9E3B-E6223A603616}">
      <dgm:prSet phldrT="[Text]"/>
      <dgm:spPr/>
      <dgm:t>
        <a:bodyPr/>
        <a:lstStyle/>
        <a:p>
          <a:r>
            <a:rPr lang="en-US" dirty="0"/>
            <a:t>On the Basis of Concept</a:t>
          </a:r>
          <a:endParaRPr lang="en-IN" dirty="0"/>
        </a:p>
      </dgm:t>
    </dgm:pt>
    <dgm:pt modelId="{3983AF32-4E5A-4CB9-9B5A-5EB7E6F4FCD3}" type="parTrans" cxnId="{B3B08855-AD9E-4B9A-B6AF-A7175C7C91B2}">
      <dgm:prSet/>
      <dgm:spPr/>
      <dgm:t>
        <a:bodyPr/>
        <a:lstStyle/>
        <a:p>
          <a:endParaRPr lang="en-IN"/>
        </a:p>
      </dgm:t>
    </dgm:pt>
    <dgm:pt modelId="{4A9AC8C7-3F80-4873-B461-7F5B031CA322}" type="sibTrans" cxnId="{B3B08855-AD9E-4B9A-B6AF-A7175C7C91B2}">
      <dgm:prSet/>
      <dgm:spPr/>
      <dgm:t>
        <a:bodyPr/>
        <a:lstStyle/>
        <a:p>
          <a:endParaRPr lang="en-IN"/>
        </a:p>
      </dgm:t>
    </dgm:pt>
    <dgm:pt modelId="{0BA47D96-E731-4730-BA6A-CB29B503F912}">
      <dgm:prSet phldrT="[Text]"/>
      <dgm:spPr/>
      <dgm:t>
        <a:bodyPr/>
        <a:lstStyle/>
        <a:p>
          <a:r>
            <a:rPr lang="en-US" dirty="0"/>
            <a:t>Gross Working Capital</a:t>
          </a:r>
          <a:endParaRPr lang="en-IN" dirty="0"/>
        </a:p>
      </dgm:t>
    </dgm:pt>
    <dgm:pt modelId="{C245633E-2057-4377-8A82-77F869714E8A}" type="parTrans" cxnId="{632EDA25-A875-42C3-9D18-814D31F085F1}">
      <dgm:prSet/>
      <dgm:spPr/>
      <dgm:t>
        <a:bodyPr/>
        <a:lstStyle/>
        <a:p>
          <a:endParaRPr lang="en-IN"/>
        </a:p>
      </dgm:t>
    </dgm:pt>
    <dgm:pt modelId="{23FE53E2-FF22-4F71-8E4D-9183CEB782B4}" type="sibTrans" cxnId="{632EDA25-A875-42C3-9D18-814D31F085F1}">
      <dgm:prSet/>
      <dgm:spPr/>
      <dgm:t>
        <a:bodyPr/>
        <a:lstStyle/>
        <a:p>
          <a:endParaRPr lang="en-IN"/>
        </a:p>
      </dgm:t>
    </dgm:pt>
    <dgm:pt modelId="{10F7B463-806E-4C94-9857-7E21EE027305}">
      <dgm:prSet phldrT="[Text]"/>
      <dgm:spPr/>
      <dgm:t>
        <a:bodyPr/>
        <a:lstStyle/>
        <a:p>
          <a:r>
            <a:rPr lang="en-US" dirty="0"/>
            <a:t>Net Working Capital</a:t>
          </a:r>
          <a:endParaRPr lang="en-IN" dirty="0"/>
        </a:p>
      </dgm:t>
    </dgm:pt>
    <dgm:pt modelId="{E31D02A2-214C-4BA4-B522-5C51CE7AD2EF}" type="parTrans" cxnId="{51102020-69FC-4280-967B-B153A8198492}">
      <dgm:prSet/>
      <dgm:spPr/>
      <dgm:t>
        <a:bodyPr/>
        <a:lstStyle/>
        <a:p>
          <a:endParaRPr lang="en-IN"/>
        </a:p>
      </dgm:t>
    </dgm:pt>
    <dgm:pt modelId="{EDC25B59-39A9-46FA-9D18-BDC1A61D271C}" type="sibTrans" cxnId="{51102020-69FC-4280-967B-B153A8198492}">
      <dgm:prSet/>
      <dgm:spPr/>
      <dgm:t>
        <a:bodyPr/>
        <a:lstStyle/>
        <a:p>
          <a:endParaRPr lang="en-IN"/>
        </a:p>
      </dgm:t>
    </dgm:pt>
    <dgm:pt modelId="{06063F9A-F6E1-4AC6-B904-4C690D4CA9C5}">
      <dgm:prSet phldrT="[Text]"/>
      <dgm:spPr/>
      <dgm:t>
        <a:bodyPr/>
        <a:lstStyle/>
        <a:p>
          <a:r>
            <a:rPr lang="en-US" dirty="0"/>
            <a:t>On the Basis of Time </a:t>
          </a:r>
          <a:endParaRPr lang="en-IN" dirty="0"/>
        </a:p>
      </dgm:t>
    </dgm:pt>
    <dgm:pt modelId="{89E0B94F-D68C-411F-8D75-625FABD04004}" type="parTrans" cxnId="{2C271083-0625-4344-81F9-ECECA539468A}">
      <dgm:prSet/>
      <dgm:spPr/>
      <dgm:t>
        <a:bodyPr/>
        <a:lstStyle/>
        <a:p>
          <a:endParaRPr lang="en-IN"/>
        </a:p>
      </dgm:t>
    </dgm:pt>
    <dgm:pt modelId="{F7A599C8-C8A6-4443-B681-62D375425AC3}" type="sibTrans" cxnId="{2C271083-0625-4344-81F9-ECECA539468A}">
      <dgm:prSet/>
      <dgm:spPr/>
      <dgm:t>
        <a:bodyPr/>
        <a:lstStyle/>
        <a:p>
          <a:endParaRPr lang="en-IN"/>
        </a:p>
      </dgm:t>
    </dgm:pt>
    <dgm:pt modelId="{CCEB6DEE-7C96-41D6-94B5-0BC9AA4066A1}">
      <dgm:prSet phldrT="[Text]"/>
      <dgm:spPr/>
      <dgm:t>
        <a:bodyPr/>
        <a:lstStyle/>
        <a:p>
          <a:pPr>
            <a:buNone/>
          </a:pPr>
          <a:r>
            <a:rPr lang="en-US" dirty="0"/>
            <a:t>Permanent</a:t>
          </a:r>
        </a:p>
        <a:p>
          <a:pPr>
            <a:buFont typeface="Arial" panose="020B0604020202020204" pitchFamily="34" charset="0"/>
            <a:buChar char="•"/>
          </a:pPr>
          <a:r>
            <a:rPr lang="en-US" dirty="0"/>
            <a:t>--Regular</a:t>
          </a:r>
        </a:p>
        <a:p>
          <a:pPr>
            <a:buFont typeface="Arial" panose="020B0604020202020204" pitchFamily="34" charset="0"/>
            <a:buChar char="•"/>
          </a:pPr>
          <a:r>
            <a:rPr lang="en-US" dirty="0"/>
            <a:t>--Reserve </a:t>
          </a:r>
          <a:endParaRPr lang="en-IN" dirty="0"/>
        </a:p>
      </dgm:t>
    </dgm:pt>
    <dgm:pt modelId="{5F8AF900-F363-4EAB-82A0-90C53C419477}" type="parTrans" cxnId="{04CF1308-ADA9-4FF7-8960-FC957522DCF5}">
      <dgm:prSet/>
      <dgm:spPr/>
      <dgm:t>
        <a:bodyPr/>
        <a:lstStyle/>
        <a:p>
          <a:endParaRPr lang="en-IN"/>
        </a:p>
      </dgm:t>
    </dgm:pt>
    <dgm:pt modelId="{B79A0A3B-207E-4024-A438-5035E5716977}" type="sibTrans" cxnId="{04CF1308-ADA9-4FF7-8960-FC957522DCF5}">
      <dgm:prSet/>
      <dgm:spPr/>
      <dgm:t>
        <a:bodyPr/>
        <a:lstStyle/>
        <a:p>
          <a:endParaRPr lang="en-IN"/>
        </a:p>
      </dgm:t>
    </dgm:pt>
    <dgm:pt modelId="{AF718C58-ADFE-4BAB-94D9-389197FDDF40}">
      <dgm:prSet phldrT="[Text]"/>
      <dgm:spPr/>
      <dgm:t>
        <a:bodyPr/>
        <a:lstStyle/>
        <a:p>
          <a:r>
            <a:rPr lang="en-US" dirty="0"/>
            <a:t>Temporary</a:t>
          </a:r>
        </a:p>
        <a:p>
          <a:r>
            <a:rPr lang="en-US" dirty="0"/>
            <a:t>--Seasonal</a:t>
          </a:r>
        </a:p>
        <a:p>
          <a:r>
            <a:rPr lang="en-US" dirty="0"/>
            <a:t>--Special</a:t>
          </a:r>
          <a:endParaRPr lang="en-IN" dirty="0"/>
        </a:p>
      </dgm:t>
    </dgm:pt>
    <dgm:pt modelId="{EE8612B0-398B-433C-95CD-F9ABF4DD251E}" type="parTrans" cxnId="{D64666BA-D9F8-47D2-9380-636BE8E81F76}">
      <dgm:prSet/>
      <dgm:spPr/>
      <dgm:t>
        <a:bodyPr/>
        <a:lstStyle/>
        <a:p>
          <a:endParaRPr lang="en-IN"/>
        </a:p>
      </dgm:t>
    </dgm:pt>
    <dgm:pt modelId="{1EF5590E-C3DB-4201-80B4-C59141372881}" type="sibTrans" cxnId="{D64666BA-D9F8-47D2-9380-636BE8E81F76}">
      <dgm:prSet/>
      <dgm:spPr/>
      <dgm:t>
        <a:bodyPr/>
        <a:lstStyle/>
        <a:p>
          <a:endParaRPr lang="en-IN"/>
        </a:p>
      </dgm:t>
    </dgm:pt>
    <dgm:pt modelId="{681EBF3B-423B-450B-A8EA-69D115A7C26D}" type="pres">
      <dgm:prSet presAssocID="{B07926DF-678A-445A-8BA5-3B7893E4BD08}" presName="diagram" presStyleCnt="0">
        <dgm:presLayoutVars>
          <dgm:chPref val="1"/>
          <dgm:dir/>
          <dgm:animOne val="branch"/>
          <dgm:animLvl val="lvl"/>
          <dgm:resizeHandles/>
        </dgm:presLayoutVars>
      </dgm:prSet>
      <dgm:spPr/>
    </dgm:pt>
    <dgm:pt modelId="{DE0D02FB-7862-43FC-8C5E-069AF7341631}" type="pres">
      <dgm:prSet presAssocID="{BEE5F9BA-A0B1-4B87-9E3B-E6223A603616}" presName="root" presStyleCnt="0"/>
      <dgm:spPr/>
    </dgm:pt>
    <dgm:pt modelId="{414069DB-5368-4F5C-B3DF-5306EB40E98B}" type="pres">
      <dgm:prSet presAssocID="{BEE5F9BA-A0B1-4B87-9E3B-E6223A603616}" presName="rootComposite" presStyleCnt="0"/>
      <dgm:spPr/>
    </dgm:pt>
    <dgm:pt modelId="{B4CAA03E-2E73-4E64-A565-D4537B951C06}" type="pres">
      <dgm:prSet presAssocID="{BEE5F9BA-A0B1-4B87-9E3B-E6223A603616}" presName="rootText" presStyleLbl="node1" presStyleIdx="0" presStyleCnt="2"/>
      <dgm:spPr/>
    </dgm:pt>
    <dgm:pt modelId="{72F27BD9-B91D-41A7-9FF5-87FCCBDBB827}" type="pres">
      <dgm:prSet presAssocID="{BEE5F9BA-A0B1-4B87-9E3B-E6223A603616}" presName="rootConnector" presStyleLbl="node1" presStyleIdx="0" presStyleCnt="2"/>
      <dgm:spPr/>
    </dgm:pt>
    <dgm:pt modelId="{43A12EC4-1C01-4AB5-9B10-3297F654B07D}" type="pres">
      <dgm:prSet presAssocID="{BEE5F9BA-A0B1-4B87-9E3B-E6223A603616}" presName="childShape" presStyleCnt="0"/>
      <dgm:spPr/>
    </dgm:pt>
    <dgm:pt modelId="{9F8F4482-CB9A-4261-8227-542649E3B01B}" type="pres">
      <dgm:prSet presAssocID="{C245633E-2057-4377-8A82-77F869714E8A}" presName="Name13" presStyleLbl="parChTrans1D2" presStyleIdx="0" presStyleCnt="4"/>
      <dgm:spPr/>
    </dgm:pt>
    <dgm:pt modelId="{1A6AE3C2-BD4C-4F09-A070-36C3A4EC4B69}" type="pres">
      <dgm:prSet presAssocID="{0BA47D96-E731-4730-BA6A-CB29B503F912}" presName="childText" presStyleLbl="bgAcc1" presStyleIdx="0" presStyleCnt="4">
        <dgm:presLayoutVars>
          <dgm:bulletEnabled val="1"/>
        </dgm:presLayoutVars>
      </dgm:prSet>
      <dgm:spPr/>
    </dgm:pt>
    <dgm:pt modelId="{A858420B-8771-4B55-97AF-27E5CB0AA762}" type="pres">
      <dgm:prSet presAssocID="{E31D02A2-214C-4BA4-B522-5C51CE7AD2EF}" presName="Name13" presStyleLbl="parChTrans1D2" presStyleIdx="1" presStyleCnt="4"/>
      <dgm:spPr/>
    </dgm:pt>
    <dgm:pt modelId="{94F76ECD-D5AB-4446-A530-D94AFB994D14}" type="pres">
      <dgm:prSet presAssocID="{10F7B463-806E-4C94-9857-7E21EE027305}" presName="childText" presStyleLbl="bgAcc1" presStyleIdx="1" presStyleCnt="4">
        <dgm:presLayoutVars>
          <dgm:bulletEnabled val="1"/>
        </dgm:presLayoutVars>
      </dgm:prSet>
      <dgm:spPr/>
    </dgm:pt>
    <dgm:pt modelId="{C427FF1E-B131-489F-A16A-FFE3508C8A9C}" type="pres">
      <dgm:prSet presAssocID="{06063F9A-F6E1-4AC6-B904-4C690D4CA9C5}" presName="root" presStyleCnt="0"/>
      <dgm:spPr/>
    </dgm:pt>
    <dgm:pt modelId="{DEB4EB9A-2683-4898-A338-D7A33848AF50}" type="pres">
      <dgm:prSet presAssocID="{06063F9A-F6E1-4AC6-B904-4C690D4CA9C5}" presName="rootComposite" presStyleCnt="0"/>
      <dgm:spPr/>
    </dgm:pt>
    <dgm:pt modelId="{6C02BF0A-04B5-4F97-93F0-4DDF5DD4E10E}" type="pres">
      <dgm:prSet presAssocID="{06063F9A-F6E1-4AC6-B904-4C690D4CA9C5}" presName="rootText" presStyleLbl="node1" presStyleIdx="1" presStyleCnt="2"/>
      <dgm:spPr/>
    </dgm:pt>
    <dgm:pt modelId="{25C7D1E0-B21D-4812-A3BB-886314DF1296}" type="pres">
      <dgm:prSet presAssocID="{06063F9A-F6E1-4AC6-B904-4C690D4CA9C5}" presName="rootConnector" presStyleLbl="node1" presStyleIdx="1" presStyleCnt="2"/>
      <dgm:spPr/>
    </dgm:pt>
    <dgm:pt modelId="{6A773F5A-FCFD-4C01-AC93-5B6E05887A1C}" type="pres">
      <dgm:prSet presAssocID="{06063F9A-F6E1-4AC6-B904-4C690D4CA9C5}" presName="childShape" presStyleCnt="0"/>
      <dgm:spPr/>
    </dgm:pt>
    <dgm:pt modelId="{D8DAB656-0C65-4A94-8B7E-BB9E991421FD}" type="pres">
      <dgm:prSet presAssocID="{5F8AF900-F363-4EAB-82A0-90C53C419477}" presName="Name13" presStyleLbl="parChTrans1D2" presStyleIdx="2" presStyleCnt="4"/>
      <dgm:spPr/>
    </dgm:pt>
    <dgm:pt modelId="{A7D12906-D86F-4C0F-8869-0E712CBC7FB3}" type="pres">
      <dgm:prSet presAssocID="{CCEB6DEE-7C96-41D6-94B5-0BC9AA4066A1}" presName="childText" presStyleLbl="bgAcc1" presStyleIdx="2" presStyleCnt="4">
        <dgm:presLayoutVars>
          <dgm:bulletEnabled val="1"/>
        </dgm:presLayoutVars>
      </dgm:prSet>
      <dgm:spPr/>
    </dgm:pt>
    <dgm:pt modelId="{AF7821A0-A88B-4520-AE99-CBA71B0915FD}" type="pres">
      <dgm:prSet presAssocID="{EE8612B0-398B-433C-95CD-F9ABF4DD251E}" presName="Name13" presStyleLbl="parChTrans1D2" presStyleIdx="3" presStyleCnt="4"/>
      <dgm:spPr/>
    </dgm:pt>
    <dgm:pt modelId="{5D6F7AEA-7C4C-4C17-AA30-9CD8B5C3E3C7}" type="pres">
      <dgm:prSet presAssocID="{AF718C58-ADFE-4BAB-94D9-389197FDDF40}" presName="childText" presStyleLbl="bgAcc1" presStyleIdx="3" presStyleCnt="4">
        <dgm:presLayoutVars>
          <dgm:bulletEnabled val="1"/>
        </dgm:presLayoutVars>
      </dgm:prSet>
      <dgm:spPr/>
    </dgm:pt>
  </dgm:ptLst>
  <dgm:cxnLst>
    <dgm:cxn modelId="{04CF1308-ADA9-4FF7-8960-FC957522DCF5}" srcId="{06063F9A-F6E1-4AC6-B904-4C690D4CA9C5}" destId="{CCEB6DEE-7C96-41D6-94B5-0BC9AA4066A1}" srcOrd="0" destOrd="0" parTransId="{5F8AF900-F363-4EAB-82A0-90C53C419477}" sibTransId="{B79A0A3B-207E-4024-A438-5035E5716977}"/>
    <dgm:cxn modelId="{ED881914-7B35-481E-A76D-3843E6328D6A}" type="presOf" srcId="{0BA47D96-E731-4730-BA6A-CB29B503F912}" destId="{1A6AE3C2-BD4C-4F09-A070-36C3A4EC4B69}" srcOrd="0" destOrd="0" presId="urn:microsoft.com/office/officeart/2005/8/layout/hierarchy3"/>
    <dgm:cxn modelId="{27287914-F696-49DE-8602-E2538AEF42A1}" type="presOf" srcId="{AF718C58-ADFE-4BAB-94D9-389197FDDF40}" destId="{5D6F7AEA-7C4C-4C17-AA30-9CD8B5C3E3C7}" srcOrd="0" destOrd="0" presId="urn:microsoft.com/office/officeart/2005/8/layout/hierarchy3"/>
    <dgm:cxn modelId="{A80E141F-69A9-417B-BD1F-57533EDDCEDC}" type="presOf" srcId="{BEE5F9BA-A0B1-4B87-9E3B-E6223A603616}" destId="{72F27BD9-B91D-41A7-9FF5-87FCCBDBB827}" srcOrd="1" destOrd="0" presId="urn:microsoft.com/office/officeart/2005/8/layout/hierarchy3"/>
    <dgm:cxn modelId="{51102020-69FC-4280-967B-B153A8198492}" srcId="{BEE5F9BA-A0B1-4B87-9E3B-E6223A603616}" destId="{10F7B463-806E-4C94-9857-7E21EE027305}" srcOrd="1" destOrd="0" parTransId="{E31D02A2-214C-4BA4-B522-5C51CE7AD2EF}" sibTransId="{EDC25B59-39A9-46FA-9D18-BDC1A61D271C}"/>
    <dgm:cxn modelId="{632EDA25-A875-42C3-9D18-814D31F085F1}" srcId="{BEE5F9BA-A0B1-4B87-9E3B-E6223A603616}" destId="{0BA47D96-E731-4730-BA6A-CB29B503F912}" srcOrd="0" destOrd="0" parTransId="{C245633E-2057-4377-8A82-77F869714E8A}" sibTransId="{23FE53E2-FF22-4F71-8E4D-9183CEB782B4}"/>
    <dgm:cxn modelId="{5847B52A-2FAC-4CD3-A1BB-A841610BA66A}" type="presOf" srcId="{10F7B463-806E-4C94-9857-7E21EE027305}" destId="{94F76ECD-D5AB-4446-A530-D94AFB994D14}" srcOrd="0" destOrd="0" presId="urn:microsoft.com/office/officeart/2005/8/layout/hierarchy3"/>
    <dgm:cxn modelId="{8381EF2E-8C5F-46AD-AA97-78F05879CC6F}" type="presOf" srcId="{B07926DF-678A-445A-8BA5-3B7893E4BD08}" destId="{681EBF3B-423B-450B-A8EA-69D115A7C26D}" srcOrd="0" destOrd="0" presId="urn:microsoft.com/office/officeart/2005/8/layout/hierarchy3"/>
    <dgm:cxn modelId="{37E61B3B-0DD5-456E-9DA8-603EBB281CAB}" type="presOf" srcId="{5F8AF900-F363-4EAB-82A0-90C53C419477}" destId="{D8DAB656-0C65-4A94-8B7E-BB9E991421FD}" srcOrd="0" destOrd="0" presId="urn:microsoft.com/office/officeart/2005/8/layout/hierarchy3"/>
    <dgm:cxn modelId="{2BE97A3B-E10E-4067-85A7-13E5FE4872C9}" type="presOf" srcId="{C245633E-2057-4377-8A82-77F869714E8A}" destId="{9F8F4482-CB9A-4261-8227-542649E3B01B}" srcOrd="0" destOrd="0" presId="urn:microsoft.com/office/officeart/2005/8/layout/hierarchy3"/>
    <dgm:cxn modelId="{B3B08855-AD9E-4B9A-B6AF-A7175C7C91B2}" srcId="{B07926DF-678A-445A-8BA5-3B7893E4BD08}" destId="{BEE5F9BA-A0B1-4B87-9E3B-E6223A603616}" srcOrd="0" destOrd="0" parTransId="{3983AF32-4E5A-4CB9-9B5A-5EB7E6F4FCD3}" sibTransId="{4A9AC8C7-3F80-4873-B461-7F5B031CA322}"/>
    <dgm:cxn modelId="{EC73F27A-E0EC-43BD-B9EB-F433FD725FD0}" type="presOf" srcId="{06063F9A-F6E1-4AC6-B904-4C690D4CA9C5}" destId="{6C02BF0A-04B5-4F97-93F0-4DDF5DD4E10E}" srcOrd="0" destOrd="0" presId="urn:microsoft.com/office/officeart/2005/8/layout/hierarchy3"/>
    <dgm:cxn modelId="{68E5C97C-457F-498F-A705-5994127D29FF}" type="presOf" srcId="{E31D02A2-214C-4BA4-B522-5C51CE7AD2EF}" destId="{A858420B-8771-4B55-97AF-27E5CB0AA762}" srcOrd="0" destOrd="0" presId="urn:microsoft.com/office/officeart/2005/8/layout/hierarchy3"/>
    <dgm:cxn modelId="{2C271083-0625-4344-81F9-ECECA539468A}" srcId="{B07926DF-678A-445A-8BA5-3B7893E4BD08}" destId="{06063F9A-F6E1-4AC6-B904-4C690D4CA9C5}" srcOrd="1" destOrd="0" parTransId="{89E0B94F-D68C-411F-8D75-625FABD04004}" sibTransId="{F7A599C8-C8A6-4443-B681-62D375425AC3}"/>
    <dgm:cxn modelId="{0F220393-00E9-4BFF-9826-8B88916927ED}" type="presOf" srcId="{CCEB6DEE-7C96-41D6-94B5-0BC9AA4066A1}" destId="{A7D12906-D86F-4C0F-8869-0E712CBC7FB3}" srcOrd="0" destOrd="0" presId="urn:microsoft.com/office/officeart/2005/8/layout/hierarchy3"/>
    <dgm:cxn modelId="{D64666BA-D9F8-47D2-9380-636BE8E81F76}" srcId="{06063F9A-F6E1-4AC6-B904-4C690D4CA9C5}" destId="{AF718C58-ADFE-4BAB-94D9-389197FDDF40}" srcOrd="1" destOrd="0" parTransId="{EE8612B0-398B-433C-95CD-F9ABF4DD251E}" sibTransId="{1EF5590E-C3DB-4201-80B4-C59141372881}"/>
    <dgm:cxn modelId="{A716EFBD-863A-45D7-BB84-F0E0244DD254}" type="presOf" srcId="{BEE5F9BA-A0B1-4B87-9E3B-E6223A603616}" destId="{B4CAA03E-2E73-4E64-A565-D4537B951C06}" srcOrd="0" destOrd="0" presId="urn:microsoft.com/office/officeart/2005/8/layout/hierarchy3"/>
    <dgm:cxn modelId="{0FE5EFE4-D1F4-4BB4-BE61-39DE105E337A}" type="presOf" srcId="{EE8612B0-398B-433C-95CD-F9ABF4DD251E}" destId="{AF7821A0-A88B-4520-AE99-CBA71B0915FD}" srcOrd="0" destOrd="0" presId="urn:microsoft.com/office/officeart/2005/8/layout/hierarchy3"/>
    <dgm:cxn modelId="{AA6124FC-9706-4DEF-AF25-E9BFF3EB294D}" type="presOf" srcId="{06063F9A-F6E1-4AC6-B904-4C690D4CA9C5}" destId="{25C7D1E0-B21D-4812-A3BB-886314DF1296}" srcOrd="1" destOrd="0" presId="urn:microsoft.com/office/officeart/2005/8/layout/hierarchy3"/>
    <dgm:cxn modelId="{F382EE54-12FA-499C-BF6D-5F0DFD2525D7}" type="presParOf" srcId="{681EBF3B-423B-450B-A8EA-69D115A7C26D}" destId="{DE0D02FB-7862-43FC-8C5E-069AF7341631}" srcOrd="0" destOrd="0" presId="urn:microsoft.com/office/officeart/2005/8/layout/hierarchy3"/>
    <dgm:cxn modelId="{365E9F06-7A51-4981-8333-762D516E5126}" type="presParOf" srcId="{DE0D02FB-7862-43FC-8C5E-069AF7341631}" destId="{414069DB-5368-4F5C-B3DF-5306EB40E98B}" srcOrd="0" destOrd="0" presId="urn:microsoft.com/office/officeart/2005/8/layout/hierarchy3"/>
    <dgm:cxn modelId="{8A2ED21A-24AD-4713-93CD-3FE8769E3AA6}" type="presParOf" srcId="{414069DB-5368-4F5C-B3DF-5306EB40E98B}" destId="{B4CAA03E-2E73-4E64-A565-D4537B951C06}" srcOrd="0" destOrd="0" presId="urn:microsoft.com/office/officeart/2005/8/layout/hierarchy3"/>
    <dgm:cxn modelId="{427BE847-53BC-4CF9-9B1A-DD6D388B1EC2}" type="presParOf" srcId="{414069DB-5368-4F5C-B3DF-5306EB40E98B}" destId="{72F27BD9-B91D-41A7-9FF5-87FCCBDBB827}" srcOrd="1" destOrd="0" presId="urn:microsoft.com/office/officeart/2005/8/layout/hierarchy3"/>
    <dgm:cxn modelId="{32133BBE-5973-42F9-BDEE-33485579D54A}" type="presParOf" srcId="{DE0D02FB-7862-43FC-8C5E-069AF7341631}" destId="{43A12EC4-1C01-4AB5-9B10-3297F654B07D}" srcOrd="1" destOrd="0" presId="urn:microsoft.com/office/officeart/2005/8/layout/hierarchy3"/>
    <dgm:cxn modelId="{B1381811-43D8-4508-840E-A55C511F5503}" type="presParOf" srcId="{43A12EC4-1C01-4AB5-9B10-3297F654B07D}" destId="{9F8F4482-CB9A-4261-8227-542649E3B01B}" srcOrd="0" destOrd="0" presId="urn:microsoft.com/office/officeart/2005/8/layout/hierarchy3"/>
    <dgm:cxn modelId="{6E6A2D67-ECEA-4F64-9AB9-B73CAA56CC42}" type="presParOf" srcId="{43A12EC4-1C01-4AB5-9B10-3297F654B07D}" destId="{1A6AE3C2-BD4C-4F09-A070-36C3A4EC4B69}" srcOrd="1" destOrd="0" presId="urn:microsoft.com/office/officeart/2005/8/layout/hierarchy3"/>
    <dgm:cxn modelId="{DFDC59FD-A76B-4D40-ABCF-B5048DF71BCB}" type="presParOf" srcId="{43A12EC4-1C01-4AB5-9B10-3297F654B07D}" destId="{A858420B-8771-4B55-97AF-27E5CB0AA762}" srcOrd="2" destOrd="0" presId="urn:microsoft.com/office/officeart/2005/8/layout/hierarchy3"/>
    <dgm:cxn modelId="{C384E862-6BD0-4306-AD7D-7B4944CA94FF}" type="presParOf" srcId="{43A12EC4-1C01-4AB5-9B10-3297F654B07D}" destId="{94F76ECD-D5AB-4446-A530-D94AFB994D14}" srcOrd="3" destOrd="0" presId="urn:microsoft.com/office/officeart/2005/8/layout/hierarchy3"/>
    <dgm:cxn modelId="{286AA52A-1F55-4465-AC57-606123B7390C}" type="presParOf" srcId="{681EBF3B-423B-450B-A8EA-69D115A7C26D}" destId="{C427FF1E-B131-489F-A16A-FFE3508C8A9C}" srcOrd="1" destOrd="0" presId="urn:microsoft.com/office/officeart/2005/8/layout/hierarchy3"/>
    <dgm:cxn modelId="{00B13659-BC66-410B-9999-D647C5228AB9}" type="presParOf" srcId="{C427FF1E-B131-489F-A16A-FFE3508C8A9C}" destId="{DEB4EB9A-2683-4898-A338-D7A33848AF50}" srcOrd="0" destOrd="0" presId="urn:microsoft.com/office/officeart/2005/8/layout/hierarchy3"/>
    <dgm:cxn modelId="{A87B68C4-219D-47E2-9011-AF972D2319BE}" type="presParOf" srcId="{DEB4EB9A-2683-4898-A338-D7A33848AF50}" destId="{6C02BF0A-04B5-4F97-93F0-4DDF5DD4E10E}" srcOrd="0" destOrd="0" presId="urn:microsoft.com/office/officeart/2005/8/layout/hierarchy3"/>
    <dgm:cxn modelId="{893BB14E-BB50-4400-A91B-89929AED43E5}" type="presParOf" srcId="{DEB4EB9A-2683-4898-A338-D7A33848AF50}" destId="{25C7D1E0-B21D-4812-A3BB-886314DF1296}" srcOrd="1" destOrd="0" presId="urn:microsoft.com/office/officeart/2005/8/layout/hierarchy3"/>
    <dgm:cxn modelId="{D2F606EC-87AB-4661-B113-5DDFE0FF11A1}" type="presParOf" srcId="{C427FF1E-B131-489F-A16A-FFE3508C8A9C}" destId="{6A773F5A-FCFD-4C01-AC93-5B6E05887A1C}" srcOrd="1" destOrd="0" presId="urn:microsoft.com/office/officeart/2005/8/layout/hierarchy3"/>
    <dgm:cxn modelId="{9E3B6127-941C-4E7D-A2F1-CCE752C91EFD}" type="presParOf" srcId="{6A773F5A-FCFD-4C01-AC93-5B6E05887A1C}" destId="{D8DAB656-0C65-4A94-8B7E-BB9E991421FD}" srcOrd="0" destOrd="0" presId="urn:microsoft.com/office/officeart/2005/8/layout/hierarchy3"/>
    <dgm:cxn modelId="{CA3028DC-1F89-413A-A316-6FEBC48B92EB}" type="presParOf" srcId="{6A773F5A-FCFD-4C01-AC93-5B6E05887A1C}" destId="{A7D12906-D86F-4C0F-8869-0E712CBC7FB3}" srcOrd="1" destOrd="0" presId="urn:microsoft.com/office/officeart/2005/8/layout/hierarchy3"/>
    <dgm:cxn modelId="{AE5AC2A9-ACDC-4120-A28D-F3E3836B914F}" type="presParOf" srcId="{6A773F5A-FCFD-4C01-AC93-5B6E05887A1C}" destId="{AF7821A0-A88B-4520-AE99-CBA71B0915FD}" srcOrd="2" destOrd="0" presId="urn:microsoft.com/office/officeart/2005/8/layout/hierarchy3"/>
    <dgm:cxn modelId="{6151F101-3E56-4EE0-991D-9A0376C1EC1D}" type="presParOf" srcId="{6A773F5A-FCFD-4C01-AC93-5B6E05887A1C}" destId="{5D6F7AEA-7C4C-4C17-AA30-9CD8B5C3E3C7}" srcOrd="3"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4AF43D0-5E9C-4B48-872D-FB61726338F2}" type="doc">
      <dgm:prSet loTypeId="urn:microsoft.com/office/officeart/2005/8/layout/cycle6" loCatId="relationship" qsTypeId="urn:microsoft.com/office/officeart/2005/8/quickstyle/simple1" qsCatId="simple" csTypeId="urn:microsoft.com/office/officeart/2005/8/colors/accent1_2" csCatId="accent1" phldr="1"/>
      <dgm:spPr/>
      <dgm:t>
        <a:bodyPr/>
        <a:lstStyle/>
        <a:p>
          <a:endParaRPr lang="en-IN"/>
        </a:p>
      </dgm:t>
    </dgm:pt>
    <dgm:pt modelId="{24B6F8EB-764D-4157-A02F-5995C6A3E27A}">
      <dgm:prSet phldrT="[Text]"/>
      <dgm:spPr/>
      <dgm:t>
        <a:bodyPr/>
        <a:lstStyle/>
        <a:p>
          <a:r>
            <a:rPr lang="en-US" dirty="0"/>
            <a:t>Cash </a:t>
          </a:r>
          <a:endParaRPr lang="en-IN" dirty="0"/>
        </a:p>
      </dgm:t>
    </dgm:pt>
    <dgm:pt modelId="{217BE600-9A9D-44F4-B16F-31528D63291D}" type="parTrans" cxnId="{E3D5246D-FD39-4D84-AB59-F29F08CBD8DD}">
      <dgm:prSet/>
      <dgm:spPr/>
      <dgm:t>
        <a:bodyPr/>
        <a:lstStyle/>
        <a:p>
          <a:endParaRPr lang="en-IN"/>
        </a:p>
      </dgm:t>
    </dgm:pt>
    <dgm:pt modelId="{E2510268-4D8C-498E-8453-6B9FA02384BF}" type="sibTrans" cxnId="{E3D5246D-FD39-4D84-AB59-F29F08CBD8DD}">
      <dgm:prSet/>
      <dgm:spPr/>
      <dgm:t>
        <a:bodyPr/>
        <a:lstStyle/>
        <a:p>
          <a:endParaRPr lang="en-IN"/>
        </a:p>
      </dgm:t>
    </dgm:pt>
    <dgm:pt modelId="{0A753485-5324-4EFE-902A-40F68E9979C7}">
      <dgm:prSet phldrT="[Text]"/>
      <dgm:spPr/>
      <dgm:t>
        <a:bodyPr/>
        <a:lstStyle/>
        <a:p>
          <a:r>
            <a:rPr lang="en-US" dirty="0"/>
            <a:t>Raw Materials</a:t>
          </a:r>
          <a:endParaRPr lang="en-IN" dirty="0"/>
        </a:p>
      </dgm:t>
    </dgm:pt>
    <dgm:pt modelId="{74FE202B-72A2-4616-9476-E7DA4379671E}" type="parTrans" cxnId="{E3553540-9807-4F94-964F-B01B7285849E}">
      <dgm:prSet/>
      <dgm:spPr/>
      <dgm:t>
        <a:bodyPr/>
        <a:lstStyle/>
        <a:p>
          <a:endParaRPr lang="en-IN"/>
        </a:p>
      </dgm:t>
    </dgm:pt>
    <dgm:pt modelId="{FC3356E4-9B59-4F20-B403-A44E0986438A}" type="sibTrans" cxnId="{E3553540-9807-4F94-964F-B01B7285849E}">
      <dgm:prSet/>
      <dgm:spPr/>
      <dgm:t>
        <a:bodyPr/>
        <a:lstStyle/>
        <a:p>
          <a:endParaRPr lang="en-IN"/>
        </a:p>
      </dgm:t>
    </dgm:pt>
    <dgm:pt modelId="{5F1AD98D-E473-48BC-AC95-CED409553BDE}">
      <dgm:prSet phldrT="[Text]"/>
      <dgm:spPr/>
      <dgm:t>
        <a:bodyPr/>
        <a:lstStyle/>
        <a:p>
          <a:r>
            <a:rPr lang="en-US" dirty="0"/>
            <a:t>Finished Goods</a:t>
          </a:r>
          <a:endParaRPr lang="en-IN" dirty="0"/>
        </a:p>
      </dgm:t>
    </dgm:pt>
    <dgm:pt modelId="{86257FE7-D71C-473E-AA21-C86A1FD2C417}" type="parTrans" cxnId="{25AF80C3-2530-4171-9737-D0D59F36BC9D}">
      <dgm:prSet/>
      <dgm:spPr/>
      <dgm:t>
        <a:bodyPr/>
        <a:lstStyle/>
        <a:p>
          <a:endParaRPr lang="en-IN"/>
        </a:p>
      </dgm:t>
    </dgm:pt>
    <dgm:pt modelId="{AA000BAC-A3BD-43FF-9264-11294264BD9B}" type="sibTrans" cxnId="{25AF80C3-2530-4171-9737-D0D59F36BC9D}">
      <dgm:prSet/>
      <dgm:spPr/>
      <dgm:t>
        <a:bodyPr/>
        <a:lstStyle/>
        <a:p>
          <a:endParaRPr lang="en-IN"/>
        </a:p>
      </dgm:t>
    </dgm:pt>
    <dgm:pt modelId="{C33D04E3-B35A-4E57-9626-F9E37C118047}">
      <dgm:prSet phldrT="[Text]"/>
      <dgm:spPr/>
      <dgm:t>
        <a:bodyPr/>
        <a:lstStyle/>
        <a:p>
          <a:r>
            <a:rPr lang="en-US" dirty="0"/>
            <a:t>Sales</a:t>
          </a:r>
          <a:endParaRPr lang="en-IN" dirty="0"/>
        </a:p>
      </dgm:t>
    </dgm:pt>
    <dgm:pt modelId="{289E18B5-2E5C-4390-938E-8CF6EC088005}" type="parTrans" cxnId="{20F1A44C-E975-469E-9CF6-67E34A489C79}">
      <dgm:prSet/>
      <dgm:spPr/>
      <dgm:t>
        <a:bodyPr/>
        <a:lstStyle/>
        <a:p>
          <a:endParaRPr lang="en-IN"/>
        </a:p>
      </dgm:t>
    </dgm:pt>
    <dgm:pt modelId="{846AC66A-6B6D-4AA5-9E28-EF258210F620}" type="sibTrans" cxnId="{20F1A44C-E975-469E-9CF6-67E34A489C79}">
      <dgm:prSet/>
      <dgm:spPr/>
      <dgm:t>
        <a:bodyPr/>
        <a:lstStyle/>
        <a:p>
          <a:endParaRPr lang="en-IN"/>
        </a:p>
      </dgm:t>
    </dgm:pt>
    <dgm:pt modelId="{46AEF24D-429F-486F-9E82-BFC94C95D835}">
      <dgm:prSet phldrT="[Text]"/>
      <dgm:spPr/>
      <dgm:t>
        <a:bodyPr/>
        <a:lstStyle/>
        <a:p>
          <a:r>
            <a:rPr lang="en-US" dirty="0"/>
            <a:t>Debtors</a:t>
          </a:r>
          <a:endParaRPr lang="en-IN" dirty="0"/>
        </a:p>
      </dgm:t>
    </dgm:pt>
    <dgm:pt modelId="{3D89A59C-D66F-4C60-A09C-04F36A116908}" type="parTrans" cxnId="{C757F1A5-A87B-43F5-B564-17E152A0AFC7}">
      <dgm:prSet/>
      <dgm:spPr/>
      <dgm:t>
        <a:bodyPr/>
        <a:lstStyle/>
        <a:p>
          <a:endParaRPr lang="en-IN"/>
        </a:p>
      </dgm:t>
    </dgm:pt>
    <dgm:pt modelId="{D819A149-C044-4D41-BCFD-7BBBEA07DF1B}" type="sibTrans" cxnId="{C757F1A5-A87B-43F5-B564-17E152A0AFC7}">
      <dgm:prSet/>
      <dgm:spPr/>
      <dgm:t>
        <a:bodyPr/>
        <a:lstStyle/>
        <a:p>
          <a:endParaRPr lang="en-IN"/>
        </a:p>
      </dgm:t>
    </dgm:pt>
    <dgm:pt modelId="{B6DD2974-325E-41BA-93B6-241EE580191E}">
      <dgm:prSet phldrT="[Text]"/>
      <dgm:spPr/>
      <dgm:t>
        <a:bodyPr/>
        <a:lstStyle/>
        <a:p>
          <a:r>
            <a:rPr lang="en-US" dirty="0"/>
            <a:t>WIP</a:t>
          </a:r>
          <a:endParaRPr lang="en-IN" dirty="0"/>
        </a:p>
      </dgm:t>
    </dgm:pt>
    <dgm:pt modelId="{54B74770-EB1F-4036-AFFF-1693727E360D}" type="parTrans" cxnId="{6C169B3F-52D5-4942-87E4-56D98F0AA50E}">
      <dgm:prSet/>
      <dgm:spPr/>
      <dgm:t>
        <a:bodyPr/>
        <a:lstStyle/>
        <a:p>
          <a:endParaRPr lang="en-IN"/>
        </a:p>
      </dgm:t>
    </dgm:pt>
    <dgm:pt modelId="{AAABE3D7-6AEE-41CE-BE13-6057B44D3BA7}" type="sibTrans" cxnId="{6C169B3F-52D5-4942-87E4-56D98F0AA50E}">
      <dgm:prSet/>
      <dgm:spPr/>
      <dgm:t>
        <a:bodyPr/>
        <a:lstStyle/>
        <a:p>
          <a:endParaRPr lang="en-IN"/>
        </a:p>
      </dgm:t>
    </dgm:pt>
    <dgm:pt modelId="{8DE70244-9BB4-4B31-945F-01014C15C05D}" type="pres">
      <dgm:prSet presAssocID="{A4AF43D0-5E9C-4B48-872D-FB61726338F2}" presName="cycle" presStyleCnt="0">
        <dgm:presLayoutVars>
          <dgm:dir/>
          <dgm:resizeHandles val="exact"/>
        </dgm:presLayoutVars>
      </dgm:prSet>
      <dgm:spPr/>
    </dgm:pt>
    <dgm:pt modelId="{7DED6491-900D-47D5-B89A-3E0CB64CDEBC}" type="pres">
      <dgm:prSet presAssocID="{24B6F8EB-764D-4157-A02F-5995C6A3E27A}" presName="node" presStyleLbl="node1" presStyleIdx="0" presStyleCnt="6">
        <dgm:presLayoutVars>
          <dgm:bulletEnabled val="1"/>
        </dgm:presLayoutVars>
      </dgm:prSet>
      <dgm:spPr/>
    </dgm:pt>
    <dgm:pt modelId="{DC9A3D28-D43C-4352-A290-B7BB3E431D47}" type="pres">
      <dgm:prSet presAssocID="{24B6F8EB-764D-4157-A02F-5995C6A3E27A}" presName="spNode" presStyleCnt="0"/>
      <dgm:spPr/>
    </dgm:pt>
    <dgm:pt modelId="{797D10C8-EA90-4B2F-BBC9-B9AD6F4C7315}" type="pres">
      <dgm:prSet presAssocID="{E2510268-4D8C-498E-8453-6B9FA02384BF}" presName="sibTrans" presStyleLbl="sibTrans1D1" presStyleIdx="0" presStyleCnt="6"/>
      <dgm:spPr/>
    </dgm:pt>
    <dgm:pt modelId="{F3001EB3-B330-44B9-9B45-C58C9EA42752}" type="pres">
      <dgm:prSet presAssocID="{0A753485-5324-4EFE-902A-40F68E9979C7}" presName="node" presStyleLbl="node1" presStyleIdx="1" presStyleCnt="6">
        <dgm:presLayoutVars>
          <dgm:bulletEnabled val="1"/>
        </dgm:presLayoutVars>
      </dgm:prSet>
      <dgm:spPr/>
    </dgm:pt>
    <dgm:pt modelId="{F347E35E-8CC9-425C-86AD-FE16C9AB46FD}" type="pres">
      <dgm:prSet presAssocID="{0A753485-5324-4EFE-902A-40F68E9979C7}" presName="spNode" presStyleCnt="0"/>
      <dgm:spPr/>
    </dgm:pt>
    <dgm:pt modelId="{E0EC7344-4D68-4088-BEE3-3DCBF5D0787B}" type="pres">
      <dgm:prSet presAssocID="{FC3356E4-9B59-4F20-B403-A44E0986438A}" presName="sibTrans" presStyleLbl="sibTrans1D1" presStyleIdx="1" presStyleCnt="6"/>
      <dgm:spPr/>
    </dgm:pt>
    <dgm:pt modelId="{88563E0B-6C6F-49AF-831A-4858D3CF96D0}" type="pres">
      <dgm:prSet presAssocID="{B6DD2974-325E-41BA-93B6-241EE580191E}" presName="node" presStyleLbl="node1" presStyleIdx="2" presStyleCnt="6">
        <dgm:presLayoutVars>
          <dgm:bulletEnabled val="1"/>
        </dgm:presLayoutVars>
      </dgm:prSet>
      <dgm:spPr/>
    </dgm:pt>
    <dgm:pt modelId="{77134B97-83E2-42DE-852D-99EA641B4437}" type="pres">
      <dgm:prSet presAssocID="{B6DD2974-325E-41BA-93B6-241EE580191E}" presName="spNode" presStyleCnt="0"/>
      <dgm:spPr/>
    </dgm:pt>
    <dgm:pt modelId="{181B722A-D4D9-4495-9B47-FE0A0BB69840}" type="pres">
      <dgm:prSet presAssocID="{AAABE3D7-6AEE-41CE-BE13-6057B44D3BA7}" presName="sibTrans" presStyleLbl="sibTrans1D1" presStyleIdx="2" presStyleCnt="6"/>
      <dgm:spPr/>
    </dgm:pt>
    <dgm:pt modelId="{589BE652-E314-48BC-8EB1-CA9FE67E7C7A}" type="pres">
      <dgm:prSet presAssocID="{5F1AD98D-E473-48BC-AC95-CED409553BDE}" presName="node" presStyleLbl="node1" presStyleIdx="3" presStyleCnt="6">
        <dgm:presLayoutVars>
          <dgm:bulletEnabled val="1"/>
        </dgm:presLayoutVars>
      </dgm:prSet>
      <dgm:spPr/>
    </dgm:pt>
    <dgm:pt modelId="{749F8843-027F-4EA7-A7D7-07D2B1EA87C1}" type="pres">
      <dgm:prSet presAssocID="{5F1AD98D-E473-48BC-AC95-CED409553BDE}" presName="spNode" presStyleCnt="0"/>
      <dgm:spPr/>
    </dgm:pt>
    <dgm:pt modelId="{8BB970D4-2A0A-45E3-BF48-E21C15F68687}" type="pres">
      <dgm:prSet presAssocID="{AA000BAC-A3BD-43FF-9264-11294264BD9B}" presName="sibTrans" presStyleLbl="sibTrans1D1" presStyleIdx="3" presStyleCnt="6"/>
      <dgm:spPr/>
    </dgm:pt>
    <dgm:pt modelId="{238F3D03-3621-4EAC-8317-08E329F3E464}" type="pres">
      <dgm:prSet presAssocID="{C33D04E3-B35A-4E57-9626-F9E37C118047}" presName="node" presStyleLbl="node1" presStyleIdx="4" presStyleCnt="6">
        <dgm:presLayoutVars>
          <dgm:bulletEnabled val="1"/>
        </dgm:presLayoutVars>
      </dgm:prSet>
      <dgm:spPr/>
    </dgm:pt>
    <dgm:pt modelId="{64254693-9D6D-4BAB-8B26-AFC6BCE06736}" type="pres">
      <dgm:prSet presAssocID="{C33D04E3-B35A-4E57-9626-F9E37C118047}" presName="spNode" presStyleCnt="0"/>
      <dgm:spPr/>
    </dgm:pt>
    <dgm:pt modelId="{5DF0581A-32BE-4A09-A72B-63B44FF210A7}" type="pres">
      <dgm:prSet presAssocID="{846AC66A-6B6D-4AA5-9E28-EF258210F620}" presName="sibTrans" presStyleLbl="sibTrans1D1" presStyleIdx="4" presStyleCnt="6"/>
      <dgm:spPr/>
    </dgm:pt>
    <dgm:pt modelId="{894FF9AE-B972-4C47-84BF-77730CF65720}" type="pres">
      <dgm:prSet presAssocID="{46AEF24D-429F-486F-9E82-BFC94C95D835}" presName="node" presStyleLbl="node1" presStyleIdx="5" presStyleCnt="6">
        <dgm:presLayoutVars>
          <dgm:bulletEnabled val="1"/>
        </dgm:presLayoutVars>
      </dgm:prSet>
      <dgm:spPr/>
    </dgm:pt>
    <dgm:pt modelId="{7EE7020E-49CD-4FED-A084-92D0E02F610B}" type="pres">
      <dgm:prSet presAssocID="{46AEF24D-429F-486F-9E82-BFC94C95D835}" presName="spNode" presStyleCnt="0"/>
      <dgm:spPr/>
    </dgm:pt>
    <dgm:pt modelId="{8AE7BECC-894D-4B75-A3C5-2303316E20B7}" type="pres">
      <dgm:prSet presAssocID="{D819A149-C044-4D41-BCFD-7BBBEA07DF1B}" presName="sibTrans" presStyleLbl="sibTrans1D1" presStyleIdx="5" presStyleCnt="6"/>
      <dgm:spPr/>
    </dgm:pt>
  </dgm:ptLst>
  <dgm:cxnLst>
    <dgm:cxn modelId="{0D4E5A29-B039-47C3-80A3-66DB2CA9F18A}" type="presOf" srcId="{846AC66A-6B6D-4AA5-9E28-EF258210F620}" destId="{5DF0581A-32BE-4A09-A72B-63B44FF210A7}" srcOrd="0" destOrd="0" presId="urn:microsoft.com/office/officeart/2005/8/layout/cycle6"/>
    <dgm:cxn modelId="{6C169B3F-52D5-4942-87E4-56D98F0AA50E}" srcId="{A4AF43D0-5E9C-4B48-872D-FB61726338F2}" destId="{B6DD2974-325E-41BA-93B6-241EE580191E}" srcOrd="2" destOrd="0" parTransId="{54B74770-EB1F-4036-AFFF-1693727E360D}" sibTransId="{AAABE3D7-6AEE-41CE-BE13-6057B44D3BA7}"/>
    <dgm:cxn modelId="{E3553540-9807-4F94-964F-B01B7285849E}" srcId="{A4AF43D0-5E9C-4B48-872D-FB61726338F2}" destId="{0A753485-5324-4EFE-902A-40F68E9979C7}" srcOrd="1" destOrd="0" parTransId="{74FE202B-72A2-4616-9476-E7DA4379671E}" sibTransId="{FC3356E4-9B59-4F20-B403-A44E0986438A}"/>
    <dgm:cxn modelId="{C6429C61-50B4-490D-9795-43035ADC73F4}" type="presOf" srcId="{AA000BAC-A3BD-43FF-9264-11294264BD9B}" destId="{8BB970D4-2A0A-45E3-BF48-E21C15F68687}" srcOrd="0" destOrd="0" presId="urn:microsoft.com/office/officeart/2005/8/layout/cycle6"/>
    <dgm:cxn modelId="{4BD4056B-816E-4B1A-A829-A5380EC3D893}" type="presOf" srcId="{D819A149-C044-4D41-BCFD-7BBBEA07DF1B}" destId="{8AE7BECC-894D-4B75-A3C5-2303316E20B7}" srcOrd="0" destOrd="0" presId="urn:microsoft.com/office/officeart/2005/8/layout/cycle6"/>
    <dgm:cxn modelId="{20F1A44C-E975-469E-9CF6-67E34A489C79}" srcId="{A4AF43D0-5E9C-4B48-872D-FB61726338F2}" destId="{C33D04E3-B35A-4E57-9626-F9E37C118047}" srcOrd="4" destOrd="0" parTransId="{289E18B5-2E5C-4390-938E-8CF6EC088005}" sibTransId="{846AC66A-6B6D-4AA5-9E28-EF258210F620}"/>
    <dgm:cxn modelId="{E3D5246D-FD39-4D84-AB59-F29F08CBD8DD}" srcId="{A4AF43D0-5E9C-4B48-872D-FB61726338F2}" destId="{24B6F8EB-764D-4157-A02F-5995C6A3E27A}" srcOrd="0" destOrd="0" parTransId="{217BE600-9A9D-44F4-B16F-31528D63291D}" sibTransId="{E2510268-4D8C-498E-8453-6B9FA02384BF}"/>
    <dgm:cxn modelId="{1BD24575-DBEE-442D-8146-30C8F8C33EE0}" type="presOf" srcId="{46AEF24D-429F-486F-9E82-BFC94C95D835}" destId="{894FF9AE-B972-4C47-84BF-77730CF65720}" srcOrd="0" destOrd="0" presId="urn:microsoft.com/office/officeart/2005/8/layout/cycle6"/>
    <dgm:cxn modelId="{DAD47455-38BA-44B4-8A9F-BF26F8B7B27C}" type="presOf" srcId="{A4AF43D0-5E9C-4B48-872D-FB61726338F2}" destId="{8DE70244-9BB4-4B31-945F-01014C15C05D}" srcOrd="0" destOrd="0" presId="urn:microsoft.com/office/officeart/2005/8/layout/cycle6"/>
    <dgm:cxn modelId="{EF321C79-85B8-463C-866D-6A7FA9945F90}" type="presOf" srcId="{B6DD2974-325E-41BA-93B6-241EE580191E}" destId="{88563E0B-6C6F-49AF-831A-4858D3CF96D0}" srcOrd="0" destOrd="0" presId="urn:microsoft.com/office/officeart/2005/8/layout/cycle6"/>
    <dgm:cxn modelId="{C757F1A5-A87B-43F5-B564-17E152A0AFC7}" srcId="{A4AF43D0-5E9C-4B48-872D-FB61726338F2}" destId="{46AEF24D-429F-486F-9E82-BFC94C95D835}" srcOrd="5" destOrd="0" parTransId="{3D89A59C-D66F-4C60-A09C-04F36A116908}" sibTransId="{D819A149-C044-4D41-BCFD-7BBBEA07DF1B}"/>
    <dgm:cxn modelId="{03A13EA8-378B-4403-BDBB-22A47F87D0F4}" type="presOf" srcId="{5F1AD98D-E473-48BC-AC95-CED409553BDE}" destId="{589BE652-E314-48BC-8EB1-CA9FE67E7C7A}" srcOrd="0" destOrd="0" presId="urn:microsoft.com/office/officeart/2005/8/layout/cycle6"/>
    <dgm:cxn modelId="{31B26DB3-859E-4C44-9761-A42F14101928}" type="presOf" srcId="{24B6F8EB-764D-4157-A02F-5995C6A3E27A}" destId="{7DED6491-900D-47D5-B89A-3E0CB64CDEBC}" srcOrd="0" destOrd="0" presId="urn:microsoft.com/office/officeart/2005/8/layout/cycle6"/>
    <dgm:cxn modelId="{25AF80C3-2530-4171-9737-D0D59F36BC9D}" srcId="{A4AF43D0-5E9C-4B48-872D-FB61726338F2}" destId="{5F1AD98D-E473-48BC-AC95-CED409553BDE}" srcOrd="3" destOrd="0" parTransId="{86257FE7-D71C-473E-AA21-C86A1FD2C417}" sibTransId="{AA000BAC-A3BD-43FF-9264-11294264BD9B}"/>
    <dgm:cxn modelId="{C42F58D8-50DD-496F-9610-31D1C8440377}" type="presOf" srcId="{0A753485-5324-4EFE-902A-40F68E9979C7}" destId="{F3001EB3-B330-44B9-9B45-C58C9EA42752}" srcOrd="0" destOrd="0" presId="urn:microsoft.com/office/officeart/2005/8/layout/cycle6"/>
    <dgm:cxn modelId="{CC6F41DA-EAC5-48F1-830C-C9FFA4D302F2}" type="presOf" srcId="{AAABE3D7-6AEE-41CE-BE13-6057B44D3BA7}" destId="{181B722A-D4D9-4495-9B47-FE0A0BB69840}" srcOrd="0" destOrd="0" presId="urn:microsoft.com/office/officeart/2005/8/layout/cycle6"/>
    <dgm:cxn modelId="{A9B57CDA-4A09-412A-A1AF-FD4DC090C2B4}" type="presOf" srcId="{C33D04E3-B35A-4E57-9626-F9E37C118047}" destId="{238F3D03-3621-4EAC-8317-08E329F3E464}" srcOrd="0" destOrd="0" presId="urn:microsoft.com/office/officeart/2005/8/layout/cycle6"/>
    <dgm:cxn modelId="{0B1E11E2-4819-428C-B5D8-B98DBEA12801}" type="presOf" srcId="{FC3356E4-9B59-4F20-B403-A44E0986438A}" destId="{E0EC7344-4D68-4088-BEE3-3DCBF5D0787B}" srcOrd="0" destOrd="0" presId="urn:microsoft.com/office/officeart/2005/8/layout/cycle6"/>
    <dgm:cxn modelId="{88C02FEF-A22B-4F0B-B391-45EB7568E49F}" type="presOf" srcId="{E2510268-4D8C-498E-8453-6B9FA02384BF}" destId="{797D10C8-EA90-4B2F-BBC9-B9AD6F4C7315}" srcOrd="0" destOrd="0" presId="urn:microsoft.com/office/officeart/2005/8/layout/cycle6"/>
    <dgm:cxn modelId="{B261B0A3-5368-4824-8A7F-19B5ABB091EE}" type="presParOf" srcId="{8DE70244-9BB4-4B31-945F-01014C15C05D}" destId="{7DED6491-900D-47D5-B89A-3E0CB64CDEBC}" srcOrd="0" destOrd="0" presId="urn:microsoft.com/office/officeart/2005/8/layout/cycle6"/>
    <dgm:cxn modelId="{0260795C-8C88-447E-9FA5-336EF2FEFD11}" type="presParOf" srcId="{8DE70244-9BB4-4B31-945F-01014C15C05D}" destId="{DC9A3D28-D43C-4352-A290-B7BB3E431D47}" srcOrd="1" destOrd="0" presId="urn:microsoft.com/office/officeart/2005/8/layout/cycle6"/>
    <dgm:cxn modelId="{1B4D8377-D39C-4318-B00A-F996F631AF77}" type="presParOf" srcId="{8DE70244-9BB4-4B31-945F-01014C15C05D}" destId="{797D10C8-EA90-4B2F-BBC9-B9AD6F4C7315}" srcOrd="2" destOrd="0" presId="urn:microsoft.com/office/officeart/2005/8/layout/cycle6"/>
    <dgm:cxn modelId="{7E84A1F8-A64F-4563-A06D-215B792C08E0}" type="presParOf" srcId="{8DE70244-9BB4-4B31-945F-01014C15C05D}" destId="{F3001EB3-B330-44B9-9B45-C58C9EA42752}" srcOrd="3" destOrd="0" presId="urn:microsoft.com/office/officeart/2005/8/layout/cycle6"/>
    <dgm:cxn modelId="{116434C8-B1BC-4353-92B0-D5684FE5998F}" type="presParOf" srcId="{8DE70244-9BB4-4B31-945F-01014C15C05D}" destId="{F347E35E-8CC9-425C-86AD-FE16C9AB46FD}" srcOrd="4" destOrd="0" presId="urn:microsoft.com/office/officeart/2005/8/layout/cycle6"/>
    <dgm:cxn modelId="{5AE76106-C1B0-4D3F-8C17-897C238475EA}" type="presParOf" srcId="{8DE70244-9BB4-4B31-945F-01014C15C05D}" destId="{E0EC7344-4D68-4088-BEE3-3DCBF5D0787B}" srcOrd="5" destOrd="0" presId="urn:microsoft.com/office/officeart/2005/8/layout/cycle6"/>
    <dgm:cxn modelId="{A3BD8F99-EB43-4613-AEA1-80F0D58D74DB}" type="presParOf" srcId="{8DE70244-9BB4-4B31-945F-01014C15C05D}" destId="{88563E0B-6C6F-49AF-831A-4858D3CF96D0}" srcOrd="6" destOrd="0" presId="urn:microsoft.com/office/officeart/2005/8/layout/cycle6"/>
    <dgm:cxn modelId="{E8F48BE6-D087-4E67-8E71-E6A0C483B907}" type="presParOf" srcId="{8DE70244-9BB4-4B31-945F-01014C15C05D}" destId="{77134B97-83E2-42DE-852D-99EA641B4437}" srcOrd="7" destOrd="0" presId="urn:microsoft.com/office/officeart/2005/8/layout/cycle6"/>
    <dgm:cxn modelId="{C75E1147-FDAB-489D-A59D-5DE5DFD6117D}" type="presParOf" srcId="{8DE70244-9BB4-4B31-945F-01014C15C05D}" destId="{181B722A-D4D9-4495-9B47-FE0A0BB69840}" srcOrd="8" destOrd="0" presId="urn:microsoft.com/office/officeart/2005/8/layout/cycle6"/>
    <dgm:cxn modelId="{E980FEC7-BAA9-43A5-969E-6224D2F2351F}" type="presParOf" srcId="{8DE70244-9BB4-4B31-945F-01014C15C05D}" destId="{589BE652-E314-48BC-8EB1-CA9FE67E7C7A}" srcOrd="9" destOrd="0" presId="urn:microsoft.com/office/officeart/2005/8/layout/cycle6"/>
    <dgm:cxn modelId="{AA206B9E-B127-4DB6-8945-669210895616}" type="presParOf" srcId="{8DE70244-9BB4-4B31-945F-01014C15C05D}" destId="{749F8843-027F-4EA7-A7D7-07D2B1EA87C1}" srcOrd="10" destOrd="0" presId="urn:microsoft.com/office/officeart/2005/8/layout/cycle6"/>
    <dgm:cxn modelId="{EBCD5941-B46D-4600-87F5-3FEFBB233E1D}" type="presParOf" srcId="{8DE70244-9BB4-4B31-945F-01014C15C05D}" destId="{8BB970D4-2A0A-45E3-BF48-E21C15F68687}" srcOrd="11" destOrd="0" presId="urn:microsoft.com/office/officeart/2005/8/layout/cycle6"/>
    <dgm:cxn modelId="{108B2D1A-CC23-43FE-AEA7-F44BB5FB6F7A}" type="presParOf" srcId="{8DE70244-9BB4-4B31-945F-01014C15C05D}" destId="{238F3D03-3621-4EAC-8317-08E329F3E464}" srcOrd="12" destOrd="0" presId="urn:microsoft.com/office/officeart/2005/8/layout/cycle6"/>
    <dgm:cxn modelId="{E6BBCBD4-3889-4E06-9001-63261FAFA5C0}" type="presParOf" srcId="{8DE70244-9BB4-4B31-945F-01014C15C05D}" destId="{64254693-9D6D-4BAB-8B26-AFC6BCE06736}" srcOrd="13" destOrd="0" presId="urn:microsoft.com/office/officeart/2005/8/layout/cycle6"/>
    <dgm:cxn modelId="{891C06E3-85E3-438F-ACB2-D8B696A35179}" type="presParOf" srcId="{8DE70244-9BB4-4B31-945F-01014C15C05D}" destId="{5DF0581A-32BE-4A09-A72B-63B44FF210A7}" srcOrd="14" destOrd="0" presId="urn:microsoft.com/office/officeart/2005/8/layout/cycle6"/>
    <dgm:cxn modelId="{800111A0-D156-4794-8F9D-A972E2F0B3F2}" type="presParOf" srcId="{8DE70244-9BB4-4B31-945F-01014C15C05D}" destId="{894FF9AE-B972-4C47-84BF-77730CF65720}" srcOrd="15" destOrd="0" presId="urn:microsoft.com/office/officeart/2005/8/layout/cycle6"/>
    <dgm:cxn modelId="{0597E605-6807-4651-A20D-111304339FAC}" type="presParOf" srcId="{8DE70244-9BB4-4B31-945F-01014C15C05D}" destId="{7EE7020E-49CD-4FED-A084-92D0E02F610B}" srcOrd="16" destOrd="0" presId="urn:microsoft.com/office/officeart/2005/8/layout/cycle6"/>
    <dgm:cxn modelId="{D49CF9D7-21FA-4DCE-8C93-ACED061951B5}" type="presParOf" srcId="{8DE70244-9BB4-4B31-945F-01014C15C05D}" destId="{8AE7BECC-894D-4B75-A3C5-2303316E20B7}" srcOrd="17" destOrd="0" presId="urn:microsoft.com/office/officeart/2005/8/layout/cycle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260EC10-24F8-4F15-91C7-C908BBB78817}" type="doc">
      <dgm:prSet loTypeId="urn:microsoft.com/office/officeart/2005/8/layout/pyramid3" loCatId="pyramid" qsTypeId="urn:microsoft.com/office/officeart/2005/8/quickstyle/simple1" qsCatId="simple" csTypeId="urn:microsoft.com/office/officeart/2005/8/colors/accent1_2" csCatId="accent1" phldr="1"/>
      <dgm:spPr/>
    </dgm:pt>
    <dgm:pt modelId="{05783686-643E-4AF2-A52A-7085F1ABA754}">
      <dgm:prSet phldrT="[Text]" phldr="0"/>
      <dgm:spPr/>
      <dgm:t>
        <a:bodyPr/>
        <a:lstStyle/>
        <a:p>
          <a:pPr rtl="0"/>
          <a:r>
            <a:rPr lang="en-US">
              <a:latin typeface="Calibri Light" panose="020F0302020204030204"/>
            </a:rPr>
            <a:t>Public Issue</a:t>
          </a:r>
          <a:endParaRPr lang="en-US"/>
        </a:p>
      </dgm:t>
    </dgm:pt>
    <dgm:pt modelId="{7D8C333F-98CD-4E0E-B73E-0AE610B0B613}" type="parTrans" cxnId="{BB9D2F52-8720-4EBF-AF41-3DBCDA32A87A}">
      <dgm:prSet/>
      <dgm:spPr/>
    </dgm:pt>
    <dgm:pt modelId="{AE5ACA73-0930-4E34-BCD6-19B1579347CE}" type="sibTrans" cxnId="{BB9D2F52-8720-4EBF-AF41-3DBCDA32A87A}">
      <dgm:prSet/>
      <dgm:spPr/>
    </dgm:pt>
    <dgm:pt modelId="{45426F85-259B-446D-9C31-47390896AD20}">
      <dgm:prSet phldrT="[Text]" phldr="0"/>
      <dgm:spPr/>
      <dgm:t>
        <a:bodyPr/>
        <a:lstStyle/>
        <a:p>
          <a:pPr rtl="0"/>
          <a:r>
            <a:rPr lang="en-US" dirty="0">
              <a:latin typeface="Calibri Light" panose="020F0302020204030204"/>
            </a:rPr>
            <a:t>Private Equity Funds</a:t>
          </a:r>
          <a:endParaRPr lang="en-US" dirty="0"/>
        </a:p>
      </dgm:t>
    </dgm:pt>
    <dgm:pt modelId="{ABF68C79-CBD5-4237-9B41-0A873E070830}" type="parTrans" cxnId="{84D099ED-44C0-4BF1-8161-0281343F2C24}">
      <dgm:prSet/>
      <dgm:spPr/>
    </dgm:pt>
    <dgm:pt modelId="{FB08C9DE-C8C8-4F95-B180-8D0A9E4271C1}" type="sibTrans" cxnId="{84D099ED-44C0-4BF1-8161-0281343F2C24}">
      <dgm:prSet/>
      <dgm:spPr/>
    </dgm:pt>
    <dgm:pt modelId="{11B5CFCE-A7C7-4929-8383-F11772A15C0B}">
      <dgm:prSet phldrT="[Text]" phldr="0"/>
      <dgm:spPr/>
      <dgm:t>
        <a:bodyPr/>
        <a:lstStyle/>
        <a:p>
          <a:pPr rtl="0"/>
          <a:r>
            <a:rPr lang="en-US" dirty="0">
              <a:latin typeface="Calibri Light" panose="020F0302020204030204"/>
            </a:rPr>
            <a:t>Banks / Financial Institutions</a:t>
          </a:r>
          <a:endParaRPr lang="en-US" dirty="0"/>
        </a:p>
      </dgm:t>
    </dgm:pt>
    <dgm:pt modelId="{37FA1F00-4EB4-4B74-860D-2A929903F2AD}" type="parTrans" cxnId="{4BF83802-1D4B-41F9-B2DC-FAC689B6B4AD}">
      <dgm:prSet/>
      <dgm:spPr/>
    </dgm:pt>
    <dgm:pt modelId="{DD422E56-4E45-4EDF-BB0F-07FB735C786B}" type="sibTrans" cxnId="{4BF83802-1D4B-41F9-B2DC-FAC689B6B4AD}">
      <dgm:prSet/>
      <dgm:spPr/>
    </dgm:pt>
    <dgm:pt modelId="{EFF1CFD9-4376-4375-95D0-D76B5C6B520A}">
      <dgm:prSet phldr="0"/>
      <dgm:spPr/>
      <dgm:t>
        <a:bodyPr/>
        <a:lstStyle/>
        <a:p>
          <a:pPr rtl="0"/>
          <a:r>
            <a:rPr lang="en-US">
              <a:latin typeface="Calibri Light" panose="020F0302020204030204"/>
            </a:rPr>
            <a:t>Venture Capital</a:t>
          </a:r>
        </a:p>
      </dgm:t>
    </dgm:pt>
    <dgm:pt modelId="{A91E3953-94A0-4617-A4BB-D7682CAC6E4A}" type="parTrans" cxnId="{6EB44F30-2F81-41A0-A4E2-304C299B4558}">
      <dgm:prSet/>
      <dgm:spPr/>
    </dgm:pt>
    <dgm:pt modelId="{67883937-B578-48D9-8D0E-47575D6C1AEF}" type="sibTrans" cxnId="{6EB44F30-2F81-41A0-A4E2-304C299B4558}">
      <dgm:prSet/>
      <dgm:spPr/>
    </dgm:pt>
    <dgm:pt modelId="{D7955DB4-9F8C-45A2-AAD0-D0A005C0140B}">
      <dgm:prSet phldr="0"/>
      <dgm:spPr/>
      <dgm:t>
        <a:bodyPr/>
        <a:lstStyle/>
        <a:p>
          <a:pPr rtl="0"/>
          <a:r>
            <a:rPr lang="en-US">
              <a:latin typeface="Calibri Light" panose="020F0302020204030204"/>
            </a:rPr>
            <a:t>Angel Investor</a:t>
          </a:r>
        </a:p>
      </dgm:t>
    </dgm:pt>
    <dgm:pt modelId="{6E1A24A4-B008-40B3-BFBF-894D66E3E675}" type="parTrans" cxnId="{A0F2DF78-178F-4CEC-9912-0406775112E6}">
      <dgm:prSet/>
      <dgm:spPr/>
    </dgm:pt>
    <dgm:pt modelId="{E33CC4C0-8CAF-4BB8-B3C7-777C96F6FC31}" type="sibTrans" cxnId="{A0F2DF78-178F-4CEC-9912-0406775112E6}">
      <dgm:prSet/>
      <dgm:spPr/>
    </dgm:pt>
    <dgm:pt modelId="{A37C114A-BD32-4990-ABC9-9A8BE5D4AD74}">
      <dgm:prSet phldr="0"/>
      <dgm:spPr/>
      <dgm:t>
        <a:bodyPr/>
        <a:lstStyle/>
        <a:p>
          <a:r>
            <a:rPr lang="en-US" dirty="0">
              <a:latin typeface="Calibri Light" panose="020F0302020204030204"/>
            </a:rPr>
            <a:t>Incubators</a:t>
          </a:r>
        </a:p>
      </dgm:t>
    </dgm:pt>
    <dgm:pt modelId="{9CBAF1AC-CB40-4BDF-BF06-207190F3F73F}" type="parTrans" cxnId="{7E6363C3-36EB-415D-9217-F1852B81976F}">
      <dgm:prSet/>
      <dgm:spPr/>
    </dgm:pt>
    <dgm:pt modelId="{853EA127-1603-488A-8317-25CEF948BDC2}" type="sibTrans" cxnId="{7E6363C3-36EB-415D-9217-F1852B81976F}">
      <dgm:prSet/>
      <dgm:spPr/>
    </dgm:pt>
    <dgm:pt modelId="{91DA975F-DE0A-47C3-82EF-39B6EB12F7B9}">
      <dgm:prSet phldr="0"/>
      <dgm:spPr/>
      <dgm:t>
        <a:bodyPr/>
        <a:lstStyle/>
        <a:p>
          <a:pPr rtl="0"/>
          <a:r>
            <a:rPr lang="en-US" dirty="0">
              <a:latin typeface="Calibri Light" panose="020F0302020204030204"/>
            </a:rPr>
            <a:t>  Seed Funding   </a:t>
          </a:r>
        </a:p>
      </dgm:t>
    </dgm:pt>
    <dgm:pt modelId="{717270F0-B430-412C-98B7-600F3EC1E27D}" type="parTrans" cxnId="{08527054-484E-4F38-AC7E-AD3287F3EFE2}">
      <dgm:prSet/>
      <dgm:spPr/>
    </dgm:pt>
    <dgm:pt modelId="{A348D6B0-E348-485D-958A-4F259D2B83AF}" type="sibTrans" cxnId="{08527054-484E-4F38-AC7E-AD3287F3EFE2}">
      <dgm:prSet/>
      <dgm:spPr/>
    </dgm:pt>
    <dgm:pt modelId="{58B103CA-77E2-4995-8101-BF1FDB4469EA}" type="pres">
      <dgm:prSet presAssocID="{9260EC10-24F8-4F15-91C7-C908BBB78817}" presName="Name0" presStyleCnt="0">
        <dgm:presLayoutVars>
          <dgm:dir/>
          <dgm:animLvl val="lvl"/>
          <dgm:resizeHandles val="exact"/>
        </dgm:presLayoutVars>
      </dgm:prSet>
      <dgm:spPr/>
    </dgm:pt>
    <dgm:pt modelId="{5EAB8ECA-9C80-47DB-827E-A971E63247DB}" type="pres">
      <dgm:prSet presAssocID="{05783686-643E-4AF2-A52A-7085F1ABA754}" presName="Name8" presStyleCnt="0"/>
      <dgm:spPr/>
    </dgm:pt>
    <dgm:pt modelId="{2B875808-22D3-4437-A072-4627CF983F1A}" type="pres">
      <dgm:prSet presAssocID="{05783686-643E-4AF2-A52A-7085F1ABA754}" presName="level" presStyleLbl="node1" presStyleIdx="0" presStyleCnt="7">
        <dgm:presLayoutVars>
          <dgm:chMax val="1"/>
          <dgm:bulletEnabled val="1"/>
        </dgm:presLayoutVars>
      </dgm:prSet>
      <dgm:spPr/>
    </dgm:pt>
    <dgm:pt modelId="{FA3D1E26-3480-4B7A-B102-B2F1E62B85C3}" type="pres">
      <dgm:prSet presAssocID="{05783686-643E-4AF2-A52A-7085F1ABA754}" presName="levelTx" presStyleLbl="revTx" presStyleIdx="0" presStyleCnt="0">
        <dgm:presLayoutVars>
          <dgm:chMax val="1"/>
          <dgm:bulletEnabled val="1"/>
        </dgm:presLayoutVars>
      </dgm:prSet>
      <dgm:spPr/>
    </dgm:pt>
    <dgm:pt modelId="{B1FB28C1-5BBE-41CA-ABEF-898D3513B521}" type="pres">
      <dgm:prSet presAssocID="{45426F85-259B-446D-9C31-47390896AD20}" presName="Name8" presStyleCnt="0"/>
      <dgm:spPr/>
    </dgm:pt>
    <dgm:pt modelId="{78821BEF-1D43-4980-ABD9-4107889E8066}" type="pres">
      <dgm:prSet presAssocID="{45426F85-259B-446D-9C31-47390896AD20}" presName="level" presStyleLbl="node1" presStyleIdx="1" presStyleCnt="7">
        <dgm:presLayoutVars>
          <dgm:chMax val="1"/>
          <dgm:bulletEnabled val="1"/>
        </dgm:presLayoutVars>
      </dgm:prSet>
      <dgm:spPr/>
    </dgm:pt>
    <dgm:pt modelId="{B2402534-CDEE-4844-8C52-7D6B5C7A4C7B}" type="pres">
      <dgm:prSet presAssocID="{45426F85-259B-446D-9C31-47390896AD20}" presName="levelTx" presStyleLbl="revTx" presStyleIdx="0" presStyleCnt="0">
        <dgm:presLayoutVars>
          <dgm:chMax val="1"/>
          <dgm:bulletEnabled val="1"/>
        </dgm:presLayoutVars>
      </dgm:prSet>
      <dgm:spPr/>
    </dgm:pt>
    <dgm:pt modelId="{1DB84D17-FC06-410E-AB16-6A20FD7AB125}" type="pres">
      <dgm:prSet presAssocID="{11B5CFCE-A7C7-4929-8383-F11772A15C0B}" presName="Name8" presStyleCnt="0"/>
      <dgm:spPr/>
    </dgm:pt>
    <dgm:pt modelId="{89073831-146B-490B-9A5C-6A51C1887597}" type="pres">
      <dgm:prSet presAssocID="{11B5CFCE-A7C7-4929-8383-F11772A15C0B}" presName="level" presStyleLbl="node1" presStyleIdx="2" presStyleCnt="7">
        <dgm:presLayoutVars>
          <dgm:chMax val="1"/>
          <dgm:bulletEnabled val="1"/>
        </dgm:presLayoutVars>
      </dgm:prSet>
      <dgm:spPr/>
    </dgm:pt>
    <dgm:pt modelId="{A5FEF851-01E7-4546-993F-C18C25391575}" type="pres">
      <dgm:prSet presAssocID="{11B5CFCE-A7C7-4929-8383-F11772A15C0B}" presName="levelTx" presStyleLbl="revTx" presStyleIdx="0" presStyleCnt="0">
        <dgm:presLayoutVars>
          <dgm:chMax val="1"/>
          <dgm:bulletEnabled val="1"/>
        </dgm:presLayoutVars>
      </dgm:prSet>
      <dgm:spPr/>
    </dgm:pt>
    <dgm:pt modelId="{0FC84F03-61A5-4088-B2D4-904A0346E8A9}" type="pres">
      <dgm:prSet presAssocID="{EFF1CFD9-4376-4375-95D0-D76B5C6B520A}" presName="Name8" presStyleCnt="0"/>
      <dgm:spPr/>
    </dgm:pt>
    <dgm:pt modelId="{325B9499-B256-4A2A-ACD5-74E5A24ED2E9}" type="pres">
      <dgm:prSet presAssocID="{EFF1CFD9-4376-4375-95D0-D76B5C6B520A}" presName="level" presStyleLbl="node1" presStyleIdx="3" presStyleCnt="7">
        <dgm:presLayoutVars>
          <dgm:chMax val="1"/>
          <dgm:bulletEnabled val="1"/>
        </dgm:presLayoutVars>
      </dgm:prSet>
      <dgm:spPr/>
    </dgm:pt>
    <dgm:pt modelId="{6C4337E6-1453-4543-A506-976C0A7655AE}" type="pres">
      <dgm:prSet presAssocID="{EFF1CFD9-4376-4375-95D0-D76B5C6B520A}" presName="levelTx" presStyleLbl="revTx" presStyleIdx="0" presStyleCnt="0">
        <dgm:presLayoutVars>
          <dgm:chMax val="1"/>
          <dgm:bulletEnabled val="1"/>
        </dgm:presLayoutVars>
      </dgm:prSet>
      <dgm:spPr/>
    </dgm:pt>
    <dgm:pt modelId="{0A676EF5-4B6B-4D39-935C-599F89F6E016}" type="pres">
      <dgm:prSet presAssocID="{D7955DB4-9F8C-45A2-AAD0-D0A005C0140B}" presName="Name8" presStyleCnt="0"/>
      <dgm:spPr/>
    </dgm:pt>
    <dgm:pt modelId="{A7DEA685-F9C3-43F3-B61B-566464D410D6}" type="pres">
      <dgm:prSet presAssocID="{D7955DB4-9F8C-45A2-AAD0-D0A005C0140B}" presName="level" presStyleLbl="node1" presStyleIdx="4" presStyleCnt="7">
        <dgm:presLayoutVars>
          <dgm:chMax val="1"/>
          <dgm:bulletEnabled val="1"/>
        </dgm:presLayoutVars>
      </dgm:prSet>
      <dgm:spPr/>
    </dgm:pt>
    <dgm:pt modelId="{BDB56151-D519-42CD-98E5-E01CC17A7BAF}" type="pres">
      <dgm:prSet presAssocID="{D7955DB4-9F8C-45A2-AAD0-D0A005C0140B}" presName="levelTx" presStyleLbl="revTx" presStyleIdx="0" presStyleCnt="0">
        <dgm:presLayoutVars>
          <dgm:chMax val="1"/>
          <dgm:bulletEnabled val="1"/>
        </dgm:presLayoutVars>
      </dgm:prSet>
      <dgm:spPr/>
    </dgm:pt>
    <dgm:pt modelId="{6231C504-D27B-4F67-8478-142C18764CF3}" type="pres">
      <dgm:prSet presAssocID="{A37C114A-BD32-4990-ABC9-9A8BE5D4AD74}" presName="Name8" presStyleCnt="0"/>
      <dgm:spPr/>
    </dgm:pt>
    <dgm:pt modelId="{7127781F-A70E-426E-8702-40D03E953E99}" type="pres">
      <dgm:prSet presAssocID="{A37C114A-BD32-4990-ABC9-9A8BE5D4AD74}" presName="level" presStyleLbl="node1" presStyleIdx="5" presStyleCnt="7">
        <dgm:presLayoutVars>
          <dgm:chMax val="1"/>
          <dgm:bulletEnabled val="1"/>
        </dgm:presLayoutVars>
      </dgm:prSet>
      <dgm:spPr/>
    </dgm:pt>
    <dgm:pt modelId="{38C97707-C047-414B-A6AA-EAF393D49073}" type="pres">
      <dgm:prSet presAssocID="{A37C114A-BD32-4990-ABC9-9A8BE5D4AD74}" presName="levelTx" presStyleLbl="revTx" presStyleIdx="0" presStyleCnt="0">
        <dgm:presLayoutVars>
          <dgm:chMax val="1"/>
          <dgm:bulletEnabled val="1"/>
        </dgm:presLayoutVars>
      </dgm:prSet>
      <dgm:spPr/>
    </dgm:pt>
    <dgm:pt modelId="{B8F1A562-27C7-49E6-AD7A-A360BB25BCD1}" type="pres">
      <dgm:prSet presAssocID="{91DA975F-DE0A-47C3-82EF-39B6EB12F7B9}" presName="Name8" presStyleCnt="0"/>
      <dgm:spPr/>
    </dgm:pt>
    <dgm:pt modelId="{E3EB0BEB-B27F-4565-9D50-AF03F16ABA1F}" type="pres">
      <dgm:prSet presAssocID="{91DA975F-DE0A-47C3-82EF-39B6EB12F7B9}" presName="level" presStyleLbl="node1" presStyleIdx="6" presStyleCnt="7">
        <dgm:presLayoutVars>
          <dgm:chMax val="1"/>
          <dgm:bulletEnabled val="1"/>
        </dgm:presLayoutVars>
      </dgm:prSet>
      <dgm:spPr/>
    </dgm:pt>
    <dgm:pt modelId="{676D0EA8-DB8A-413D-A198-AC12EF8EB122}" type="pres">
      <dgm:prSet presAssocID="{91DA975F-DE0A-47C3-82EF-39B6EB12F7B9}" presName="levelTx" presStyleLbl="revTx" presStyleIdx="0" presStyleCnt="0">
        <dgm:presLayoutVars>
          <dgm:chMax val="1"/>
          <dgm:bulletEnabled val="1"/>
        </dgm:presLayoutVars>
      </dgm:prSet>
      <dgm:spPr/>
    </dgm:pt>
  </dgm:ptLst>
  <dgm:cxnLst>
    <dgm:cxn modelId="{4BF83802-1D4B-41F9-B2DC-FAC689B6B4AD}" srcId="{9260EC10-24F8-4F15-91C7-C908BBB78817}" destId="{11B5CFCE-A7C7-4929-8383-F11772A15C0B}" srcOrd="2" destOrd="0" parTransId="{37FA1F00-4EB4-4B74-860D-2A929903F2AD}" sibTransId="{DD422E56-4E45-4EDF-BB0F-07FB735C786B}"/>
    <dgm:cxn modelId="{0C6FBE08-BFE5-4D64-A722-72C7D275BCC9}" type="presOf" srcId="{11B5CFCE-A7C7-4929-8383-F11772A15C0B}" destId="{89073831-146B-490B-9A5C-6A51C1887597}" srcOrd="0" destOrd="0" presId="urn:microsoft.com/office/officeart/2005/8/layout/pyramid3"/>
    <dgm:cxn modelId="{48B1D129-98CE-4D65-B775-38AB821A6C71}" type="presOf" srcId="{9260EC10-24F8-4F15-91C7-C908BBB78817}" destId="{58B103CA-77E2-4995-8101-BF1FDB4469EA}" srcOrd="0" destOrd="0" presId="urn:microsoft.com/office/officeart/2005/8/layout/pyramid3"/>
    <dgm:cxn modelId="{6EB44F30-2F81-41A0-A4E2-304C299B4558}" srcId="{9260EC10-24F8-4F15-91C7-C908BBB78817}" destId="{EFF1CFD9-4376-4375-95D0-D76B5C6B520A}" srcOrd="3" destOrd="0" parTransId="{A91E3953-94A0-4617-A4BB-D7682CAC6E4A}" sibTransId="{67883937-B578-48D9-8D0E-47575D6C1AEF}"/>
    <dgm:cxn modelId="{8F4CE241-4C06-4672-A386-248DBB7D04D3}" type="presOf" srcId="{EFF1CFD9-4376-4375-95D0-D76B5C6B520A}" destId="{325B9499-B256-4A2A-ACD5-74E5A24ED2E9}" srcOrd="0" destOrd="0" presId="urn:microsoft.com/office/officeart/2005/8/layout/pyramid3"/>
    <dgm:cxn modelId="{226C1363-FCC9-41C8-9211-F736FC5C0432}" type="presOf" srcId="{91DA975F-DE0A-47C3-82EF-39B6EB12F7B9}" destId="{676D0EA8-DB8A-413D-A198-AC12EF8EB122}" srcOrd="1" destOrd="0" presId="urn:microsoft.com/office/officeart/2005/8/layout/pyramid3"/>
    <dgm:cxn modelId="{E09DDD44-7F2E-494B-8EAE-158D91896B5D}" type="presOf" srcId="{45426F85-259B-446D-9C31-47390896AD20}" destId="{78821BEF-1D43-4980-ABD9-4107889E8066}" srcOrd="0" destOrd="0" presId="urn:microsoft.com/office/officeart/2005/8/layout/pyramid3"/>
    <dgm:cxn modelId="{BB9D2F52-8720-4EBF-AF41-3DBCDA32A87A}" srcId="{9260EC10-24F8-4F15-91C7-C908BBB78817}" destId="{05783686-643E-4AF2-A52A-7085F1ABA754}" srcOrd="0" destOrd="0" parTransId="{7D8C333F-98CD-4E0E-B73E-0AE610B0B613}" sibTransId="{AE5ACA73-0930-4E34-BCD6-19B1579347CE}"/>
    <dgm:cxn modelId="{08527054-484E-4F38-AC7E-AD3287F3EFE2}" srcId="{9260EC10-24F8-4F15-91C7-C908BBB78817}" destId="{91DA975F-DE0A-47C3-82EF-39B6EB12F7B9}" srcOrd="6" destOrd="0" parTransId="{717270F0-B430-412C-98B7-600F3EC1E27D}" sibTransId="{A348D6B0-E348-485D-958A-4F259D2B83AF}"/>
    <dgm:cxn modelId="{A0F2DF78-178F-4CEC-9912-0406775112E6}" srcId="{9260EC10-24F8-4F15-91C7-C908BBB78817}" destId="{D7955DB4-9F8C-45A2-AAD0-D0A005C0140B}" srcOrd="4" destOrd="0" parTransId="{6E1A24A4-B008-40B3-BFBF-894D66E3E675}" sibTransId="{E33CC4C0-8CAF-4BB8-B3C7-777C96F6FC31}"/>
    <dgm:cxn modelId="{FE20455A-F4C8-47E6-9B0F-6A987165BA07}" type="presOf" srcId="{EFF1CFD9-4376-4375-95D0-D76B5C6B520A}" destId="{6C4337E6-1453-4543-A506-976C0A7655AE}" srcOrd="1" destOrd="0" presId="urn:microsoft.com/office/officeart/2005/8/layout/pyramid3"/>
    <dgm:cxn modelId="{CA0AE286-3D82-453E-AD15-D8DAB7C5F20A}" type="presOf" srcId="{11B5CFCE-A7C7-4929-8383-F11772A15C0B}" destId="{A5FEF851-01E7-4546-993F-C18C25391575}" srcOrd="1" destOrd="0" presId="urn:microsoft.com/office/officeart/2005/8/layout/pyramid3"/>
    <dgm:cxn modelId="{FCF8D387-1B57-472B-866C-A7E8EFAF32E6}" type="presOf" srcId="{D7955DB4-9F8C-45A2-AAD0-D0A005C0140B}" destId="{BDB56151-D519-42CD-98E5-E01CC17A7BAF}" srcOrd="1" destOrd="0" presId="urn:microsoft.com/office/officeart/2005/8/layout/pyramid3"/>
    <dgm:cxn modelId="{08325899-CE3A-48AB-A247-BB902DB76758}" type="presOf" srcId="{A37C114A-BD32-4990-ABC9-9A8BE5D4AD74}" destId="{7127781F-A70E-426E-8702-40D03E953E99}" srcOrd="0" destOrd="0" presId="urn:microsoft.com/office/officeart/2005/8/layout/pyramid3"/>
    <dgm:cxn modelId="{D2C828A0-44F2-4623-9C1E-E82782CFD8B7}" type="presOf" srcId="{05783686-643E-4AF2-A52A-7085F1ABA754}" destId="{FA3D1E26-3480-4B7A-B102-B2F1E62B85C3}" srcOrd="1" destOrd="0" presId="urn:microsoft.com/office/officeart/2005/8/layout/pyramid3"/>
    <dgm:cxn modelId="{FE637BBA-0B9F-4EFE-BD34-7D459DC910DE}" type="presOf" srcId="{45426F85-259B-446D-9C31-47390896AD20}" destId="{B2402534-CDEE-4844-8C52-7D6B5C7A4C7B}" srcOrd="1" destOrd="0" presId="urn:microsoft.com/office/officeart/2005/8/layout/pyramid3"/>
    <dgm:cxn modelId="{7E6363C3-36EB-415D-9217-F1852B81976F}" srcId="{9260EC10-24F8-4F15-91C7-C908BBB78817}" destId="{A37C114A-BD32-4990-ABC9-9A8BE5D4AD74}" srcOrd="5" destOrd="0" parTransId="{9CBAF1AC-CB40-4BDF-BF06-207190F3F73F}" sibTransId="{853EA127-1603-488A-8317-25CEF948BDC2}"/>
    <dgm:cxn modelId="{CC1565DA-3BAC-4D14-8FB3-14AA41B115AF}" type="presOf" srcId="{A37C114A-BD32-4990-ABC9-9A8BE5D4AD74}" destId="{38C97707-C047-414B-A6AA-EAF393D49073}" srcOrd="1" destOrd="0" presId="urn:microsoft.com/office/officeart/2005/8/layout/pyramid3"/>
    <dgm:cxn modelId="{F35AF7DF-0AC5-4E65-A1A4-29129F98F064}" type="presOf" srcId="{05783686-643E-4AF2-A52A-7085F1ABA754}" destId="{2B875808-22D3-4437-A072-4627CF983F1A}" srcOrd="0" destOrd="0" presId="urn:microsoft.com/office/officeart/2005/8/layout/pyramid3"/>
    <dgm:cxn modelId="{AEB4CFE9-1B50-40EA-86F3-742F67670683}" type="presOf" srcId="{91DA975F-DE0A-47C3-82EF-39B6EB12F7B9}" destId="{E3EB0BEB-B27F-4565-9D50-AF03F16ABA1F}" srcOrd="0" destOrd="0" presId="urn:microsoft.com/office/officeart/2005/8/layout/pyramid3"/>
    <dgm:cxn modelId="{84D099ED-44C0-4BF1-8161-0281343F2C24}" srcId="{9260EC10-24F8-4F15-91C7-C908BBB78817}" destId="{45426F85-259B-446D-9C31-47390896AD20}" srcOrd="1" destOrd="0" parTransId="{ABF68C79-CBD5-4237-9B41-0A873E070830}" sibTransId="{FB08C9DE-C8C8-4F95-B180-8D0A9E4271C1}"/>
    <dgm:cxn modelId="{63C8E3EE-DE4C-4EEE-B778-0DDE6D863D6C}" type="presOf" srcId="{D7955DB4-9F8C-45A2-AAD0-D0A005C0140B}" destId="{A7DEA685-F9C3-43F3-B61B-566464D410D6}" srcOrd="0" destOrd="0" presId="urn:microsoft.com/office/officeart/2005/8/layout/pyramid3"/>
    <dgm:cxn modelId="{EE8C21AB-0722-4239-B26B-E547EB26C887}" type="presParOf" srcId="{58B103CA-77E2-4995-8101-BF1FDB4469EA}" destId="{5EAB8ECA-9C80-47DB-827E-A971E63247DB}" srcOrd="0" destOrd="0" presId="urn:microsoft.com/office/officeart/2005/8/layout/pyramid3"/>
    <dgm:cxn modelId="{5D13797E-ADD7-48E6-9D51-1708D487BF92}" type="presParOf" srcId="{5EAB8ECA-9C80-47DB-827E-A971E63247DB}" destId="{2B875808-22D3-4437-A072-4627CF983F1A}" srcOrd="0" destOrd="0" presId="urn:microsoft.com/office/officeart/2005/8/layout/pyramid3"/>
    <dgm:cxn modelId="{32F93AEB-354C-4441-A207-F38B61D59DC6}" type="presParOf" srcId="{5EAB8ECA-9C80-47DB-827E-A971E63247DB}" destId="{FA3D1E26-3480-4B7A-B102-B2F1E62B85C3}" srcOrd="1" destOrd="0" presId="urn:microsoft.com/office/officeart/2005/8/layout/pyramid3"/>
    <dgm:cxn modelId="{82FDF27A-248C-4281-BBCE-6C1C069D570D}" type="presParOf" srcId="{58B103CA-77E2-4995-8101-BF1FDB4469EA}" destId="{B1FB28C1-5BBE-41CA-ABEF-898D3513B521}" srcOrd="1" destOrd="0" presId="urn:microsoft.com/office/officeart/2005/8/layout/pyramid3"/>
    <dgm:cxn modelId="{E8512CCA-5727-4868-8915-4564FC834C83}" type="presParOf" srcId="{B1FB28C1-5BBE-41CA-ABEF-898D3513B521}" destId="{78821BEF-1D43-4980-ABD9-4107889E8066}" srcOrd="0" destOrd="0" presId="urn:microsoft.com/office/officeart/2005/8/layout/pyramid3"/>
    <dgm:cxn modelId="{8C3EA42A-0006-4347-91D8-714C6B866C0F}" type="presParOf" srcId="{B1FB28C1-5BBE-41CA-ABEF-898D3513B521}" destId="{B2402534-CDEE-4844-8C52-7D6B5C7A4C7B}" srcOrd="1" destOrd="0" presId="urn:microsoft.com/office/officeart/2005/8/layout/pyramid3"/>
    <dgm:cxn modelId="{2C1D8FDE-4736-4157-9FD0-1CF01825CCE3}" type="presParOf" srcId="{58B103CA-77E2-4995-8101-BF1FDB4469EA}" destId="{1DB84D17-FC06-410E-AB16-6A20FD7AB125}" srcOrd="2" destOrd="0" presId="urn:microsoft.com/office/officeart/2005/8/layout/pyramid3"/>
    <dgm:cxn modelId="{3917D8CB-5396-43B5-B5A6-EF53BB01B2F8}" type="presParOf" srcId="{1DB84D17-FC06-410E-AB16-6A20FD7AB125}" destId="{89073831-146B-490B-9A5C-6A51C1887597}" srcOrd="0" destOrd="0" presId="urn:microsoft.com/office/officeart/2005/8/layout/pyramid3"/>
    <dgm:cxn modelId="{DEE669C9-203D-4112-AC6B-01F63079068C}" type="presParOf" srcId="{1DB84D17-FC06-410E-AB16-6A20FD7AB125}" destId="{A5FEF851-01E7-4546-993F-C18C25391575}" srcOrd="1" destOrd="0" presId="urn:microsoft.com/office/officeart/2005/8/layout/pyramid3"/>
    <dgm:cxn modelId="{E851E624-B475-47FC-80FD-19AA86D064B0}" type="presParOf" srcId="{58B103CA-77E2-4995-8101-BF1FDB4469EA}" destId="{0FC84F03-61A5-4088-B2D4-904A0346E8A9}" srcOrd="3" destOrd="0" presId="urn:microsoft.com/office/officeart/2005/8/layout/pyramid3"/>
    <dgm:cxn modelId="{6BEE9210-9B04-456F-8BA3-F86953BD3DC6}" type="presParOf" srcId="{0FC84F03-61A5-4088-B2D4-904A0346E8A9}" destId="{325B9499-B256-4A2A-ACD5-74E5A24ED2E9}" srcOrd="0" destOrd="0" presId="urn:microsoft.com/office/officeart/2005/8/layout/pyramid3"/>
    <dgm:cxn modelId="{ACD019FB-D6C0-4E49-9F8E-1D7F66E71E36}" type="presParOf" srcId="{0FC84F03-61A5-4088-B2D4-904A0346E8A9}" destId="{6C4337E6-1453-4543-A506-976C0A7655AE}" srcOrd="1" destOrd="0" presId="urn:microsoft.com/office/officeart/2005/8/layout/pyramid3"/>
    <dgm:cxn modelId="{8469CB5D-7AF0-4607-928B-C1778D4B5E01}" type="presParOf" srcId="{58B103CA-77E2-4995-8101-BF1FDB4469EA}" destId="{0A676EF5-4B6B-4D39-935C-599F89F6E016}" srcOrd="4" destOrd="0" presId="urn:microsoft.com/office/officeart/2005/8/layout/pyramid3"/>
    <dgm:cxn modelId="{211266AC-A3C9-4ED2-BDAD-497247AF66B0}" type="presParOf" srcId="{0A676EF5-4B6B-4D39-935C-599F89F6E016}" destId="{A7DEA685-F9C3-43F3-B61B-566464D410D6}" srcOrd="0" destOrd="0" presId="urn:microsoft.com/office/officeart/2005/8/layout/pyramid3"/>
    <dgm:cxn modelId="{100F163D-960A-47B3-AD56-50A56DEDC0F0}" type="presParOf" srcId="{0A676EF5-4B6B-4D39-935C-599F89F6E016}" destId="{BDB56151-D519-42CD-98E5-E01CC17A7BAF}" srcOrd="1" destOrd="0" presId="urn:microsoft.com/office/officeart/2005/8/layout/pyramid3"/>
    <dgm:cxn modelId="{B8891E24-CDA4-40FD-93AE-7B85E46147E8}" type="presParOf" srcId="{58B103CA-77E2-4995-8101-BF1FDB4469EA}" destId="{6231C504-D27B-4F67-8478-142C18764CF3}" srcOrd="5" destOrd="0" presId="urn:microsoft.com/office/officeart/2005/8/layout/pyramid3"/>
    <dgm:cxn modelId="{D545BCA4-D1A5-44A9-8FF1-7A2DA99D7500}" type="presParOf" srcId="{6231C504-D27B-4F67-8478-142C18764CF3}" destId="{7127781F-A70E-426E-8702-40D03E953E99}" srcOrd="0" destOrd="0" presId="urn:microsoft.com/office/officeart/2005/8/layout/pyramid3"/>
    <dgm:cxn modelId="{1F8B9027-5A01-4D1A-9856-3D795ABB1EB6}" type="presParOf" srcId="{6231C504-D27B-4F67-8478-142C18764CF3}" destId="{38C97707-C047-414B-A6AA-EAF393D49073}" srcOrd="1" destOrd="0" presId="urn:microsoft.com/office/officeart/2005/8/layout/pyramid3"/>
    <dgm:cxn modelId="{A175C6D3-F3EC-47F2-9E16-2E1484D9CCFA}" type="presParOf" srcId="{58B103CA-77E2-4995-8101-BF1FDB4469EA}" destId="{B8F1A562-27C7-49E6-AD7A-A360BB25BCD1}" srcOrd="6" destOrd="0" presId="urn:microsoft.com/office/officeart/2005/8/layout/pyramid3"/>
    <dgm:cxn modelId="{A37B1654-ADB8-4A9C-AC96-35F2FB3CDC32}" type="presParOf" srcId="{B8F1A562-27C7-49E6-AD7A-A360BB25BCD1}" destId="{E3EB0BEB-B27F-4565-9D50-AF03F16ABA1F}" srcOrd="0" destOrd="0" presId="urn:microsoft.com/office/officeart/2005/8/layout/pyramid3"/>
    <dgm:cxn modelId="{02519E5A-FE3A-4D3D-A16C-C7C3EB43AE8D}" type="presParOf" srcId="{B8F1A562-27C7-49E6-AD7A-A360BB25BCD1}" destId="{676D0EA8-DB8A-413D-A198-AC12EF8EB122}" srcOrd="1" destOrd="0" presId="urn:microsoft.com/office/officeart/2005/8/layout/pyramid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FC6A791-5A75-4144-8B83-F21BD50A274F}" type="doc">
      <dgm:prSet loTypeId="urn:microsoft.com/office/officeart/2005/8/layout/lProcess2" loCatId="list" qsTypeId="urn:microsoft.com/office/officeart/2005/8/quickstyle/simple1" qsCatId="simple" csTypeId="urn:microsoft.com/office/officeart/2005/8/colors/accent1_2" csCatId="accent1" phldr="1"/>
      <dgm:spPr/>
      <dgm:t>
        <a:bodyPr/>
        <a:lstStyle/>
        <a:p>
          <a:endParaRPr lang="en-US"/>
        </a:p>
      </dgm:t>
    </dgm:pt>
    <dgm:pt modelId="{D13C3FA9-A193-4D09-85D4-797588C4FCD7}">
      <dgm:prSet phldrT="[Text]" phldr="0"/>
      <dgm:spPr/>
      <dgm:t>
        <a:bodyPr/>
        <a:lstStyle/>
        <a:p>
          <a:pPr rtl="0"/>
          <a:r>
            <a:rPr lang="en-US" dirty="0">
              <a:latin typeface="Calibri Light" panose="020F0302020204030204"/>
            </a:rPr>
            <a:t>Short Term Sources</a:t>
          </a:r>
          <a:endParaRPr lang="en-US" dirty="0"/>
        </a:p>
      </dgm:t>
    </dgm:pt>
    <dgm:pt modelId="{C2CB0438-B2EC-47A6-9926-671C95F5EFCB}" type="parTrans" cxnId="{85449CBC-F9A4-4FF6-8D48-AB36FE98BD6F}">
      <dgm:prSet/>
      <dgm:spPr/>
      <dgm:t>
        <a:bodyPr/>
        <a:lstStyle/>
        <a:p>
          <a:endParaRPr lang="en-US"/>
        </a:p>
      </dgm:t>
    </dgm:pt>
    <dgm:pt modelId="{6791AA70-BABD-486F-8A73-B4FB66D2A77C}" type="sibTrans" cxnId="{85449CBC-F9A4-4FF6-8D48-AB36FE98BD6F}">
      <dgm:prSet/>
      <dgm:spPr/>
      <dgm:t>
        <a:bodyPr/>
        <a:lstStyle/>
        <a:p>
          <a:endParaRPr lang="en-US"/>
        </a:p>
      </dgm:t>
    </dgm:pt>
    <dgm:pt modelId="{9038A635-C5F0-4F3D-9FE1-FF6D16E20431}">
      <dgm:prSet phldrT="[Text]" phldr="0"/>
      <dgm:spPr/>
      <dgm:t>
        <a:bodyPr/>
        <a:lstStyle/>
        <a:p>
          <a:pPr rtl="0"/>
          <a:r>
            <a:rPr lang="en-US" dirty="0">
              <a:latin typeface="Calibri Light" panose="020F0302020204030204"/>
            </a:rPr>
            <a:t>Commercial / Trade Credit</a:t>
          </a:r>
          <a:endParaRPr lang="en-US" dirty="0"/>
        </a:p>
      </dgm:t>
    </dgm:pt>
    <dgm:pt modelId="{3CF72DD1-F39F-4F53-8E8E-DB2C5789E9AF}" type="parTrans" cxnId="{26A02945-E40C-4584-AA4A-DDBF6C18004E}">
      <dgm:prSet/>
      <dgm:spPr/>
      <dgm:t>
        <a:bodyPr/>
        <a:lstStyle/>
        <a:p>
          <a:endParaRPr lang="en-US"/>
        </a:p>
      </dgm:t>
    </dgm:pt>
    <dgm:pt modelId="{55E4AC04-B3E4-4DDF-87CD-BB88D769E5C1}" type="sibTrans" cxnId="{26A02945-E40C-4584-AA4A-DDBF6C18004E}">
      <dgm:prSet/>
      <dgm:spPr/>
      <dgm:t>
        <a:bodyPr/>
        <a:lstStyle/>
        <a:p>
          <a:endParaRPr lang="en-US"/>
        </a:p>
      </dgm:t>
    </dgm:pt>
    <dgm:pt modelId="{4588C490-D31A-4412-93D3-A3793DB30279}">
      <dgm:prSet phldrT="[Text]" phldr="0"/>
      <dgm:spPr/>
      <dgm:t>
        <a:bodyPr/>
        <a:lstStyle/>
        <a:p>
          <a:r>
            <a:rPr lang="en-US" dirty="0">
              <a:latin typeface="Calibri Light" panose="020F0302020204030204"/>
            </a:rPr>
            <a:t>Factoring</a:t>
          </a:r>
          <a:endParaRPr lang="en-US" dirty="0"/>
        </a:p>
      </dgm:t>
    </dgm:pt>
    <dgm:pt modelId="{C504E152-8648-4761-860A-B1F0B4B9B4FB}" type="parTrans" cxnId="{DF55F6FF-1E78-45D6-8233-AB187A599F0B}">
      <dgm:prSet/>
      <dgm:spPr/>
      <dgm:t>
        <a:bodyPr/>
        <a:lstStyle/>
        <a:p>
          <a:endParaRPr lang="en-US"/>
        </a:p>
      </dgm:t>
    </dgm:pt>
    <dgm:pt modelId="{7910F901-034E-4D22-8242-16C9E63E106F}" type="sibTrans" cxnId="{DF55F6FF-1E78-45D6-8233-AB187A599F0B}">
      <dgm:prSet/>
      <dgm:spPr/>
      <dgm:t>
        <a:bodyPr/>
        <a:lstStyle/>
        <a:p>
          <a:endParaRPr lang="en-US"/>
        </a:p>
      </dgm:t>
    </dgm:pt>
    <dgm:pt modelId="{A66DD62A-FD71-4537-8A9C-CB83CFEC2901}">
      <dgm:prSet phldrT="[Text]" phldr="0"/>
      <dgm:spPr/>
      <dgm:t>
        <a:bodyPr/>
        <a:lstStyle/>
        <a:p>
          <a:pPr rtl="0"/>
          <a:r>
            <a:rPr lang="en-US" dirty="0">
              <a:latin typeface="Calibri Light" panose="020F0302020204030204"/>
            </a:rPr>
            <a:t>Medium Term Sources</a:t>
          </a:r>
          <a:endParaRPr lang="en-US" dirty="0"/>
        </a:p>
      </dgm:t>
    </dgm:pt>
    <dgm:pt modelId="{4FF7D02D-9514-4BAE-9800-330B88368390}" type="parTrans" cxnId="{95BC4D14-09BD-4C61-AFB3-8406056C68FA}">
      <dgm:prSet/>
      <dgm:spPr/>
      <dgm:t>
        <a:bodyPr/>
        <a:lstStyle/>
        <a:p>
          <a:endParaRPr lang="en-US"/>
        </a:p>
      </dgm:t>
    </dgm:pt>
    <dgm:pt modelId="{06845BE8-F350-427F-B79D-EF6A8471E83A}" type="sibTrans" cxnId="{95BC4D14-09BD-4C61-AFB3-8406056C68FA}">
      <dgm:prSet/>
      <dgm:spPr/>
      <dgm:t>
        <a:bodyPr/>
        <a:lstStyle/>
        <a:p>
          <a:endParaRPr lang="en-US"/>
        </a:p>
      </dgm:t>
    </dgm:pt>
    <dgm:pt modelId="{F64B8A84-B536-48C0-9E22-1E8EE1714B5B}">
      <dgm:prSet phldrT="[Text]" phldr="0"/>
      <dgm:spPr/>
      <dgm:t>
        <a:bodyPr/>
        <a:lstStyle/>
        <a:p>
          <a:pPr rtl="0"/>
          <a:r>
            <a:rPr lang="en-US" dirty="0">
              <a:latin typeface="Calibri Light" panose="020F0302020204030204"/>
            </a:rPr>
            <a:t>Issue of Preference Shares</a:t>
          </a:r>
          <a:endParaRPr lang="en-US" dirty="0"/>
        </a:p>
      </dgm:t>
    </dgm:pt>
    <dgm:pt modelId="{FDC4ED67-BD04-47DE-A4F1-C223DD5F3C29}" type="parTrans" cxnId="{EBD550CE-57C1-4063-A796-D2CAE2CC0C31}">
      <dgm:prSet/>
      <dgm:spPr/>
      <dgm:t>
        <a:bodyPr/>
        <a:lstStyle/>
        <a:p>
          <a:endParaRPr lang="en-US"/>
        </a:p>
      </dgm:t>
    </dgm:pt>
    <dgm:pt modelId="{D433597E-68F0-45C1-8890-0E1A4E0CDA9D}" type="sibTrans" cxnId="{EBD550CE-57C1-4063-A796-D2CAE2CC0C31}">
      <dgm:prSet/>
      <dgm:spPr/>
      <dgm:t>
        <a:bodyPr/>
        <a:lstStyle/>
        <a:p>
          <a:endParaRPr lang="en-US"/>
        </a:p>
      </dgm:t>
    </dgm:pt>
    <dgm:pt modelId="{06F25BED-F21B-47AB-8E27-4C0BE1A5A296}">
      <dgm:prSet phldrT="[Text]" phldr="0"/>
      <dgm:spPr/>
      <dgm:t>
        <a:bodyPr/>
        <a:lstStyle/>
        <a:p>
          <a:pPr rtl="0"/>
          <a:r>
            <a:rPr lang="en-US" dirty="0">
              <a:latin typeface="Calibri Light" panose="020F0302020204030204"/>
            </a:rPr>
            <a:t>Issue of Debentures</a:t>
          </a:r>
          <a:endParaRPr lang="en-US" dirty="0"/>
        </a:p>
      </dgm:t>
    </dgm:pt>
    <dgm:pt modelId="{67C316C8-9B73-44F9-BDB4-61AB1E900095}" type="parTrans" cxnId="{CAF20B83-7AB3-482E-B38F-29D2F1367C66}">
      <dgm:prSet/>
      <dgm:spPr/>
      <dgm:t>
        <a:bodyPr/>
        <a:lstStyle/>
        <a:p>
          <a:endParaRPr lang="en-US"/>
        </a:p>
      </dgm:t>
    </dgm:pt>
    <dgm:pt modelId="{020A2623-A32F-41D1-8C62-F38F63A9AA95}" type="sibTrans" cxnId="{CAF20B83-7AB3-482E-B38F-29D2F1367C66}">
      <dgm:prSet/>
      <dgm:spPr/>
      <dgm:t>
        <a:bodyPr/>
        <a:lstStyle/>
        <a:p>
          <a:endParaRPr lang="en-US"/>
        </a:p>
      </dgm:t>
    </dgm:pt>
    <dgm:pt modelId="{A7D19864-F478-4BEE-BCCC-85FF726EFD77}">
      <dgm:prSet phldrT="[Text]" phldr="0"/>
      <dgm:spPr/>
      <dgm:t>
        <a:bodyPr/>
        <a:lstStyle/>
        <a:p>
          <a:pPr rtl="0"/>
          <a:r>
            <a:rPr lang="en-US" dirty="0">
              <a:latin typeface="Calibri Light" panose="020F0302020204030204"/>
            </a:rPr>
            <a:t>Long Term Sources</a:t>
          </a:r>
          <a:endParaRPr lang="en-US" dirty="0"/>
        </a:p>
      </dgm:t>
    </dgm:pt>
    <dgm:pt modelId="{C961B536-4C3C-49C8-9DA6-A31B5B1976CD}" type="parTrans" cxnId="{3772F8BD-B0B6-4E6D-BFE9-620FA38A9F7E}">
      <dgm:prSet/>
      <dgm:spPr/>
      <dgm:t>
        <a:bodyPr/>
        <a:lstStyle/>
        <a:p>
          <a:endParaRPr lang="en-US"/>
        </a:p>
      </dgm:t>
    </dgm:pt>
    <dgm:pt modelId="{EB729E2F-0617-4C3F-8681-6197B1E6AB3B}" type="sibTrans" cxnId="{3772F8BD-B0B6-4E6D-BFE9-620FA38A9F7E}">
      <dgm:prSet/>
      <dgm:spPr/>
      <dgm:t>
        <a:bodyPr/>
        <a:lstStyle/>
        <a:p>
          <a:endParaRPr lang="en-US"/>
        </a:p>
      </dgm:t>
    </dgm:pt>
    <dgm:pt modelId="{2CF2AEC0-1C67-496C-A937-881227713383}">
      <dgm:prSet phldrT="[Text]" phldr="0"/>
      <dgm:spPr/>
      <dgm:t>
        <a:bodyPr/>
        <a:lstStyle/>
        <a:p>
          <a:pPr rtl="0"/>
          <a:r>
            <a:rPr lang="en-US" dirty="0">
              <a:latin typeface="Calibri Light" panose="020F0302020204030204"/>
            </a:rPr>
            <a:t>Issue of Equity Shares</a:t>
          </a:r>
          <a:endParaRPr lang="en-US" dirty="0"/>
        </a:p>
      </dgm:t>
    </dgm:pt>
    <dgm:pt modelId="{A08214E0-0516-4888-88BA-AD0AD1031E00}" type="parTrans" cxnId="{11925D2C-5A4B-408E-87C5-70B291A6AE62}">
      <dgm:prSet/>
      <dgm:spPr/>
      <dgm:t>
        <a:bodyPr/>
        <a:lstStyle/>
        <a:p>
          <a:endParaRPr lang="en-US"/>
        </a:p>
      </dgm:t>
    </dgm:pt>
    <dgm:pt modelId="{D0ED6B3D-63AE-4E16-A28A-776E77E19779}" type="sibTrans" cxnId="{11925D2C-5A4B-408E-87C5-70B291A6AE62}">
      <dgm:prSet/>
      <dgm:spPr/>
      <dgm:t>
        <a:bodyPr/>
        <a:lstStyle/>
        <a:p>
          <a:endParaRPr lang="en-US"/>
        </a:p>
      </dgm:t>
    </dgm:pt>
    <dgm:pt modelId="{58A411CD-880E-4D1A-89D5-BD00687F5038}">
      <dgm:prSet phldrT="[Text]" phldr="0"/>
      <dgm:spPr/>
      <dgm:t>
        <a:bodyPr/>
        <a:lstStyle/>
        <a:p>
          <a:pPr rtl="0"/>
          <a:r>
            <a:rPr lang="en-US" dirty="0">
              <a:latin typeface="Calibri Light" panose="020F0302020204030204"/>
            </a:rPr>
            <a:t>Issue of Preference Shares</a:t>
          </a:r>
          <a:endParaRPr lang="en-US" dirty="0"/>
        </a:p>
      </dgm:t>
    </dgm:pt>
    <dgm:pt modelId="{31B92818-2A26-4437-BE0E-1BBB02B8286E}" type="parTrans" cxnId="{C4E904D8-F75C-4921-9C10-CAB36856F1A8}">
      <dgm:prSet/>
      <dgm:spPr/>
      <dgm:t>
        <a:bodyPr/>
        <a:lstStyle/>
        <a:p>
          <a:endParaRPr lang="en-US"/>
        </a:p>
      </dgm:t>
    </dgm:pt>
    <dgm:pt modelId="{150FD26A-72FF-4B63-B0B1-B4FF5BE32037}" type="sibTrans" cxnId="{C4E904D8-F75C-4921-9C10-CAB36856F1A8}">
      <dgm:prSet/>
      <dgm:spPr/>
      <dgm:t>
        <a:bodyPr/>
        <a:lstStyle/>
        <a:p>
          <a:endParaRPr lang="en-US"/>
        </a:p>
      </dgm:t>
    </dgm:pt>
    <dgm:pt modelId="{065210C5-3F68-4C21-A06B-2047228DEA1E}">
      <dgm:prSet phldr="0"/>
      <dgm:spPr/>
      <dgm:t>
        <a:bodyPr/>
        <a:lstStyle/>
        <a:p>
          <a:pPr rtl="0"/>
          <a:r>
            <a:rPr lang="en-US" dirty="0">
              <a:latin typeface="Calibri Light" panose="020F0302020204030204"/>
            </a:rPr>
            <a:t>Commercial Paper</a:t>
          </a:r>
        </a:p>
      </dgm:t>
    </dgm:pt>
    <dgm:pt modelId="{4C57E596-6BE1-4405-9961-1C5757F32023}" type="parTrans" cxnId="{C37D0AF8-DB5F-4200-BF23-818823BD97C8}">
      <dgm:prSet/>
      <dgm:spPr/>
    </dgm:pt>
    <dgm:pt modelId="{A1294C6F-A83F-40C8-8CC3-A7637A36128D}" type="sibTrans" cxnId="{C37D0AF8-DB5F-4200-BF23-818823BD97C8}">
      <dgm:prSet/>
      <dgm:spPr/>
    </dgm:pt>
    <dgm:pt modelId="{5FA02BA7-8C08-41DC-BA8A-BED324DC1433}">
      <dgm:prSet phldr="0"/>
      <dgm:spPr/>
      <dgm:t>
        <a:bodyPr/>
        <a:lstStyle/>
        <a:p>
          <a:pPr rtl="0"/>
          <a:r>
            <a:rPr lang="en-US" dirty="0">
              <a:latin typeface="Calibri Light" panose="020F0302020204030204"/>
            </a:rPr>
            <a:t>Public Deposits</a:t>
          </a:r>
        </a:p>
      </dgm:t>
    </dgm:pt>
    <dgm:pt modelId="{0A0070EF-EEC1-4139-A04F-6383EB367AEB}" type="parTrans" cxnId="{239F229A-10F6-4833-9413-9749DD66F316}">
      <dgm:prSet/>
      <dgm:spPr/>
    </dgm:pt>
    <dgm:pt modelId="{31C82C4F-2CBD-43B2-8046-32FCE68CADA2}" type="sibTrans" cxnId="{239F229A-10F6-4833-9413-9749DD66F316}">
      <dgm:prSet/>
      <dgm:spPr/>
    </dgm:pt>
    <dgm:pt modelId="{A1E6F075-9702-4A92-884F-E43E3C4C1C1F}">
      <dgm:prSet phldr="0"/>
      <dgm:spPr/>
      <dgm:t>
        <a:bodyPr/>
        <a:lstStyle/>
        <a:p>
          <a:pPr rtl="0"/>
          <a:r>
            <a:rPr lang="en-US" dirty="0"/>
            <a:t>Loans From Fianancial Instituitions</a:t>
          </a:r>
        </a:p>
      </dgm:t>
    </dgm:pt>
    <dgm:pt modelId="{85D715B8-8D7D-49D9-8D20-6A837724939B}" type="parTrans" cxnId="{68F7C6A6-D39C-4F60-B7D3-8741D345D846}">
      <dgm:prSet/>
      <dgm:spPr/>
    </dgm:pt>
    <dgm:pt modelId="{E887E23E-CBEC-43EB-952B-A239586599C4}" type="sibTrans" cxnId="{68F7C6A6-D39C-4F60-B7D3-8741D345D846}">
      <dgm:prSet/>
      <dgm:spPr/>
    </dgm:pt>
    <dgm:pt modelId="{692D8683-F555-45FE-8979-1A83CD9D3E6C}">
      <dgm:prSet phldr="0"/>
      <dgm:spPr/>
      <dgm:t>
        <a:bodyPr/>
        <a:lstStyle/>
        <a:p>
          <a:pPr rtl="0"/>
          <a:r>
            <a:rPr lang="en-US" dirty="0">
              <a:latin typeface="Calibri Light" panose="020F0302020204030204"/>
            </a:rPr>
            <a:t>Issue of Debentures</a:t>
          </a:r>
        </a:p>
      </dgm:t>
    </dgm:pt>
    <dgm:pt modelId="{09D6AA3C-F7B1-4F63-BEB6-D1DA4C87A9ED}" type="parTrans" cxnId="{0BC4287D-3A90-41CE-9450-7049C9E567CC}">
      <dgm:prSet/>
      <dgm:spPr/>
    </dgm:pt>
    <dgm:pt modelId="{AAA34147-1F79-43BD-A8FC-E1129FB0A6A3}" type="sibTrans" cxnId="{0BC4287D-3A90-41CE-9450-7049C9E567CC}">
      <dgm:prSet/>
      <dgm:spPr/>
    </dgm:pt>
    <dgm:pt modelId="{761AE283-8DC7-4E6A-A3D5-F2448DEAE060}">
      <dgm:prSet phldr="0"/>
      <dgm:spPr/>
      <dgm:t>
        <a:bodyPr/>
        <a:lstStyle/>
        <a:p>
          <a:pPr rtl="0"/>
          <a:r>
            <a:rPr lang="en-US" dirty="0">
              <a:latin typeface="Calibri Light" panose="020F0302020204030204"/>
            </a:rPr>
            <a:t>Loans from Fianancial Institutions</a:t>
          </a:r>
          <a:endParaRPr lang="en-US" dirty="0"/>
        </a:p>
      </dgm:t>
    </dgm:pt>
    <dgm:pt modelId="{45D5C544-2AB0-48A6-96E7-C419830247D9}" type="parTrans" cxnId="{39D1CF45-B0BE-4CC0-9B92-BBCA43D3018F}">
      <dgm:prSet/>
      <dgm:spPr/>
    </dgm:pt>
    <dgm:pt modelId="{AF5A97EF-2524-463E-B065-F5E7AB5CD670}" type="sibTrans" cxnId="{39D1CF45-B0BE-4CC0-9B92-BBCA43D3018F}">
      <dgm:prSet/>
      <dgm:spPr/>
    </dgm:pt>
    <dgm:pt modelId="{198E8DAE-568E-449B-83A1-B512CB72C568}">
      <dgm:prSet phldr="0"/>
      <dgm:spPr/>
      <dgm:t>
        <a:bodyPr/>
        <a:lstStyle/>
        <a:p>
          <a:pPr rtl="0"/>
          <a:r>
            <a:rPr lang="en-US" dirty="0">
              <a:latin typeface="Calibri Light" panose="020F0302020204030204"/>
            </a:rPr>
            <a:t>Customer Advances</a:t>
          </a:r>
        </a:p>
      </dgm:t>
    </dgm:pt>
    <dgm:pt modelId="{C2A4810B-B017-4787-8944-5D354CE63A14}" type="parTrans" cxnId="{8930A500-D8E5-441C-8871-E38B006510AE}">
      <dgm:prSet/>
      <dgm:spPr/>
    </dgm:pt>
    <dgm:pt modelId="{151C7C65-86CB-4676-B18F-B693E5A9FB6A}" type="sibTrans" cxnId="{8930A500-D8E5-441C-8871-E38B006510AE}">
      <dgm:prSet/>
      <dgm:spPr/>
    </dgm:pt>
    <dgm:pt modelId="{B1AE10F0-FA19-48D7-BAF1-614F75FB44AD}">
      <dgm:prSet phldr="0"/>
      <dgm:spPr/>
      <dgm:t>
        <a:bodyPr/>
        <a:lstStyle/>
        <a:p>
          <a:pPr rtl="0"/>
          <a:r>
            <a:rPr lang="en-US" dirty="0">
              <a:latin typeface="Calibri Light" panose="020F0302020204030204"/>
            </a:rPr>
            <a:t>Bill Discounting</a:t>
          </a:r>
        </a:p>
      </dgm:t>
    </dgm:pt>
    <dgm:pt modelId="{588CF655-6B34-457A-ABC7-8B229559EC28}" type="parTrans" cxnId="{17FA2281-A242-479A-8F23-344670D2B150}">
      <dgm:prSet/>
      <dgm:spPr/>
    </dgm:pt>
    <dgm:pt modelId="{3D8ACF5F-31A4-40CF-8987-DDD5EAC1DDB9}" type="sibTrans" cxnId="{17FA2281-A242-479A-8F23-344670D2B150}">
      <dgm:prSet/>
      <dgm:spPr/>
    </dgm:pt>
    <dgm:pt modelId="{4E6AEAB5-5409-46C3-9ABF-EEFC6E18EB72}">
      <dgm:prSet phldr="0"/>
      <dgm:spPr/>
      <dgm:t>
        <a:bodyPr/>
        <a:lstStyle/>
        <a:p>
          <a:pPr rtl="0"/>
          <a:r>
            <a:rPr lang="en-US" dirty="0">
              <a:latin typeface="Calibri Light" panose="020F0302020204030204"/>
            </a:rPr>
            <a:t>Bank Overdraft</a:t>
          </a:r>
        </a:p>
      </dgm:t>
    </dgm:pt>
    <dgm:pt modelId="{22C22E14-D0AD-43BC-92C4-74197AE43199}" type="parTrans" cxnId="{3385CA55-57A7-4431-9910-37E73AF20E4E}">
      <dgm:prSet/>
      <dgm:spPr/>
    </dgm:pt>
    <dgm:pt modelId="{99AB774F-F124-4544-95B5-1FFACEAABF64}" type="sibTrans" cxnId="{3385CA55-57A7-4431-9910-37E73AF20E4E}">
      <dgm:prSet/>
      <dgm:spPr/>
    </dgm:pt>
    <dgm:pt modelId="{C781635C-AD32-4A07-86AC-6F55120BF622}">
      <dgm:prSet phldr="0"/>
      <dgm:spPr/>
      <dgm:t>
        <a:bodyPr/>
        <a:lstStyle/>
        <a:p>
          <a:pPr rtl="0"/>
          <a:r>
            <a:rPr lang="en-US" dirty="0">
              <a:latin typeface="Calibri Light" panose="020F0302020204030204"/>
            </a:rPr>
            <a:t>Cash Credit</a:t>
          </a:r>
        </a:p>
      </dgm:t>
    </dgm:pt>
    <dgm:pt modelId="{0930A01E-B79F-43C0-A495-CE7DFBD52D1F}" type="parTrans" cxnId="{7DE34C47-8517-46B2-BB25-841203DA0FA2}">
      <dgm:prSet/>
      <dgm:spPr/>
    </dgm:pt>
    <dgm:pt modelId="{608AE570-24BF-41B7-A654-3D41F926FBCE}" type="sibTrans" cxnId="{7DE34C47-8517-46B2-BB25-841203DA0FA2}">
      <dgm:prSet/>
      <dgm:spPr/>
    </dgm:pt>
    <dgm:pt modelId="{4CFC3303-AE75-4C69-8E16-7B5F4535D3BE}">
      <dgm:prSet phldr="0"/>
      <dgm:spPr/>
      <dgm:t>
        <a:bodyPr/>
        <a:lstStyle/>
        <a:p>
          <a:pPr rtl="0"/>
          <a:r>
            <a:rPr lang="en-US" dirty="0">
              <a:latin typeface="Calibri Light" panose="020F0302020204030204"/>
            </a:rPr>
            <a:t>Hire Purchase and Leasing</a:t>
          </a:r>
        </a:p>
      </dgm:t>
    </dgm:pt>
    <dgm:pt modelId="{80F08B0D-2D4C-447B-B3AB-3F4C6A02A0B6}" type="parTrans" cxnId="{F0FCB384-1EEC-4E5B-A205-80B7E8B4B283}">
      <dgm:prSet/>
      <dgm:spPr/>
    </dgm:pt>
    <dgm:pt modelId="{F72EE196-DC2D-4AE9-8319-B02B60D1B7D4}" type="sibTrans" cxnId="{F0FCB384-1EEC-4E5B-A205-80B7E8B4B283}">
      <dgm:prSet/>
      <dgm:spPr/>
    </dgm:pt>
    <dgm:pt modelId="{FF23C117-3399-4C2F-80E3-DE876298DF4E}">
      <dgm:prSet phldr="0"/>
      <dgm:spPr/>
      <dgm:t>
        <a:bodyPr/>
        <a:lstStyle/>
        <a:p>
          <a:pPr rtl="0"/>
          <a:r>
            <a:rPr lang="en-US" dirty="0">
              <a:latin typeface="Calibri Light" panose="020F0302020204030204"/>
            </a:rPr>
            <a:t>Bond Loans</a:t>
          </a:r>
        </a:p>
      </dgm:t>
    </dgm:pt>
    <dgm:pt modelId="{BBB324B8-9125-4AC8-A872-E5C960C29381}" type="parTrans" cxnId="{D47A5313-7B5E-45C9-B25F-409D672184B1}">
      <dgm:prSet/>
      <dgm:spPr/>
    </dgm:pt>
    <dgm:pt modelId="{D6898D3B-1C93-4CCA-938D-59824359DCED}" type="sibTrans" cxnId="{D47A5313-7B5E-45C9-B25F-409D672184B1}">
      <dgm:prSet/>
      <dgm:spPr/>
    </dgm:pt>
    <dgm:pt modelId="{CF004109-40C2-4418-98D0-7CEC1E06159E}" type="pres">
      <dgm:prSet presAssocID="{4FC6A791-5A75-4144-8B83-F21BD50A274F}" presName="theList" presStyleCnt="0">
        <dgm:presLayoutVars>
          <dgm:dir/>
          <dgm:animLvl val="lvl"/>
          <dgm:resizeHandles val="exact"/>
        </dgm:presLayoutVars>
      </dgm:prSet>
      <dgm:spPr/>
    </dgm:pt>
    <dgm:pt modelId="{BDC4AD5F-3BA4-4E53-BD21-C83632578CC1}" type="pres">
      <dgm:prSet presAssocID="{D13C3FA9-A193-4D09-85D4-797588C4FCD7}" presName="compNode" presStyleCnt="0"/>
      <dgm:spPr/>
    </dgm:pt>
    <dgm:pt modelId="{861422ED-2B9C-4C84-B551-1FB09B514240}" type="pres">
      <dgm:prSet presAssocID="{D13C3FA9-A193-4D09-85D4-797588C4FCD7}" presName="aNode" presStyleLbl="bgShp" presStyleIdx="0" presStyleCnt="3"/>
      <dgm:spPr/>
    </dgm:pt>
    <dgm:pt modelId="{1CA663C6-BC9B-4FF5-9839-6CE88CB820AC}" type="pres">
      <dgm:prSet presAssocID="{D13C3FA9-A193-4D09-85D4-797588C4FCD7}" presName="textNode" presStyleLbl="bgShp" presStyleIdx="0" presStyleCnt="3"/>
      <dgm:spPr/>
    </dgm:pt>
    <dgm:pt modelId="{0544A7BC-A4F2-451B-AEF7-DBCD21CFB49B}" type="pres">
      <dgm:prSet presAssocID="{D13C3FA9-A193-4D09-85D4-797588C4FCD7}" presName="compChildNode" presStyleCnt="0"/>
      <dgm:spPr/>
    </dgm:pt>
    <dgm:pt modelId="{56DF333A-08E0-4629-AFC2-931C10F9385F}" type="pres">
      <dgm:prSet presAssocID="{D13C3FA9-A193-4D09-85D4-797588C4FCD7}" presName="theInnerList" presStyleCnt="0"/>
      <dgm:spPr/>
    </dgm:pt>
    <dgm:pt modelId="{7A4BF01E-2A97-48CE-A8D6-5B3109FE778B}" type="pres">
      <dgm:prSet presAssocID="{9038A635-C5F0-4F3D-9FE1-FF6D16E20431}" presName="childNode" presStyleLbl="node1" presStyleIdx="0" presStyleCnt="17">
        <dgm:presLayoutVars>
          <dgm:bulletEnabled val="1"/>
        </dgm:presLayoutVars>
      </dgm:prSet>
      <dgm:spPr/>
    </dgm:pt>
    <dgm:pt modelId="{768A7015-6B5E-4A60-8DB2-EDADC35EC863}" type="pres">
      <dgm:prSet presAssocID="{9038A635-C5F0-4F3D-9FE1-FF6D16E20431}" presName="aSpace2" presStyleCnt="0"/>
      <dgm:spPr/>
    </dgm:pt>
    <dgm:pt modelId="{7B8659BD-1312-490E-8C93-6B9936798E85}" type="pres">
      <dgm:prSet presAssocID="{198E8DAE-568E-449B-83A1-B512CB72C568}" presName="childNode" presStyleLbl="node1" presStyleIdx="1" presStyleCnt="17">
        <dgm:presLayoutVars>
          <dgm:bulletEnabled val="1"/>
        </dgm:presLayoutVars>
      </dgm:prSet>
      <dgm:spPr/>
    </dgm:pt>
    <dgm:pt modelId="{9D172584-8A4D-4D52-B3C7-287C53FDC483}" type="pres">
      <dgm:prSet presAssocID="{198E8DAE-568E-449B-83A1-B512CB72C568}" presName="aSpace2" presStyleCnt="0"/>
      <dgm:spPr/>
    </dgm:pt>
    <dgm:pt modelId="{6188D18F-2CCD-483E-A6F9-EC9723BEA5C9}" type="pres">
      <dgm:prSet presAssocID="{B1AE10F0-FA19-48D7-BAF1-614F75FB44AD}" presName="childNode" presStyleLbl="node1" presStyleIdx="2" presStyleCnt="17">
        <dgm:presLayoutVars>
          <dgm:bulletEnabled val="1"/>
        </dgm:presLayoutVars>
      </dgm:prSet>
      <dgm:spPr/>
    </dgm:pt>
    <dgm:pt modelId="{13F09E01-8937-4E7A-BDF6-FB9F65873864}" type="pres">
      <dgm:prSet presAssocID="{B1AE10F0-FA19-48D7-BAF1-614F75FB44AD}" presName="aSpace2" presStyleCnt="0"/>
      <dgm:spPr/>
    </dgm:pt>
    <dgm:pt modelId="{8D16C53E-E98B-4E7E-A835-83397C3A49BD}" type="pres">
      <dgm:prSet presAssocID="{4E6AEAB5-5409-46C3-9ABF-EEFC6E18EB72}" presName="childNode" presStyleLbl="node1" presStyleIdx="3" presStyleCnt="17">
        <dgm:presLayoutVars>
          <dgm:bulletEnabled val="1"/>
        </dgm:presLayoutVars>
      </dgm:prSet>
      <dgm:spPr/>
    </dgm:pt>
    <dgm:pt modelId="{425E2AD4-3AAD-439D-8ED3-5B03754FD739}" type="pres">
      <dgm:prSet presAssocID="{4E6AEAB5-5409-46C3-9ABF-EEFC6E18EB72}" presName="aSpace2" presStyleCnt="0"/>
      <dgm:spPr/>
    </dgm:pt>
    <dgm:pt modelId="{2716763F-7C8E-4A9A-B4D6-B85C6E411784}" type="pres">
      <dgm:prSet presAssocID="{C781635C-AD32-4A07-86AC-6F55120BF622}" presName="childNode" presStyleLbl="node1" presStyleIdx="4" presStyleCnt="17">
        <dgm:presLayoutVars>
          <dgm:bulletEnabled val="1"/>
        </dgm:presLayoutVars>
      </dgm:prSet>
      <dgm:spPr/>
    </dgm:pt>
    <dgm:pt modelId="{53BFB495-553A-4D53-82DB-173164F2344F}" type="pres">
      <dgm:prSet presAssocID="{C781635C-AD32-4A07-86AC-6F55120BF622}" presName="aSpace2" presStyleCnt="0"/>
      <dgm:spPr/>
    </dgm:pt>
    <dgm:pt modelId="{BBCAFF97-4869-4C3A-9F38-4F10CC03F67A}" type="pres">
      <dgm:prSet presAssocID="{4588C490-D31A-4412-93D3-A3793DB30279}" presName="childNode" presStyleLbl="node1" presStyleIdx="5" presStyleCnt="17">
        <dgm:presLayoutVars>
          <dgm:bulletEnabled val="1"/>
        </dgm:presLayoutVars>
      </dgm:prSet>
      <dgm:spPr/>
    </dgm:pt>
    <dgm:pt modelId="{581B8BA5-5680-4DFA-B042-099AF45FEB1A}" type="pres">
      <dgm:prSet presAssocID="{4588C490-D31A-4412-93D3-A3793DB30279}" presName="aSpace2" presStyleCnt="0"/>
      <dgm:spPr/>
    </dgm:pt>
    <dgm:pt modelId="{BA2F4A1F-5C4A-410C-8EB6-DFE195296DD7}" type="pres">
      <dgm:prSet presAssocID="{065210C5-3F68-4C21-A06B-2047228DEA1E}" presName="childNode" presStyleLbl="node1" presStyleIdx="6" presStyleCnt="17">
        <dgm:presLayoutVars>
          <dgm:bulletEnabled val="1"/>
        </dgm:presLayoutVars>
      </dgm:prSet>
      <dgm:spPr/>
    </dgm:pt>
    <dgm:pt modelId="{3390654C-D043-4560-9D61-2D6FF7D5FB49}" type="pres">
      <dgm:prSet presAssocID="{065210C5-3F68-4C21-A06B-2047228DEA1E}" presName="aSpace2" presStyleCnt="0"/>
      <dgm:spPr/>
    </dgm:pt>
    <dgm:pt modelId="{DFDFEF96-66CC-448F-9ABF-B2A8B9F8BFD1}" type="pres">
      <dgm:prSet presAssocID="{4CFC3303-AE75-4C69-8E16-7B5F4535D3BE}" presName="childNode" presStyleLbl="node1" presStyleIdx="7" presStyleCnt="17">
        <dgm:presLayoutVars>
          <dgm:bulletEnabled val="1"/>
        </dgm:presLayoutVars>
      </dgm:prSet>
      <dgm:spPr/>
    </dgm:pt>
    <dgm:pt modelId="{109CDACC-FC54-4145-A2FB-2C2D0129B705}" type="pres">
      <dgm:prSet presAssocID="{D13C3FA9-A193-4D09-85D4-797588C4FCD7}" presName="aSpace" presStyleCnt="0"/>
      <dgm:spPr/>
    </dgm:pt>
    <dgm:pt modelId="{79F181E1-8A41-4887-9AEA-DF0AAD0F79A6}" type="pres">
      <dgm:prSet presAssocID="{A66DD62A-FD71-4537-8A9C-CB83CFEC2901}" presName="compNode" presStyleCnt="0"/>
      <dgm:spPr/>
    </dgm:pt>
    <dgm:pt modelId="{B87203E0-B074-4BB7-9F6D-05A6ADA30F45}" type="pres">
      <dgm:prSet presAssocID="{A66DD62A-FD71-4537-8A9C-CB83CFEC2901}" presName="aNode" presStyleLbl="bgShp" presStyleIdx="1" presStyleCnt="3"/>
      <dgm:spPr/>
    </dgm:pt>
    <dgm:pt modelId="{9EF2DFD0-CEED-4311-9888-56664054F016}" type="pres">
      <dgm:prSet presAssocID="{A66DD62A-FD71-4537-8A9C-CB83CFEC2901}" presName="textNode" presStyleLbl="bgShp" presStyleIdx="1" presStyleCnt="3"/>
      <dgm:spPr/>
    </dgm:pt>
    <dgm:pt modelId="{3B41DB2F-3C62-4C9F-A5BA-8DD93B4C8B93}" type="pres">
      <dgm:prSet presAssocID="{A66DD62A-FD71-4537-8A9C-CB83CFEC2901}" presName="compChildNode" presStyleCnt="0"/>
      <dgm:spPr/>
    </dgm:pt>
    <dgm:pt modelId="{8ACADF64-F812-4F96-810B-0F6BD57F11E4}" type="pres">
      <dgm:prSet presAssocID="{A66DD62A-FD71-4537-8A9C-CB83CFEC2901}" presName="theInnerList" presStyleCnt="0"/>
      <dgm:spPr/>
    </dgm:pt>
    <dgm:pt modelId="{5EBBE8ED-D47E-47BB-A339-6F72A97E954A}" type="pres">
      <dgm:prSet presAssocID="{F64B8A84-B536-48C0-9E22-1E8EE1714B5B}" presName="childNode" presStyleLbl="node1" presStyleIdx="8" presStyleCnt="17">
        <dgm:presLayoutVars>
          <dgm:bulletEnabled val="1"/>
        </dgm:presLayoutVars>
      </dgm:prSet>
      <dgm:spPr/>
    </dgm:pt>
    <dgm:pt modelId="{B5E8F975-231B-4BD8-B5CA-58F40A0BDA67}" type="pres">
      <dgm:prSet presAssocID="{F64B8A84-B536-48C0-9E22-1E8EE1714B5B}" presName="aSpace2" presStyleCnt="0"/>
      <dgm:spPr/>
    </dgm:pt>
    <dgm:pt modelId="{4EE9CD01-3C24-4EF4-A21B-FB8D3EFFBAC0}" type="pres">
      <dgm:prSet presAssocID="{06F25BED-F21B-47AB-8E27-4C0BE1A5A296}" presName="childNode" presStyleLbl="node1" presStyleIdx="9" presStyleCnt="17">
        <dgm:presLayoutVars>
          <dgm:bulletEnabled val="1"/>
        </dgm:presLayoutVars>
      </dgm:prSet>
      <dgm:spPr/>
    </dgm:pt>
    <dgm:pt modelId="{DF3DE949-5520-4D3C-9B83-828D099CE8E6}" type="pres">
      <dgm:prSet presAssocID="{06F25BED-F21B-47AB-8E27-4C0BE1A5A296}" presName="aSpace2" presStyleCnt="0"/>
      <dgm:spPr/>
    </dgm:pt>
    <dgm:pt modelId="{FA191985-E31B-49EB-96A6-4B6535713D8B}" type="pres">
      <dgm:prSet presAssocID="{5FA02BA7-8C08-41DC-BA8A-BED324DC1433}" presName="childNode" presStyleLbl="node1" presStyleIdx="10" presStyleCnt="17">
        <dgm:presLayoutVars>
          <dgm:bulletEnabled val="1"/>
        </dgm:presLayoutVars>
      </dgm:prSet>
      <dgm:spPr/>
    </dgm:pt>
    <dgm:pt modelId="{6DD026C9-6217-474F-B5CA-7899183CB9C8}" type="pres">
      <dgm:prSet presAssocID="{5FA02BA7-8C08-41DC-BA8A-BED324DC1433}" presName="aSpace2" presStyleCnt="0"/>
      <dgm:spPr/>
    </dgm:pt>
    <dgm:pt modelId="{FC6A178C-3652-4826-B502-AED6BD15B0C4}" type="pres">
      <dgm:prSet presAssocID="{FF23C117-3399-4C2F-80E3-DE876298DF4E}" presName="childNode" presStyleLbl="node1" presStyleIdx="11" presStyleCnt="17">
        <dgm:presLayoutVars>
          <dgm:bulletEnabled val="1"/>
        </dgm:presLayoutVars>
      </dgm:prSet>
      <dgm:spPr/>
    </dgm:pt>
    <dgm:pt modelId="{E0C87E3F-43CC-46E6-8C8E-21AA7442F13A}" type="pres">
      <dgm:prSet presAssocID="{FF23C117-3399-4C2F-80E3-DE876298DF4E}" presName="aSpace2" presStyleCnt="0"/>
      <dgm:spPr/>
    </dgm:pt>
    <dgm:pt modelId="{34C241D6-D469-434D-82B3-4EA23B917185}" type="pres">
      <dgm:prSet presAssocID="{A1E6F075-9702-4A92-884F-E43E3C4C1C1F}" presName="childNode" presStyleLbl="node1" presStyleIdx="12" presStyleCnt="17">
        <dgm:presLayoutVars>
          <dgm:bulletEnabled val="1"/>
        </dgm:presLayoutVars>
      </dgm:prSet>
      <dgm:spPr/>
    </dgm:pt>
    <dgm:pt modelId="{2745E078-E2E4-42C7-95E5-259CB37AB09A}" type="pres">
      <dgm:prSet presAssocID="{A66DD62A-FD71-4537-8A9C-CB83CFEC2901}" presName="aSpace" presStyleCnt="0"/>
      <dgm:spPr/>
    </dgm:pt>
    <dgm:pt modelId="{184B5B13-C659-4FD9-97A7-E599BB43036B}" type="pres">
      <dgm:prSet presAssocID="{A7D19864-F478-4BEE-BCCC-85FF726EFD77}" presName="compNode" presStyleCnt="0"/>
      <dgm:spPr/>
    </dgm:pt>
    <dgm:pt modelId="{07A0974B-4A4F-40B5-99C3-D9AE4B803FA3}" type="pres">
      <dgm:prSet presAssocID="{A7D19864-F478-4BEE-BCCC-85FF726EFD77}" presName="aNode" presStyleLbl="bgShp" presStyleIdx="2" presStyleCnt="3"/>
      <dgm:spPr/>
    </dgm:pt>
    <dgm:pt modelId="{7DEA7F80-5A2C-4698-AFA3-4AFCA11E93FB}" type="pres">
      <dgm:prSet presAssocID="{A7D19864-F478-4BEE-BCCC-85FF726EFD77}" presName="textNode" presStyleLbl="bgShp" presStyleIdx="2" presStyleCnt="3"/>
      <dgm:spPr/>
    </dgm:pt>
    <dgm:pt modelId="{5C93673A-56F1-45CA-BFB2-D1E70FEB1D9A}" type="pres">
      <dgm:prSet presAssocID="{A7D19864-F478-4BEE-BCCC-85FF726EFD77}" presName="compChildNode" presStyleCnt="0"/>
      <dgm:spPr/>
    </dgm:pt>
    <dgm:pt modelId="{F085C8D5-007F-48A7-A0A6-EA913CFD25FD}" type="pres">
      <dgm:prSet presAssocID="{A7D19864-F478-4BEE-BCCC-85FF726EFD77}" presName="theInnerList" presStyleCnt="0"/>
      <dgm:spPr/>
    </dgm:pt>
    <dgm:pt modelId="{9FF2914D-763F-4E57-AFE1-8DC00FD16495}" type="pres">
      <dgm:prSet presAssocID="{2CF2AEC0-1C67-496C-A937-881227713383}" presName="childNode" presStyleLbl="node1" presStyleIdx="13" presStyleCnt="17">
        <dgm:presLayoutVars>
          <dgm:bulletEnabled val="1"/>
        </dgm:presLayoutVars>
      </dgm:prSet>
      <dgm:spPr/>
    </dgm:pt>
    <dgm:pt modelId="{F7DB841B-2980-4F61-B1D9-616E03F29B31}" type="pres">
      <dgm:prSet presAssocID="{2CF2AEC0-1C67-496C-A937-881227713383}" presName="aSpace2" presStyleCnt="0"/>
      <dgm:spPr/>
    </dgm:pt>
    <dgm:pt modelId="{7C1B8114-232F-4F23-9612-7E3B87CA6135}" type="pres">
      <dgm:prSet presAssocID="{58A411CD-880E-4D1A-89D5-BD00687F5038}" presName="childNode" presStyleLbl="node1" presStyleIdx="14" presStyleCnt="17">
        <dgm:presLayoutVars>
          <dgm:bulletEnabled val="1"/>
        </dgm:presLayoutVars>
      </dgm:prSet>
      <dgm:spPr/>
    </dgm:pt>
    <dgm:pt modelId="{D9BE823F-52F2-4A15-BAAB-1B50EA34414E}" type="pres">
      <dgm:prSet presAssocID="{58A411CD-880E-4D1A-89D5-BD00687F5038}" presName="aSpace2" presStyleCnt="0"/>
      <dgm:spPr/>
    </dgm:pt>
    <dgm:pt modelId="{CA5F9AC7-2332-46D0-A5AE-57C4A48BD1D9}" type="pres">
      <dgm:prSet presAssocID="{692D8683-F555-45FE-8979-1A83CD9D3E6C}" presName="childNode" presStyleLbl="node1" presStyleIdx="15" presStyleCnt="17">
        <dgm:presLayoutVars>
          <dgm:bulletEnabled val="1"/>
        </dgm:presLayoutVars>
      </dgm:prSet>
      <dgm:spPr/>
    </dgm:pt>
    <dgm:pt modelId="{076B0520-510D-484A-B733-D6F357B4E94C}" type="pres">
      <dgm:prSet presAssocID="{692D8683-F555-45FE-8979-1A83CD9D3E6C}" presName="aSpace2" presStyleCnt="0"/>
      <dgm:spPr/>
    </dgm:pt>
    <dgm:pt modelId="{5E9C1A7C-4124-4BDD-9A63-D71FEE32ED8C}" type="pres">
      <dgm:prSet presAssocID="{761AE283-8DC7-4E6A-A3D5-F2448DEAE060}" presName="childNode" presStyleLbl="node1" presStyleIdx="16" presStyleCnt="17">
        <dgm:presLayoutVars>
          <dgm:bulletEnabled val="1"/>
        </dgm:presLayoutVars>
      </dgm:prSet>
      <dgm:spPr/>
    </dgm:pt>
  </dgm:ptLst>
  <dgm:cxnLst>
    <dgm:cxn modelId="{8930A500-D8E5-441C-8871-E38B006510AE}" srcId="{D13C3FA9-A193-4D09-85D4-797588C4FCD7}" destId="{198E8DAE-568E-449B-83A1-B512CB72C568}" srcOrd="1" destOrd="0" parTransId="{C2A4810B-B017-4787-8944-5D354CE63A14}" sibTransId="{151C7C65-86CB-4676-B18F-B693E5A9FB6A}"/>
    <dgm:cxn modelId="{D5100904-61D6-4BED-B132-91711D45CED4}" type="presOf" srcId="{A66DD62A-FD71-4537-8A9C-CB83CFEC2901}" destId="{B87203E0-B074-4BB7-9F6D-05A6ADA30F45}" srcOrd="0" destOrd="0" presId="urn:microsoft.com/office/officeart/2005/8/layout/lProcess2"/>
    <dgm:cxn modelId="{8EE81704-D761-4E3E-907B-EC23F110573E}" type="presOf" srcId="{F64B8A84-B536-48C0-9E22-1E8EE1714B5B}" destId="{5EBBE8ED-D47E-47BB-A339-6F72A97E954A}" srcOrd="0" destOrd="0" presId="urn:microsoft.com/office/officeart/2005/8/layout/lProcess2"/>
    <dgm:cxn modelId="{2E78990B-6CD1-447B-A345-751F9C6F2843}" type="presOf" srcId="{C781635C-AD32-4A07-86AC-6F55120BF622}" destId="{2716763F-7C8E-4A9A-B4D6-B85C6E411784}" srcOrd="0" destOrd="0" presId="urn:microsoft.com/office/officeart/2005/8/layout/lProcess2"/>
    <dgm:cxn modelId="{86029D0F-E1E1-4722-AF3C-5DF92AC45A8F}" type="presOf" srcId="{A7D19864-F478-4BEE-BCCC-85FF726EFD77}" destId="{07A0974B-4A4F-40B5-99C3-D9AE4B803FA3}" srcOrd="0" destOrd="0" presId="urn:microsoft.com/office/officeart/2005/8/layout/lProcess2"/>
    <dgm:cxn modelId="{D47A5313-7B5E-45C9-B25F-409D672184B1}" srcId="{A66DD62A-FD71-4537-8A9C-CB83CFEC2901}" destId="{FF23C117-3399-4C2F-80E3-DE876298DF4E}" srcOrd="3" destOrd="0" parTransId="{BBB324B8-9125-4AC8-A872-E5C960C29381}" sibTransId="{D6898D3B-1C93-4CCA-938D-59824359DCED}"/>
    <dgm:cxn modelId="{95BC4D14-09BD-4C61-AFB3-8406056C68FA}" srcId="{4FC6A791-5A75-4144-8B83-F21BD50A274F}" destId="{A66DD62A-FD71-4537-8A9C-CB83CFEC2901}" srcOrd="1" destOrd="0" parTransId="{4FF7D02D-9514-4BAE-9800-330B88368390}" sibTransId="{06845BE8-F350-427F-B79D-EF6A8471E83A}"/>
    <dgm:cxn modelId="{7AE5FF18-1936-4477-9B2E-E75E1D3B64CE}" type="presOf" srcId="{FF23C117-3399-4C2F-80E3-DE876298DF4E}" destId="{FC6A178C-3652-4826-B502-AED6BD15B0C4}" srcOrd="0" destOrd="0" presId="urn:microsoft.com/office/officeart/2005/8/layout/lProcess2"/>
    <dgm:cxn modelId="{FFA71F1B-617C-4CCD-85BA-28DAD6C815DD}" type="presOf" srcId="{A7D19864-F478-4BEE-BCCC-85FF726EFD77}" destId="{7DEA7F80-5A2C-4698-AFA3-4AFCA11E93FB}" srcOrd="1" destOrd="0" presId="urn:microsoft.com/office/officeart/2005/8/layout/lProcess2"/>
    <dgm:cxn modelId="{11925D2C-5A4B-408E-87C5-70B291A6AE62}" srcId="{A7D19864-F478-4BEE-BCCC-85FF726EFD77}" destId="{2CF2AEC0-1C67-496C-A937-881227713383}" srcOrd="0" destOrd="0" parTransId="{A08214E0-0516-4888-88BA-AD0AD1031E00}" sibTransId="{D0ED6B3D-63AE-4E16-A28A-776E77E19779}"/>
    <dgm:cxn modelId="{154C772E-D5E5-4563-A403-E6BB61D3C4E3}" type="presOf" srcId="{D13C3FA9-A193-4D09-85D4-797588C4FCD7}" destId="{861422ED-2B9C-4C84-B551-1FB09B514240}" srcOrd="0" destOrd="0" presId="urn:microsoft.com/office/officeart/2005/8/layout/lProcess2"/>
    <dgm:cxn modelId="{33F9EB61-3A7F-4569-A238-FFE9BED29770}" type="presOf" srcId="{198E8DAE-568E-449B-83A1-B512CB72C568}" destId="{7B8659BD-1312-490E-8C93-6B9936798E85}" srcOrd="0" destOrd="0" presId="urn:microsoft.com/office/officeart/2005/8/layout/lProcess2"/>
    <dgm:cxn modelId="{26A02945-E40C-4584-AA4A-DDBF6C18004E}" srcId="{D13C3FA9-A193-4D09-85D4-797588C4FCD7}" destId="{9038A635-C5F0-4F3D-9FE1-FF6D16E20431}" srcOrd="0" destOrd="0" parTransId="{3CF72DD1-F39F-4F53-8E8E-DB2C5789E9AF}" sibTransId="{55E4AC04-B3E4-4DDF-87CD-BB88D769E5C1}"/>
    <dgm:cxn modelId="{39D1CF45-B0BE-4CC0-9B92-BBCA43D3018F}" srcId="{A7D19864-F478-4BEE-BCCC-85FF726EFD77}" destId="{761AE283-8DC7-4E6A-A3D5-F2448DEAE060}" srcOrd="3" destOrd="0" parTransId="{45D5C544-2AB0-48A6-96E7-C419830247D9}" sibTransId="{AF5A97EF-2524-463E-B065-F5E7AB5CD670}"/>
    <dgm:cxn modelId="{7DE34C47-8517-46B2-BB25-841203DA0FA2}" srcId="{D13C3FA9-A193-4D09-85D4-797588C4FCD7}" destId="{C781635C-AD32-4A07-86AC-6F55120BF622}" srcOrd="4" destOrd="0" parTransId="{0930A01E-B79F-43C0-A495-CE7DFBD52D1F}" sibTransId="{608AE570-24BF-41B7-A654-3D41F926FBCE}"/>
    <dgm:cxn modelId="{4D8F2D6F-6E49-4532-9F7D-69994F2E9B1D}" type="presOf" srcId="{06F25BED-F21B-47AB-8E27-4C0BE1A5A296}" destId="{4EE9CD01-3C24-4EF4-A21B-FB8D3EFFBAC0}" srcOrd="0" destOrd="0" presId="urn:microsoft.com/office/officeart/2005/8/layout/lProcess2"/>
    <dgm:cxn modelId="{C3FB486F-8081-47B7-B730-26EC63FF99C7}" type="presOf" srcId="{4FC6A791-5A75-4144-8B83-F21BD50A274F}" destId="{CF004109-40C2-4418-98D0-7CEC1E06159E}" srcOrd="0" destOrd="0" presId="urn:microsoft.com/office/officeart/2005/8/layout/lProcess2"/>
    <dgm:cxn modelId="{9DEDE572-1917-488D-AF2C-4A8342839377}" type="presOf" srcId="{B1AE10F0-FA19-48D7-BAF1-614F75FB44AD}" destId="{6188D18F-2CCD-483E-A6F9-EC9723BEA5C9}" srcOrd="0" destOrd="0" presId="urn:microsoft.com/office/officeart/2005/8/layout/lProcess2"/>
    <dgm:cxn modelId="{3385CA55-57A7-4431-9910-37E73AF20E4E}" srcId="{D13C3FA9-A193-4D09-85D4-797588C4FCD7}" destId="{4E6AEAB5-5409-46C3-9ABF-EEFC6E18EB72}" srcOrd="3" destOrd="0" parTransId="{22C22E14-D0AD-43BC-92C4-74197AE43199}" sibTransId="{99AB774F-F124-4544-95B5-1FFACEAABF64}"/>
    <dgm:cxn modelId="{1AFDC67B-E61C-403F-91AB-1C9712E200E5}" type="presOf" srcId="{9038A635-C5F0-4F3D-9FE1-FF6D16E20431}" destId="{7A4BF01E-2A97-48CE-A8D6-5B3109FE778B}" srcOrd="0" destOrd="0" presId="urn:microsoft.com/office/officeart/2005/8/layout/lProcess2"/>
    <dgm:cxn modelId="{0BC4287D-3A90-41CE-9450-7049C9E567CC}" srcId="{A7D19864-F478-4BEE-BCCC-85FF726EFD77}" destId="{692D8683-F555-45FE-8979-1A83CD9D3E6C}" srcOrd="2" destOrd="0" parTransId="{09D6AA3C-F7B1-4F63-BEB6-D1DA4C87A9ED}" sibTransId="{AAA34147-1F79-43BD-A8FC-E1129FB0A6A3}"/>
    <dgm:cxn modelId="{17FA2281-A242-479A-8F23-344670D2B150}" srcId="{D13C3FA9-A193-4D09-85D4-797588C4FCD7}" destId="{B1AE10F0-FA19-48D7-BAF1-614F75FB44AD}" srcOrd="2" destOrd="0" parTransId="{588CF655-6B34-457A-ABC7-8B229559EC28}" sibTransId="{3D8ACF5F-31A4-40CF-8987-DDD5EAC1DDB9}"/>
    <dgm:cxn modelId="{CAF20B83-7AB3-482E-B38F-29D2F1367C66}" srcId="{A66DD62A-FD71-4537-8A9C-CB83CFEC2901}" destId="{06F25BED-F21B-47AB-8E27-4C0BE1A5A296}" srcOrd="1" destOrd="0" parTransId="{67C316C8-9B73-44F9-BDB4-61AB1E900095}" sibTransId="{020A2623-A32F-41D1-8C62-F38F63A9AA95}"/>
    <dgm:cxn modelId="{F0FCB384-1EEC-4E5B-A205-80B7E8B4B283}" srcId="{D13C3FA9-A193-4D09-85D4-797588C4FCD7}" destId="{4CFC3303-AE75-4C69-8E16-7B5F4535D3BE}" srcOrd="7" destOrd="0" parTransId="{80F08B0D-2D4C-447B-B3AB-3F4C6A02A0B6}" sibTransId="{F72EE196-DC2D-4AE9-8319-B02B60D1B7D4}"/>
    <dgm:cxn modelId="{47B8C686-07F5-461E-96D2-47B619AFF54E}" type="presOf" srcId="{761AE283-8DC7-4E6A-A3D5-F2448DEAE060}" destId="{5E9C1A7C-4124-4BDD-9A63-D71FEE32ED8C}" srcOrd="0" destOrd="0" presId="urn:microsoft.com/office/officeart/2005/8/layout/lProcess2"/>
    <dgm:cxn modelId="{47FD0F9A-2F73-4EE4-8627-F5B63E724613}" type="presOf" srcId="{4588C490-D31A-4412-93D3-A3793DB30279}" destId="{BBCAFF97-4869-4C3A-9F38-4F10CC03F67A}" srcOrd="0" destOrd="0" presId="urn:microsoft.com/office/officeart/2005/8/layout/lProcess2"/>
    <dgm:cxn modelId="{239F229A-10F6-4833-9413-9749DD66F316}" srcId="{A66DD62A-FD71-4537-8A9C-CB83CFEC2901}" destId="{5FA02BA7-8C08-41DC-BA8A-BED324DC1433}" srcOrd="2" destOrd="0" parTransId="{0A0070EF-EEC1-4139-A04F-6383EB367AEB}" sibTransId="{31C82C4F-2CBD-43B2-8046-32FCE68CADA2}"/>
    <dgm:cxn modelId="{3A30ED9F-EAAB-45F5-A08B-CA0194454D44}" type="presOf" srcId="{065210C5-3F68-4C21-A06B-2047228DEA1E}" destId="{BA2F4A1F-5C4A-410C-8EB6-DFE195296DD7}" srcOrd="0" destOrd="0" presId="urn:microsoft.com/office/officeart/2005/8/layout/lProcess2"/>
    <dgm:cxn modelId="{2BA65BA5-A1FE-4116-9FE6-88F1AFFBFB6F}" type="presOf" srcId="{A66DD62A-FD71-4537-8A9C-CB83CFEC2901}" destId="{9EF2DFD0-CEED-4311-9888-56664054F016}" srcOrd="1" destOrd="0" presId="urn:microsoft.com/office/officeart/2005/8/layout/lProcess2"/>
    <dgm:cxn modelId="{68F7C6A6-D39C-4F60-B7D3-8741D345D846}" srcId="{A66DD62A-FD71-4537-8A9C-CB83CFEC2901}" destId="{A1E6F075-9702-4A92-884F-E43E3C4C1C1F}" srcOrd="4" destOrd="0" parTransId="{85D715B8-8D7D-49D9-8D20-6A837724939B}" sibTransId="{E887E23E-CBEC-43EB-952B-A239586599C4}"/>
    <dgm:cxn modelId="{85449CBC-F9A4-4FF6-8D48-AB36FE98BD6F}" srcId="{4FC6A791-5A75-4144-8B83-F21BD50A274F}" destId="{D13C3FA9-A193-4D09-85D4-797588C4FCD7}" srcOrd="0" destOrd="0" parTransId="{C2CB0438-B2EC-47A6-9926-671C95F5EFCB}" sibTransId="{6791AA70-BABD-486F-8A73-B4FB66D2A77C}"/>
    <dgm:cxn modelId="{3772F8BD-B0B6-4E6D-BFE9-620FA38A9F7E}" srcId="{4FC6A791-5A75-4144-8B83-F21BD50A274F}" destId="{A7D19864-F478-4BEE-BCCC-85FF726EFD77}" srcOrd="2" destOrd="0" parTransId="{C961B536-4C3C-49C8-9DA6-A31B5B1976CD}" sibTransId="{EB729E2F-0617-4C3F-8681-6197B1E6AB3B}"/>
    <dgm:cxn modelId="{52730CCC-18BC-4B10-BB64-27BB945C5DB8}" type="presOf" srcId="{5FA02BA7-8C08-41DC-BA8A-BED324DC1433}" destId="{FA191985-E31B-49EB-96A6-4B6535713D8B}" srcOrd="0" destOrd="0" presId="urn:microsoft.com/office/officeart/2005/8/layout/lProcess2"/>
    <dgm:cxn modelId="{EBD550CE-57C1-4063-A796-D2CAE2CC0C31}" srcId="{A66DD62A-FD71-4537-8A9C-CB83CFEC2901}" destId="{F64B8A84-B536-48C0-9E22-1E8EE1714B5B}" srcOrd="0" destOrd="0" parTransId="{FDC4ED67-BD04-47DE-A4F1-C223DD5F3C29}" sibTransId="{D433597E-68F0-45C1-8890-0E1A4E0CDA9D}"/>
    <dgm:cxn modelId="{C4E904D8-F75C-4921-9C10-CAB36856F1A8}" srcId="{A7D19864-F478-4BEE-BCCC-85FF726EFD77}" destId="{58A411CD-880E-4D1A-89D5-BD00687F5038}" srcOrd="1" destOrd="0" parTransId="{31B92818-2A26-4437-BE0E-1BBB02B8286E}" sibTransId="{150FD26A-72FF-4B63-B0B1-B4FF5BE32037}"/>
    <dgm:cxn modelId="{52FB97DE-E4B1-4E3D-A1CB-E38E3D7A367E}" type="presOf" srcId="{A1E6F075-9702-4A92-884F-E43E3C4C1C1F}" destId="{34C241D6-D469-434D-82B3-4EA23B917185}" srcOrd="0" destOrd="0" presId="urn:microsoft.com/office/officeart/2005/8/layout/lProcess2"/>
    <dgm:cxn modelId="{5EBCBFE9-46B7-4E4A-A6BE-11799DDD0CC6}" type="presOf" srcId="{4CFC3303-AE75-4C69-8E16-7B5F4535D3BE}" destId="{DFDFEF96-66CC-448F-9ABF-B2A8B9F8BFD1}" srcOrd="0" destOrd="0" presId="urn:microsoft.com/office/officeart/2005/8/layout/lProcess2"/>
    <dgm:cxn modelId="{54FF91F2-04E9-44E8-A347-4C263FE58DDD}" type="presOf" srcId="{D13C3FA9-A193-4D09-85D4-797588C4FCD7}" destId="{1CA663C6-BC9B-4FF5-9839-6CE88CB820AC}" srcOrd="1" destOrd="0" presId="urn:microsoft.com/office/officeart/2005/8/layout/lProcess2"/>
    <dgm:cxn modelId="{8EB25CF5-7E14-47A4-8EC7-55924787656E}" type="presOf" srcId="{692D8683-F555-45FE-8979-1A83CD9D3E6C}" destId="{CA5F9AC7-2332-46D0-A5AE-57C4A48BD1D9}" srcOrd="0" destOrd="0" presId="urn:microsoft.com/office/officeart/2005/8/layout/lProcess2"/>
    <dgm:cxn modelId="{EA979CF5-9747-4301-BA2B-2C569517DADC}" type="presOf" srcId="{4E6AEAB5-5409-46C3-9ABF-EEFC6E18EB72}" destId="{8D16C53E-E98B-4E7E-A835-83397C3A49BD}" srcOrd="0" destOrd="0" presId="urn:microsoft.com/office/officeart/2005/8/layout/lProcess2"/>
    <dgm:cxn modelId="{2CCFDCF6-3EB8-4230-BB63-C69F5EFB3F49}" type="presOf" srcId="{2CF2AEC0-1C67-496C-A937-881227713383}" destId="{9FF2914D-763F-4E57-AFE1-8DC00FD16495}" srcOrd="0" destOrd="0" presId="urn:microsoft.com/office/officeart/2005/8/layout/lProcess2"/>
    <dgm:cxn modelId="{C37D0AF8-DB5F-4200-BF23-818823BD97C8}" srcId="{D13C3FA9-A193-4D09-85D4-797588C4FCD7}" destId="{065210C5-3F68-4C21-A06B-2047228DEA1E}" srcOrd="6" destOrd="0" parTransId="{4C57E596-6BE1-4405-9961-1C5757F32023}" sibTransId="{A1294C6F-A83F-40C8-8CC3-A7637A36128D}"/>
    <dgm:cxn modelId="{39D29DFD-773E-470D-8081-44A53A9C963A}" type="presOf" srcId="{58A411CD-880E-4D1A-89D5-BD00687F5038}" destId="{7C1B8114-232F-4F23-9612-7E3B87CA6135}" srcOrd="0" destOrd="0" presId="urn:microsoft.com/office/officeart/2005/8/layout/lProcess2"/>
    <dgm:cxn modelId="{DF55F6FF-1E78-45D6-8233-AB187A599F0B}" srcId="{D13C3FA9-A193-4D09-85D4-797588C4FCD7}" destId="{4588C490-D31A-4412-93D3-A3793DB30279}" srcOrd="5" destOrd="0" parTransId="{C504E152-8648-4761-860A-B1F0B4B9B4FB}" sibTransId="{7910F901-034E-4D22-8242-16C9E63E106F}"/>
    <dgm:cxn modelId="{6E0D9EB4-C3E8-48BA-9667-91B2185D0873}" type="presParOf" srcId="{CF004109-40C2-4418-98D0-7CEC1E06159E}" destId="{BDC4AD5F-3BA4-4E53-BD21-C83632578CC1}" srcOrd="0" destOrd="0" presId="urn:microsoft.com/office/officeart/2005/8/layout/lProcess2"/>
    <dgm:cxn modelId="{7FC036D6-814F-46FD-8C17-5ADFAC012CF0}" type="presParOf" srcId="{BDC4AD5F-3BA4-4E53-BD21-C83632578CC1}" destId="{861422ED-2B9C-4C84-B551-1FB09B514240}" srcOrd="0" destOrd="0" presId="urn:microsoft.com/office/officeart/2005/8/layout/lProcess2"/>
    <dgm:cxn modelId="{88DC0743-790D-4B3F-BC3A-459FDE9B5BA2}" type="presParOf" srcId="{BDC4AD5F-3BA4-4E53-BD21-C83632578CC1}" destId="{1CA663C6-BC9B-4FF5-9839-6CE88CB820AC}" srcOrd="1" destOrd="0" presId="urn:microsoft.com/office/officeart/2005/8/layout/lProcess2"/>
    <dgm:cxn modelId="{27E537DA-9C3B-4324-98B2-9E15B933D404}" type="presParOf" srcId="{BDC4AD5F-3BA4-4E53-BD21-C83632578CC1}" destId="{0544A7BC-A4F2-451B-AEF7-DBCD21CFB49B}" srcOrd="2" destOrd="0" presId="urn:microsoft.com/office/officeart/2005/8/layout/lProcess2"/>
    <dgm:cxn modelId="{B2845A8B-2AA9-4E60-A342-CDBB8C3F7DC1}" type="presParOf" srcId="{0544A7BC-A4F2-451B-AEF7-DBCD21CFB49B}" destId="{56DF333A-08E0-4629-AFC2-931C10F9385F}" srcOrd="0" destOrd="0" presId="urn:microsoft.com/office/officeart/2005/8/layout/lProcess2"/>
    <dgm:cxn modelId="{825C507B-FB24-4C00-9B0E-B3AC588241AB}" type="presParOf" srcId="{56DF333A-08E0-4629-AFC2-931C10F9385F}" destId="{7A4BF01E-2A97-48CE-A8D6-5B3109FE778B}" srcOrd="0" destOrd="0" presId="urn:microsoft.com/office/officeart/2005/8/layout/lProcess2"/>
    <dgm:cxn modelId="{7FE114AB-67FA-4521-B090-EF3B93F75358}" type="presParOf" srcId="{56DF333A-08E0-4629-AFC2-931C10F9385F}" destId="{768A7015-6B5E-4A60-8DB2-EDADC35EC863}" srcOrd="1" destOrd="0" presId="urn:microsoft.com/office/officeart/2005/8/layout/lProcess2"/>
    <dgm:cxn modelId="{65D06C31-DF8D-4028-B296-826CF53DDAE5}" type="presParOf" srcId="{56DF333A-08E0-4629-AFC2-931C10F9385F}" destId="{7B8659BD-1312-490E-8C93-6B9936798E85}" srcOrd="2" destOrd="0" presId="urn:microsoft.com/office/officeart/2005/8/layout/lProcess2"/>
    <dgm:cxn modelId="{F6774C61-BA6D-4053-A93F-7F2F39EA6D2A}" type="presParOf" srcId="{56DF333A-08E0-4629-AFC2-931C10F9385F}" destId="{9D172584-8A4D-4D52-B3C7-287C53FDC483}" srcOrd="3" destOrd="0" presId="urn:microsoft.com/office/officeart/2005/8/layout/lProcess2"/>
    <dgm:cxn modelId="{6AFD65C9-3770-4F3E-BDFF-8CC2FB995A32}" type="presParOf" srcId="{56DF333A-08E0-4629-AFC2-931C10F9385F}" destId="{6188D18F-2CCD-483E-A6F9-EC9723BEA5C9}" srcOrd="4" destOrd="0" presId="urn:microsoft.com/office/officeart/2005/8/layout/lProcess2"/>
    <dgm:cxn modelId="{13DDB87B-71B8-4370-AFEC-3402E7C67935}" type="presParOf" srcId="{56DF333A-08E0-4629-AFC2-931C10F9385F}" destId="{13F09E01-8937-4E7A-BDF6-FB9F65873864}" srcOrd="5" destOrd="0" presId="urn:microsoft.com/office/officeart/2005/8/layout/lProcess2"/>
    <dgm:cxn modelId="{06708E5C-6C89-4482-AAF2-201E632971FC}" type="presParOf" srcId="{56DF333A-08E0-4629-AFC2-931C10F9385F}" destId="{8D16C53E-E98B-4E7E-A835-83397C3A49BD}" srcOrd="6" destOrd="0" presId="urn:microsoft.com/office/officeart/2005/8/layout/lProcess2"/>
    <dgm:cxn modelId="{80C3D16F-1A95-4ED0-A602-5E0D0C9C6EE4}" type="presParOf" srcId="{56DF333A-08E0-4629-AFC2-931C10F9385F}" destId="{425E2AD4-3AAD-439D-8ED3-5B03754FD739}" srcOrd="7" destOrd="0" presId="urn:microsoft.com/office/officeart/2005/8/layout/lProcess2"/>
    <dgm:cxn modelId="{2F1B883D-5CDD-4DF8-85A2-6FA600276CD3}" type="presParOf" srcId="{56DF333A-08E0-4629-AFC2-931C10F9385F}" destId="{2716763F-7C8E-4A9A-B4D6-B85C6E411784}" srcOrd="8" destOrd="0" presId="urn:microsoft.com/office/officeart/2005/8/layout/lProcess2"/>
    <dgm:cxn modelId="{CE3E7F88-4A13-48D1-A11C-BF3F539D0A13}" type="presParOf" srcId="{56DF333A-08E0-4629-AFC2-931C10F9385F}" destId="{53BFB495-553A-4D53-82DB-173164F2344F}" srcOrd="9" destOrd="0" presId="urn:microsoft.com/office/officeart/2005/8/layout/lProcess2"/>
    <dgm:cxn modelId="{2617704E-52ED-446D-8100-8865F0DB8172}" type="presParOf" srcId="{56DF333A-08E0-4629-AFC2-931C10F9385F}" destId="{BBCAFF97-4869-4C3A-9F38-4F10CC03F67A}" srcOrd="10" destOrd="0" presId="urn:microsoft.com/office/officeart/2005/8/layout/lProcess2"/>
    <dgm:cxn modelId="{755C330A-450D-481C-B51D-481432F82EF4}" type="presParOf" srcId="{56DF333A-08E0-4629-AFC2-931C10F9385F}" destId="{581B8BA5-5680-4DFA-B042-099AF45FEB1A}" srcOrd="11" destOrd="0" presId="urn:microsoft.com/office/officeart/2005/8/layout/lProcess2"/>
    <dgm:cxn modelId="{0A15097A-5FB3-4CF9-8158-1618C62F3C99}" type="presParOf" srcId="{56DF333A-08E0-4629-AFC2-931C10F9385F}" destId="{BA2F4A1F-5C4A-410C-8EB6-DFE195296DD7}" srcOrd="12" destOrd="0" presId="urn:microsoft.com/office/officeart/2005/8/layout/lProcess2"/>
    <dgm:cxn modelId="{B7E3DAB8-ABCB-46CF-B1D9-3013CC29CFE2}" type="presParOf" srcId="{56DF333A-08E0-4629-AFC2-931C10F9385F}" destId="{3390654C-D043-4560-9D61-2D6FF7D5FB49}" srcOrd="13" destOrd="0" presId="urn:microsoft.com/office/officeart/2005/8/layout/lProcess2"/>
    <dgm:cxn modelId="{A1CE0FAF-053C-43B6-A37B-BE1A45A2668F}" type="presParOf" srcId="{56DF333A-08E0-4629-AFC2-931C10F9385F}" destId="{DFDFEF96-66CC-448F-9ABF-B2A8B9F8BFD1}" srcOrd="14" destOrd="0" presId="urn:microsoft.com/office/officeart/2005/8/layout/lProcess2"/>
    <dgm:cxn modelId="{85CB556C-B750-4370-883B-5F6B043D3D89}" type="presParOf" srcId="{CF004109-40C2-4418-98D0-7CEC1E06159E}" destId="{109CDACC-FC54-4145-A2FB-2C2D0129B705}" srcOrd="1" destOrd="0" presId="urn:microsoft.com/office/officeart/2005/8/layout/lProcess2"/>
    <dgm:cxn modelId="{E705707B-46BF-4E66-8DF1-C41249F8A006}" type="presParOf" srcId="{CF004109-40C2-4418-98D0-7CEC1E06159E}" destId="{79F181E1-8A41-4887-9AEA-DF0AAD0F79A6}" srcOrd="2" destOrd="0" presId="urn:microsoft.com/office/officeart/2005/8/layout/lProcess2"/>
    <dgm:cxn modelId="{104143B1-1A7E-465F-848D-6BE409C86C53}" type="presParOf" srcId="{79F181E1-8A41-4887-9AEA-DF0AAD0F79A6}" destId="{B87203E0-B074-4BB7-9F6D-05A6ADA30F45}" srcOrd="0" destOrd="0" presId="urn:microsoft.com/office/officeart/2005/8/layout/lProcess2"/>
    <dgm:cxn modelId="{F4629B5A-778F-418B-B903-6905C8E0C9C6}" type="presParOf" srcId="{79F181E1-8A41-4887-9AEA-DF0AAD0F79A6}" destId="{9EF2DFD0-CEED-4311-9888-56664054F016}" srcOrd="1" destOrd="0" presId="urn:microsoft.com/office/officeart/2005/8/layout/lProcess2"/>
    <dgm:cxn modelId="{4537E731-FDEA-4733-9BF4-BEFA96030350}" type="presParOf" srcId="{79F181E1-8A41-4887-9AEA-DF0AAD0F79A6}" destId="{3B41DB2F-3C62-4C9F-A5BA-8DD93B4C8B93}" srcOrd="2" destOrd="0" presId="urn:microsoft.com/office/officeart/2005/8/layout/lProcess2"/>
    <dgm:cxn modelId="{14A38B29-F050-426A-9F52-6B5AFA59A7F4}" type="presParOf" srcId="{3B41DB2F-3C62-4C9F-A5BA-8DD93B4C8B93}" destId="{8ACADF64-F812-4F96-810B-0F6BD57F11E4}" srcOrd="0" destOrd="0" presId="urn:microsoft.com/office/officeart/2005/8/layout/lProcess2"/>
    <dgm:cxn modelId="{CC6EDB1F-A79F-4D05-AA71-3E6FD6E2E37B}" type="presParOf" srcId="{8ACADF64-F812-4F96-810B-0F6BD57F11E4}" destId="{5EBBE8ED-D47E-47BB-A339-6F72A97E954A}" srcOrd="0" destOrd="0" presId="urn:microsoft.com/office/officeart/2005/8/layout/lProcess2"/>
    <dgm:cxn modelId="{B2533016-5747-4105-B522-7BC64374A1C6}" type="presParOf" srcId="{8ACADF64-F812-4F96-810B-0F6BD57F11E4}" destId="{B5E8F975-231B-4BD8-B5CA-58F40A0BDA67}" srcOrd="1" destOrd="0" presId="urn:microsoft.com/office/officeart/2005/8/layout/lProcess2"/>
    <dgm:cxn modelId="{DE0092B7-14D5-488B-9A66-4B17060D8858}" type="presParOf" srcId="{8ACADF64-F812-4F96-810B-0F6BD57F11E4}" destId="{4EE9CD01-3C24-4EF4-A21B-FB8D3EFFBAC0}" srcOrd="2" destOrd="0" presId="urn:microsoft.com/office/officeart/2005/8/layout/lProcess2"/>
    <dgm:cxn modelId="{85109C63-96D1-49CA-992D-4141A782EA77}" type="presParOf" srcId="{8ACADF64-F812-4F96-810B-0F6BD57F11E4}" destId="{DF3DE949-5520-4D3C-9B83-828D099CE8E6}" srcOrd="3" destOrd="0" presId="urn:microsoft.com/office/officeart/2005/8/layout/lProcess2"/>
    <dgm:cxn modelId="{9207D5F1-87BE-4601-8403-E2F4EDD38F86}" type="presParOf" srcId="{8ACADF64-F812-4F96-810B-0F6BD57F11E4}" destId="{FA191985-E31B-49EB-96A6-4B6535713D8B}" srcOrd="4" destOrd="0" presId="urn:microsoft.com/office/officeart/2005/8/layout/lProcess2"/>
    <dgm:cxn modelId="{E4E79ADA-BC22-4000-9396-E9F3EA8CE05D}" type="presParOf" srcId="{8ACADF64-F812-4F96-810B-0F6BD57F11E4}" destId="{6DD026C9-6217-474F-B5CA-7899183CB9C8}" srcOrd="5" destOrd="0" presId="urn:microsoft.com/office/officeart/2005/8/layout/lProcess2"/>
    <dgm:cxn modelId="{8FDCA081-8F2F-4CF8-BD0E-D6A5ADFFD6C2}" type="presParOf" srcId="{8ACADF64-F812-4F96-810B-0F6BD57F11E4}" destId="{FC6A178C-3652-4826-B502-AED6BD15B0C4}" srcOrd="6" destOrd="0" presId="urn:microsoft.com/office/officeart/2005/8/layout/lProcess2"/>
    <dgm:cxn modelId="{CF2EF3E0-463C-456A-B0D9-F7D2665F081F}" type="presParOf" srcId="{8ACADF64-F812-4F96-810B-0F6BD57F11E4}" destId="{E0C87E3F-43CC-46E6-8C8E-21AA7442F13A}" srcOrd="7" destOrd="0" presId="urn:microsoft.com/office/officeart/2005/8/layout/lProcess2"/>
    <dgm:cxn modelId="{BDFF4362-1D70-4453-B084-4384CD6C9043}" type="presParOf" srcId="{8ACADF64-F812-4F96-810B-0F6BD57F11E4}" destId="{34C241D6-D469-434D-82B3-4EA23B917185}" srcOrd="8" destOrd="0" presId="urn:microsoft.com/office/officeart/2005/8/layout/lProcess2"/>
    <dgm:cxn modelId="{275F796F-62A7-4868-8941-10C2E38896D5}" type="presParOf" srcId="{CF004109-40C2-4418-98D0-7CEC1E06159E}" destId="{2745E078-E2E4-42C7-95E5-259CB37AB09A}" srcOrd="3" destOrd="0" presId="urn:microsoft.com/office/officeart/2005/8/layout/lProcess2"/>
    <dgm:cxn modelId="{31695E2E-9133-4B56-A36F-E8E5E64DCDD3}" type="presParOf" srcId="{CF004109-40C2-4418-98D0-7CEC1E06159E}" destId="{184B5B13-C659-4FD9-97A7-E599BB43036B}" srcOrd="4" destOrd="0" presId="urn:microsoft.com/office/officeart/2005/8/layout/lProcess2"/>
    <dgm:cxn modelId="{B2B8BC28-6EC5-45DA-AD20-11F6A05AA361}" type="presParOf" srcId="{184B5B13-C659-4FD9-97A7-E599BB43036B}" destId="{07A0974B-4A4F-40B5-99C3-D9AE4B803FA3}" srcOrd="0" destOrd="0" presId="urn:microsoft.com/office/officeart/2005/8/layout/lProcess2"/>
    <dgm:cxn modelId="{AD8C6338-1F87-4E46-B278-058413AF5F37}" type="presParOf" srcId="{184B5B13-C659-4FD9-97A7-E599BB43036B}" destId="{7DEA7F80-5A2C-4698-AFA3-4AFCA11E93FB}" srcOrd="1" destOrd="0" presId="urn:microsoft.com/office/officeart/2005/8/layout/lProcess2"/>
    <dgm:cxn modelId="{686C5C46-859D-4B12-A57A-BF51A1845C88}" type="presParOf" srcId="{184B5B13-C659-4FD9-97A7-E599BB43036B}" destId="{5C93673A-56F1-45CA-BFB2-D1E70FEB1D9A}" srcOrd="2" destOrd="0" presId="urn:microsoft.com/office/officeart/2005/8/layout/lProcess2"/>
    <dgm:cxn modelId="{2C1003EA-8EEB-4777-9C18-1E8EDFCCF544}" type="presParOf" srcId="{5C93673A-56F1-45CA-BFB2-D1E70FEB1D9A}" destId="{F085C8D5-007F-48A7-A0A6-EA913CFD25FD}" srcOrd="0" destOrd="0" presId="urn:microsoft.com/office/officeart/2005/8/layout/lProcess2"/>
    <dgm:cxn modelId="{B43D0E1B-87D9-441F-9807-BBC285A14CC5}" type="presParOf" srcId="{F085C8D5-007F-48A7-A0A6-EA913CFD25FD}" destId="{9FF2914D-763F-4E57-AFE1-8DC00FD16495}" srcOrd="0" destOrd="0" presId="urn:microsoft.com/office/officeart/2005/8/layout/lProcess2"/>
    <dgm:cxn modelId="{70E0B53A-FAD8-4084-9BF3-556DC13033EF}" type="presParOf" srcId="{F085C8D5-007F-48A7-A0A6-EA913CFD25FD}" destId="{F7DB841B-2980-4F61-B1D9-616E03F29B31}" srcOrd="1" destOrd="0" presId="urn:microsoft.com/office/officeart/2005/8/layout/lProcess2"/>
    <dgm:cxn modelId="{CF71A9FE-C1AD-4DFE-9D2D-F7D91C60B706}" type="presParOf" srcId="{F085C8D5-007F-48A7-A0A6-EA913CFD25FD}" destId="{7C1B8114-232F-4F23-9612-7E3B87CA6135}" srcOrd="2" destOrd="0" presId="urn:microsoft.com/office/officeart/2005/8/layout/lProcess2"/>
    <dgm:cxn modelId="{8D7DB97C-5088-44DC-920F-36AB7D935895}" type="presParOf" srcId="{F085C8D5-007F-48A7-A0A6-EA913CFD25FD}" destId="{D9BE823F-52F2-4A15-BAAB-1B50EA34414E}" srcOrd="3" destOrd="0" presId="urn:microsoft.com/office/officeart/2005/8/layout/lProcess2"/>
    <dgm:cxn modelId="{7AC8802E-809E-4AD5-AA4D-F7BDB3E39784}" type="presParOf" srcId="{F085C8D5-007F-48A7-A0A6-EA913CFD25FD}" destId="{CA5F9AC7-2332-46D0-A5AE-57C4A48BD1D9}" srcOrd="4" destOrd="0" presId="urn:microsoft.com/office/officeart/2005/8/layout/lProcess2"/>
    <dgm:cxn modelId="{B22194DF-B3B5-4417-8EF4-B62C9A05129E}" type="presParOf" srcId="{F085C8D5-007F-48A7-A0A6-EA913CFD25FD}" destId="{076B0520-510D-484A-B733-D6F357B4E94C}" srcOrd="5" destOrd="0" presId="urn:microsoft.com/office/officeart/2005/8/layout/lProcess2"/>
    <dgm:cxn modelId="{134BC8DE-CBCC-4466-BD29-D7141B860D9C}" type="presParOf" srcId="{F085C8D5-007F-48A7-A0A6-EA913CFD25FD}" destId="{5E9C1A7C-4124-4BDD-9A63-D71FEE32ED8C}" srcOrd="6" destOrd="0" presId="urn:microsoft.com/office/officeart/2005/8/layout/l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CAA03E-2E73-4E64-A565-D4537B951C06}">
      <dsp:nvSpPr>
        <dsp:cNvPr id="0" name=""/>
        <dsp:cNvSpPr/>
      </dsp:nvSpPr>
      <dsp:spPr>
        <a:xfrm>
          <a:off x="2158007" y="683"/>
          <a:ext cx="3500437" cy="1750218"/>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1915" tIns="54610" rIns="81915" bIns="54610" numCol="1" spcCol="1270" anchor="ctr" anchorCtr="0">
          <a:noAutofit/>
        </a:bodyPr>
        <a:lstStyle/>
        <a:p>
          <a:pPr marL="0" lvl="0" indent="0" algn="ctr" defTabSz="1911350">
            <a:lnSpc>
              <a:spcPct val="90000"/>
            </a:lnSpc>
            <a:spcBef>
              <a:spcPct val="0"/>
            </a:spcBef>
            <a:spcAft>
              <a:spcPct val="35000"/>
            </a:spcAft>
            <a:buNone/>
          </a:pPr>
          <a:r>
            <a:rPr lang="en-US" sz="4300" kern="1200" dirty="0"/>
            <a:t>On the Basis of Concept</a:t>
          </a:r>
          <a:endParaRPr lang="en-IN" sz="4300" kern="1200" dirty="0"/>
        </a:p>
      </dsp:txBody>
      <dsp:txXfrm>
        <a:off x="2209269" y="51945"/>
        <a:ext cx="3397913" cy="1647694"/>
      </dsp:txXfrm>
    </dsp:sp>
    <dsp:sp modelId="{9F8F4482-CB9A-4261-8227-542649E3B01B}">
      <dsp:nvSpPr>
        <dsp:cNvPr id="0" name=""/>
        <dsp:cNvSpPr/>
      </dsp:nvSpPr>
      <dsp:spPr>
        <a:xfrm>
          <a:off x="2508051" y="1750901"/>
          <a:ext cx="350043" cy="1312664"/>
        </a:xfrm>
        <a:custGeom>
          <a:avLst/>
          <a:gdLst/>
          <a:ahLst/>
          <a:cxnLst/>
          <a:rect l="0" t="0" r="0" b="0"/>
          <a:pathLst>
            <a:path>
              <a:moveTo>
                <a:pt x="0" y="0"/>
              </a:moveTo>
              <a:lnTo>
                <a:pt x="0" y="1312664"/>
              </a:lnTo>
              <a:lnTo>
                <a:pt x="350043" y="1312664"/>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A6AE3C2-BD4C-4F09-A070-36C3A4EC4B69}">
      <dsp:nvSpPr>
        <dsp:cNvPr id="0" name=""/>
        <dsp:cNvSpPr/>
      </dsp:nvSpPr>
      <dsp:spPr>
        <a:xfrm>
          <a:off x="2858095" y="2188456"/>
          <a:ext cx="2800349" cy="1750218"/>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0" tIns="38100" rIns="57150" bIns="38100" numCol="1" spcCol="1270" anchor="ctr" anchorCtr="0">
          <a:noAutofit/>
        </a:bodyPr>
        <a:lstStyle/>
        <a:p>
          <a:pPr marL="0" lvl="0" indent="0" algn="ctr" defTabSz="1333500">
            <a:lnSpc>
              <a:spcPct val="90000"/>
            </a:lnSpc>
            <a:spcBef>
              <a:spcPct val="0"/>
            </a:spcBef>
            <a:spcAft>
              <a:spcPct val="35000"/>
            </a:spcAft>
            <a:buNone/>
          </a:pPr>
          <a:r>
            <a:rPr lang="en-US" sz="3000" kern="1200" dirty="0"/>
            <a:t>Gross Working Capital</a:t>
          </a:r>
          <a:endParaRPr lang="en-IN" sz="3000" kern="1200" dirty="0"/>
        </a:p>
      </dsp:txBody>
      <dsp:txXfrm>
        <a:off x="2909357" y="2239718"/>
        <a:ext cx="2697825" cy="1647694"/>
      </dsp:txXfrm>
    </dsp:sp>
    <dsp:sp modelId="{A858420B-8771-4B55-97AF-27E5CB0AA762}">
      <dsp:nvSpPr>
        <dsp:cNvPr id="0" name=""/>
        <dsp:cNvSpPr/>
      </dsp:nvSpPr>
      <dsp:spPr>
        <a:xfrm>
          <a:off x="2508051" y="1750901"/>
          <a:ext cx="350043" cy="3500437"/>
        </a:xfrm>
        <a:custGeom>
          <a:avLst/>
          <a:gdLst/>
          <a:ahLst/>
          <a:cxnLst/>
          <a:rect l="0" t="0" r="0" b="0"/>
          <a:pathLst>
            <a:path>
              <a:moveTo>
                <a:pt x="0" y="0"/>
              </a:moveTo>
              <a:lnTo>
                <a:pt x="0" y="3500437"/>
              </a:lnTo>
              <a:lnTo>
                <a:pt x="350043" y="3500437"/>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4F76ECD-D5AB-4446-A530-D94AFB994D14}">
      <dsp:nvSpPr>
        <dsp:cNvPr id="0" name=""/>
        <dsp:cNvSpPr/>
      </dsp:nvSpPr>
      <dsp:spPr>
        <a:xfrm>
          <a:off x="2858095" y="4376230"/>
          <a:ext cx="2800349" cy="1750218"/>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0" tIns="38100" rIns="57150" bIns="38100" numCol="1" spcCol="1270" anchor="ctr" anchorCtr="0">
          <a:noAutofit/>
        </a:bodyPr>
        <a:lstStyle/>
        <a:p>
          <a:pPr marL="0" lvl="0" indent="0" algn="ctr" defTabSz="1333500">
            <a:lnSpc>
              <a:spcPct val="90000"/>
            </a:lnSpc>
            <a:spcBef>
              <a:spcPct val="0"/>
            </a:spcBef>
            <a:spcAft>
              <a:spcPct val="35000"/>
            </a:spcAft>
            <a:buNone/>
          </a:pPr>
          <a:r>
            <a:rPr lang="en-US" sz="3000" kern="1200" dirty="0"/>
            <a:t>Net Working Capital</a:t>
          </a:r>
          <a:endParaRPr lang="en-IN" sz="3000" kern="1200" dirty="0"/>
        </a:p>
      </dsp:txBody>
      <dsp:txXfrm>
        <a:off x="2909357" y="4427492"/>
        <a:ext cx="2697825" cy="1647694"/>
      </dsp:txXfrm>
    </dsp:sp>
    <dsp:sp modelId="{6C02BF0A-04B5-4F97-93F0-4DDF5DD4E10E}">
      <dsp:nvSpPr>
        <dsp:cNvPr id="0" name=""/>
        <dsp:cNvSpPr/>
      </dsp:nvSpPr>
      <dsp:spPr>
        <a:xfrm>
          <a:off x="6533554" y="683"/>
          <a:ext cx="3500437" cy="1750218"/>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1915" tIns="54610" rIns="81915" bIns="54610" numCol="1" spcCol="1270" anchor="ctr" anchorCtr="0">
          <a:noAutofit/>
        </a:bodyPr>
        <a:lstStyle/>
        <a:p>
          <a:pPr marL="0" lvl="0" indent="0" algn="ctr" defTabSz="1911350">
            <a:lnSpc>
              <a:spcPct val="90000"/>
            </a:lnSpc>
            <a:spcBef>
              <a:spcPct val="0"/>
            </a:spcBef>
            <a:spcAft>
              <a:spcPct val="35000"/>
            </a:spcAft>
            <a:buNone/>
          </a:pPr>
          <a:r>
            <a:rPr lang="en-US" sz="4300" kern="1200" dirty="0"/>
            <a:t>On the Basis of Time </a:t>
          </a:r>
          <a:endParaRPr lang="en-IN" sz="4300" kern="1200" dirty="0"/>
        </a:p>
      </dsp:txBody>
      <dsp:txXfrm>
        <a:off x="6584816" y="51945"/>
        <a:ext cx="3397913" cy="1647694"/>
      </dsp:txXfrm>
    </dsp:sp>
    <dsp:sp modelId="{D8DAB656-0C65-4A94-8B7E-BB9E991421FD}">
      <dsp:nvSpPr>
        <dsp:cNvPr id="0" name=""/>
        <dsp:cNvSpPr/>
      </dsp:nvSpPr>
      <dsp:spPr>
        <a:xfrm>
          <a:off x="6883598" y="1750901"/>
          <a:ext cx="350043" cy="1312664"/>
        </a:xfrm>
        <a:custGeom>
          <a:avLst/>
          <a:gdLst/>
          <a:ahLst/>
          <a:cxnLst/>
          <a:rect l="0" t="0" r="0" b="0"/>
          <a:pathLst>
            <a:path>
              <a:moveTo>
                <a:pt x="0" y="0"/>
              </a:moveTo>
              <a:lnTo>
                <a:pt x="0" y="1312664"/>
              </a:lnTo>
              <a:lnTo>
                <a:pt x="350043" y="1312664"/>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7D12906-D86F-4C0F-8869-0E712CBC7FB3}">
      <dsp:nvSpPr>
        <dsp:cNvPr id="0" name=""/>
        <dsp:cNvSpPr/>
      </dsp:nvSpPr>
      <dsp:spPr>
        <a:xfrm>
          <a:off x="7233642" y="2188456"/>
          <a:ext cx="2800349" cy="1750218"/>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0" tIns="38100" rIns="57150" bIns="38100" numCol="1" spcCol="1270" anchor="ctr" anchorCtr="0">
          <a:noAutofit/>
        </a:bodyPr>
        <a:lstStyle/>
        <a:p>
          <a:pPr marL="0" lvl="0" indent="0" algn="ctr" defTabSz="1333500">
            <a:lnSpc>
              <a:spcPct val="90000"/>
            </a:lnSpc>
            <a:spcBef>
              <a:spcPct val="0"/>
            </a:spcBef>
            <a:spcAft>
              <a:spcPct val="35000"/>
            </a:spcAft>
            <a:buNone/>
          </a:pPr>
          <a:r>
            <a:rPr lang="en-US" sz="3000" kern="1200" dirty="0"/>
            <a:t>Permanent</a:t>
          </a:r>
        </a:p>
        <a:p>
          <a:pPr marL="0" lvl="0" indent="0" algn="ctr" defTabSz="1333500">
            <a:lnSpc>
              <a:spcPct val="90000"/>
            </a:lnSpc>
            <a:spcBef>
              <a:spcPct val="0"/>
            </a:spcBef>
            <a:spcAft>
              <a:spcPct val="35000"/>
            </a:spcAft>
            <a:buFont typeface="Arial" panose="020B0604020202020204" pitchFamily="34" charset="0"/>
            <a:buNone/>
          </a:pPr>
          <a:r>
            <a:rPr lang="en-US" sz="3000" kern="1200" dirty="0"/>
            <a:t>--Regular</a:t>
          </a:r>
        </a:p>
        <a:p>
          <a:pPr marL="0" lvl="0" indent="0" algn="ctr" defTabSz="1333500">
            <a:lnSpc>
              <a:spcPct val="90000"/>
            </a:lnSpc>
            <a:spcBef>
              <a:spcPct val="0"/>
            </a:spcBef>
            <a:spcAft>
              <a:spcPct val="35000"/>
            </a:spcAft>
            <a:buFont typeface="Arial" panose="020B0604020202020204" pitchFamily="34" charset="0"/>
            <a:buNone/>
          </a:pPr>
          <a:r>
            <a:rPr lang="en-US" sz="3000" kern="1200" dirty="0"/>
            <a:t>--Reserve </a:t>
          </a:r>
          <a:endParaRPr lang="en-IN" sz="3000" kern="1200" dirty="0"/>
        </a:p>
      </dsp:txBody>
      <dsp:txXfrm>
        <a:off x="7284904" y="2239718"/>
        <a:ext cx="2697825" cy="1647694"/>
      </dsp:txXfrm>
    </dsp:sp>
    <dsp:sp modelId="{AF7821A0-A88B-4520-AE99-CBA71B0915FD}">
      <dsp:nvSpPr>
        <dsp:cNvPr id="0" name=""/>
        <dsp:cNvSpPr/>
      </dsp:nvSpPr>
      <dsp:spPr>
        <a:xfrm>
          <a:off x="6883598" y="1750901"/>
          <a:ext cx="350043" cy="3500437"/>
        </a:xfrm>
        <a:custGeom>
          <a:avLst/>
          <a:gdLst/>
          <a:ahLst/>
          <a:cxnLst/>
          <a:rect l="0" t="0" r="0" b="0"/>
          <a:pathLst>
            <a:path>
              <a:moveTo>
                <a:pt x="0" y="0"/>
              </a:moveTo>
              <a:lnTo>
                <a:pt x="0" y="3500437"/>
              </a:lnTo>
              <a:lnTo>
                <a:pt x="350043" y="3500437"/>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D6F7AEA-7C4C-4C17-AA30-9CD8B5C3E3C7}">
      <dsp:nvSpPr>
        <dsp:cNvPr id="0" name=""/>
        <dsp:cNvSpPr/>
      </dsp:nvSpPr>
      <dsp:spPr>
        <a:xfrm>
          <a:off x="7233642" y="4376230"/>
          <a:ext cx="2800349" cy="1750218"/>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0" tIns="38100" rIns="57150" bIns="38100" numCol="1" spcCol="1270" anchor="ctr" anchorCtr="0">
          <a:noAutofit/>
        </a:bodyPr>
        <a:lstStyle/>
        <a:p>
          <a:pPr marL="0" lvl="0" indent="0" algn="ctr" defTabSz="1333500">
            <a:lnSpc>
              <a:spcPct val="90000"/>
            </a:lnSpc>
            <a:spcBef>
              <a:spcPct val="0"/>
            </a:spcBef>
            <a:spcAft>
              <a:spcPct val="35000"/>
            </a:spcAft>
            <a:buNone/>
          </a:pPr>
          <a:r>
            <a:rPr lang="en-US" sz="3000" kern="1200" dirty="0"/>
            <a:t>Temporary</a:t>
          </a:r>
        </a:p>
        <a:p>
          <a:pPr marL="0" lvl="0" indent="0" algn="ctr" defTabSz="1333500">
            <a:lnSpc>
              <a:spcPct val="90000"/>
            </a:lnSpc>
            <a:spcBef>
              <a:spcPct val="0"/>
            </a:spcBef>
            <a:spcAft>
              <a:spcPct val="35000"/>
            </a:spcAft>
            <a:buNone/>
          </a:pPr>
          <a:r>
            <a:rPr lang="en-US" sz="3000" kern="1200" dirty="0"/>
            <a:t>--Seasonal</a:t>
          </a:r>
        </a:p>
        <a:p>
          <a:pPr marL="0" lvl="0" indent="0" algn="ctr" defTabSz="1333500">
            <a:lnSpc>
              <a:spcPct val="90000"/>
            </a:lnSpc>
            <a:spcBef>
              <a:spcPct val="0"/>
            </a:spcBef>
            <a:spcAft>
              <a:spcPct val="35000"/>
            </a:spcAft>
            <a:buNone/>
          </a:pPr>
          <a:r>
            <a:rPr lang="en-US" sz="3000" kern="1200" dirty="0"/>
            <a:t>--Special</a:t>
          </a:r>
          <a:endParaRPr lang="en-IN" sz="3000" kern="1200" dirty="0"/>
        </a:p>
      </dsp:txBody>
      <dsp:txXfrm>
        <a:off x="7284904" y="4427492"/>
        <a:ext cx="2697825" cy="164769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ED6491-900D-47D5-B89A-3E0CB64CDEBC}">
      <dsp:nvSpPr>
        <dsp:cNvPr id="0" name=""/>
        <dsp:cNvSpPr/>
      </dsp:nvSpPr>
      <dsp:spPr>
        <a:xfrm>
          <a:off x="1669218" y="2183"/>
          <a:ext cx="1081161" cy="702755"/>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Cash </a:t>
          </a:r>
          <a:endParaRPr lang="en-IN" sz="1600" kern="1200" dirty="0"/>
        </a:p>
      </dsp:txBody>
      <dsp:txXfrm>
        <a:off x="1703524" y="36489"/>
        <a:ext cx="1012549" cy="634143"/>
      </dsp:txXfrm>
    </dsp:sp>
    <dsp:sp modelId="{797D10C8-EA90-4B2F-BBC9-B9AD6F4C7315}">
      <dsp:nvSpPr>
        <dsp:cNvPr id="0" name=""/>
        <dsp:cNvSpPr/>
      </dsp:nvSpPr>
      <dsp:spPr>
        <a:xfrm>
          <a:off x="553585" y="353561"/>
          <a:ext cx="3312427" cy="3312427"/>
        </a:xfrm>
        <a:custGeom>
          <a:avLst/>
          <a:gdLst/>
          <a:ahLst/>
          <a:cxnLst/>
          <a:rect l="0" t="0" r="0" b="0"/>
          <a:pathLst>
            <a:path>
              <a:moveTo>
                <a:pt x="2203709" y="93110"/>
              </a:moveTo>
              <a:arcTo wR="1656213" hR="1656213" stAng="17358206" swAng="1501956"/>
            </a:path>
          </a:pathLst>
        </a:custGeom>
        <a:noFill/>
        <a:ln w="9525" cap="rnd"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F3001EB3-B330-44B9-9B45-C58C9EA42752}">
      <dsp:nvSpPr>
        <dsp:cNvPr id="0" name=""/>
        <dsp:cNvSpPr/>
      </dsp:nvSpPr>
      <dsp:spPr>
        <a:xfrm>
          <a:off x="3103541" y="830290"/>
          <a:ext cx="1081161" cy="702755"/>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Raw Materials</a:t>
          </a:r>
          <a:endParaRPr lang="en-IN" sz="1600" kern="1200" dirty="0"/>
        </a:p>
      </dsp:txBody>
      <dsp:txXfrm>
        <a:off x="3137847" y="864596"/>
        <a:ext cx="1012549" cy="634143"/>
      </dsp:txXfrm>
    </dsp:sp>
    <dsp:sp modelId="{E0EC7344-4D68-4088-BEE3-3DCBF5D0787B}">
      <dsp:nvSpPr>
        <dsp:cNvPr id="0" name=""/>
        <dsp:cNvSpPr/>
      </dsp:nvSpPr>
      <dsp:spPr>
        <a:xfrm>
          <a:off x="553585" y="353561"/>
          <a:ext cx="3312427" cy="3312427"/>
        </a:xfrm>
        <a:custGeom>
          <a:avLst/>
          <a:gdLst/>
          <a:ahLst/>
          <a:cxnLst/>
          <a:rect l="0" t="0" r="0" b="0"/>
          <a:pathLst>
            <a:path>
              <a:moveTo>
                <a:pt x="3245050" y="1188623"/>
              </a:moveTo>
              <a:arcTo wR="1656213" hR="1656213" stAng="20616059" swAng="1967882"/>
            </a:path>
          </a:pathLst>
        </a:custGeom>
        <a:noFill/>
        <a:ln w="9525" cap="rnd"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88563E0B-6C6F-49AF-831A-4858D3CF96D0}">
      <dsp:nvSpPr>
        <dsp:cNvPr id="0" name=""/>
        <dsp:cNvSpPr/>
      </dsp:nvSpPr>
      <dsp:spPr>
        <a:xfrm>
          <a:off x="3103541" y="2486504"/>
          <a:ext cx="1081161" cy="702755"/>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WIP</a:t>
          </a:r>
          <a:endParaRPr lang="en-IN" sz="1600" kern="1200" dirty="0"/>
        </a:p>
      </dsp:txBody>
      <dsp:txXfrm>
        <a:off x="3137847" y="2520810"/>
        <a:ext cx="1012549" cy="634143"/>
      </dsp:txXfrm>
    </dsp:sp>
    <dsp:sp modelId="{181B722A-D4D9-4495-9B47-FE0A0BB69840}">
      <dsp:nvSpPr>
        <dsp:cNvPr id="0" name=""/>
        <dsp:cNvSpPr/>
      </dsp:nvSpPr>
      <dsp:spPr>
        <a:xfrm>
          <a:off x="553585" y="353561"/>
          <a:ext cx="3312427" cy="3312427"/>
        </a:xfrm>
        <a:custGeom>
          <a:avLst/>
          <a:gdLst/>
          <a:ahLst/>
          <a:cxnLst/>
          <a:rect l="0" t="0" r="0" b="0"/>
          <a:pathLst>
            <a:path>
              <a:moveTo>
                <a:pt x="2813683" y="2840826"/>
              </a:moveTo>
              <a:arcTo wR="1656213" hR="1656213" stAng="2739839" swAng="1501956"/>
            </a:path>
          </a:pathLst>
        </a:custGeom>
        <a:noFill/>
        <a:ln w="9525" cap="rnd"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89BE652-E314-48BC-8EB1-CA9FE67E7C7A}">
      <dsp:nvSpPr>
        <dsp:cNvPr id="0" name=""/>
        <dsp:cNvSpPr/>
      </dsp:nvSpPr>
      <dsp:spPr>
        <a:xfrm>
          <a:off x="1669218" y="3314611"/>
          <a:ext cx="1081161" cy="702755"/>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Finished Goods</a:t>
          </a:r>
          <a:endParaRPr lang="en-IN" sz="1600" kern="1200" dirty="0"/>
        </a:p>
      </dsp:txBody>
      <dsp:txXfrm>
        <a:off x="1703524" y="3348917"/>
        <a:ext cx="1012549" cy="634143"/>
      </dsp:txXfrm>
    </dsp:sp>
    <dsp:sp modelId="{8BB970D4-2A0A-45E3-BF48-E21C15F68687}">
      <dsp:nvSpPr>
        <dsp:cNvPr id="0" name=""/>
        <dsp:cNvSpPr/>
      </dsp:nvSpPr>
      <dsp:spPr>
        <a:xfrm>
          <a:off x="553585" y="353561"/>
          <a:ext cx="3312427" cy="3312427"/>
        </a:xfrm>
        <a:custGeom>
          <a:avLst/>
          <a:gdLst/>
          <a:ahLst/>
          <a:cxnLst/>
          <a:rect l="0" t="0" r="0" b="0"/>
          <a:pathLst>
            <a:path>
              <a:moveTo>
                <a:pt x="1108717" y="3219317"/>
              </a:moveTo>
              <a:arcTo wR="1656213" hR="1656213" stAng="6558206" swAng="1501956"/>
            </a:path>
          </a:pathLst>
        </a:custGeom>
        <a:noFill/>
        <a:ln w="9525" cap="rnd"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238F3D03-3621-4EAC-8317-08E329F3E464}">
      <dsp:nvSpPr>
        <dsp:cNvPr id="0" name=""/>
        <dsp:cNvSpPr/>
      </dsp:nvSpPr>
      <dsp:spPr>
        <a:xfrm>
          <a:off x="234895" y="2486504"/>
          <a:ext cx="1081161" cy="702755"/>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Sales</a:t>
          </a:r>
          <a:endParaRPr lang="en-IN" sz="1600" kern="1200" dirty="0"/>
        </a:p>
      </dsp:txBody>
      <dsp:txXfrm>
        <a:off x="269201" y="2520810"/>
        <a:ext cx="1012549" cy="634143"/>
      </dsp:txXfrm>
    </dsp:sp>
    <dsp:sp modelId="{5DF0581A-32BE-4A09-A72B-63B44FF210A7}">
      <dsp:nvSpPr>
        <dsp:cNvPr id="0" name=""/>
        <dsp:cNvSpPr/>
      </dsp:nvSpPr>
      <dsp:spPr>
        <a:xfrm>
          <a:off x="553585" y="353561"/>
          <a:ext cx="3312427" cy="3312427"/>
        </a:xfrm>
        <a:custGeom>
          <a:avLst/>
          <a:gdLst/>
          <a:ahLst/>
          <a:cxnLst/>
          <a:rect l="0" t="0" r="0" b="0"/>
          <a:pathLst>
            <a:path>
              <a:moveTo>
                <a:pt x="67376" y="2123804"/>
              </a:moveTo>
              <a:arcTo wR="1656213" hR="1656213" stAng="9816059" swAng="1967882"/>
            </a:path>
          </a:pathLst>
        </a:custGeom>
        <a:noFill/>
        <a:ln w="9525" cap="rnd"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894FF9AE-B972-4C47-84BF-77730CF65720}">
      <dsp:nvSpPr>
        <dsp:cNvPr id="0" name=""/>
        <dsp:cNvSpPr/>
      </dsp:nvSpPr>
      <dsp:spPr>
        <a:xfrm>
          <a:off x="234895" y="830290"/>
          <a:ext cx="1081161" cy="702755"/>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Debtors</a:t>
          </a:r>
          <a:endParaRPr lang="en-IN" sz="1600" kern="1200" dirty="0"/>
        </a:p>
      </dsp:txBody>
      <dsp:txXfrm>
        <a:off x="269201" y="864596"/>
        <a:ext cx="1012549" cy="634143"/>
      </dsp:txXfrm>
    </dsp:sp>
    <dsp:sp modelId="{8AE7BECC-894D-4B75-A3C5-2303316E20B7}">
      <dsp:nvSpPr>
        <dsp:cNvPr id="0" name=""/>
        <dsp:cNvSpPr/>
      </dsp:nvSpPr>
      <dsp:spPr>
        <a:xfrm>
          <a:off x="553585" y="353561"/>
          <a:ext cx="3312427" cy="3312427"/>
        </a:xfrm>
        <a:custGeom>
          <a:avLst/>
          <a:gdLst/>
          <a:ahLst/>
          <a:cxnLst/>
          <a:rect l="0" t="0" r="0" b="0"/>
          <a:pathLst>
            <a:path>
              <a:moveTo>
                <a:pt x="498743" y="471601"/>
              </a:moveTo>
              <a:arcTo wR="1656213" hR="1656213" stAng="13539839" swAng="1501956"/>
            </a:path>
          </a:pathLst>
        </a:custGeom>
        <a:noFill/>
        <a:ln w="9525" cap="rnd"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875808-22D3-4437-A072-4627CF983F1A}">
      <dsp:nvSpPr>
        <dsp:cNvPr id="0" name=""/>
        <dsp:cNvSpPr/>
      </dsp:nvSpPr>
      <dsp:spPr>
        <a:xfrm rot="10800000">
          <a:off x="0" y="0"/>
          <a:ext cx="12066893" cy="980688"/>
        </a:xfrm>
        <a:prstGeom prst="trapezoid">
          <a:avLst>
            <a:gd name="adj" fmla="val 87889"/>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rtl="0">
            <a:lnSpc>
              <a:spcPct val="90000"/>
            </a:lnSpc>
            <a:spcBef>
              <a:spcPct val="0"/>
            </a:spcBef>
            <a:spcAft>
              <a:spcPct val="35000"/>
            </a:spcAft>
            <a:buNone/>
          </a:pPr>
          <a:r>
            <a:rPr lang="en-US" sz="2000" kern="1200">
              <a:latin typeface="Calibri Light" panose="020F0302020204030204"/>
            </a:rPr>
            <a:t>Public Issue</a:t>
          </a:r>
          <a:endParaRPr lang="en-US" sz="2000" kern="1200"/>
        </a:p>
      </dsp:txBody>
      <dsp:txXfrm rot="-10800000">
        <a:off x="2111706" y="0"/>
        <a:ext cx="7843480" cy="980688"/>
      </dsp:txXfrm>
    </dsp:sp>
    <dsp:sp modelId="{78821BEF-1D43-4980-ABD9-4107889E8066}">
      <dsp:nvSpPr>
        <dsp:cNvPr id="0" name=""/>
        <dsp:cNvSpPr/>
      </dsp:nvSpPr>
      <dsp:spPr>
        <a:xfrm rot="10800000">
          <a:off x="861920" y="980688"/>
          <a:ext cx="10343051" cy="980688"/>
        </a:xfrm>
        <a:prstGeom prst="trapezoid">
          <a:avLst>
            <a:gd name="adj" fmla="val 87889"/>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rtl="0">
            <a:lnSpc>
              <a:spcPct val="90000"/>
            </a:lnSpc>
            <a:spcBef>
              <a:spcPct val="0"/>
            </a:spcBef>
            <a:spcAft>
              <a:spcPct val="35000"/>
            </a:spcAft>
            <a:buNone/>
          </a:pPr>
          <a:r>
            <a:rPr lang="en-US" sz="2000" kern="1200" dirty="0">
              <a:latin typeface="Calibri Light" panose="020F0302020204030204"/>
            </a:rPr>
            <a:t>Private Equity Funds</a:t>
          </a:r>
          <a:endParaRPr lang="en-US" sz="2000" kern="1200" dirty="0"/>
        </a:p>
      </dsp:txBody>
      <dsp:txXfrm rot="-10800000">
        <a:off x="2671954" y="980688"/>
        <a:ext cx="6722983" cy="980688"/>
      </dsp:txXfrm>
    </dsp:sp>
    <dsp:sp modelId="{89073831-146B-490B-9A5C-6A51C1887597}">
      <dsp:nvSpPr>
        <dsp:cNvPr id="0" name=""/>
        <dsp:cNvSpPr/>
      </dsp:nvSpPr>
      <dsp:spPr>
        <a:xfrm rot="10800000">
          <a:off x="1723841" y="1961377"/>
          <a:ext cx="8619209" cy="980688"/>
        </a:xfrm>
        <a:prstGeom prst="trapezoid">
          <a:avLst>
            <a:gd name="adj" fmla="val 87889"/>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rtl="0">
            <a:lnSpc>
              <a:spcPct val="90000"/>
            </a:lnSpc>
            <a:spcBef>
              <a:spcPct val="0"/>
            </a:spcBef>
            <a:spcAft>
              <a:spcPct val="35000"/>
            </a:spcAft>
            <a:buNone/>
          </a:pPr>
          <a:r>
            <a:rPr lang="en-US" sz="2000" kern="1200" dirty="0">
              <a:latin typeface="Calibri Light" panose="020F0302020204030204"/>
            </a:rPr>
            <a:t>Banks / Financial Institutions</a:t>
          </a:r>
          <a:endParaRPr lang="en-US" sz="2000" kern="1200" dirty="0"/>
        </a:p>
      </dsp:txBody>
      <dsp:txXfrm rot="-10800000">
        <a:off x="3232203" y="1961377"/>
        <a:ext cx="5602486" cy="980688"/>
      </dsp:txXfrm>
    </dsp:sp>
    <dsp:sp modelId="{325B9499-B256-4A2A-ACD5-74E5A24ED2E9}">
      <dsp:nvSpPr>
        <dsp:cNvPr id="0" name=""/>
        <dsp:cNvSpPr/>
      </dsp:nvSpPr>
      <dsp:spPr>
        <a:xfrm rot="10800000">
          <a:off x="2585762" y="2942066"/>
          <a:ext cx="6895367" cy="980688"/>
        </a:xfrm>
        <a:prstGeom prst="trapezoid">
          <a:avLst>
            <a:gd name="adj" fmla="val 87889"/>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rtl="0">
            <a:lnSpc>
              <a:spcPct val="90000"/>
            </a:lnSpc>
            <a:spcBef>
              <a:spcPct val="0"/>
            </a:spcBef>
            <a:spcAft>
              <a:spcPct val="35000"/>
            </a:spcAft>
            <a:buNone/>
          </a:pPr>
          <a:r>
            <a:rPr lang="en-US" sz="2000" kern="1200">
              <a:latin typeface="Calibri Light" panose="020F0302020204030204"/>
            </a:rPr>
            <a:t>Venture Capital</a:t>
          </a:r>
        </a:p>
      </dsp:txBody>
      <dsp:txXfrm rot="-10800000">
        <a:off x="3792452" y="2942066"/>
        <a:ext cx="4481988" cy="980688"/>
      </dsp:txXfrm>
    </dsp:sp>
    <dsp:sp modelId="{A7DEA685-F9C3-43F3-B61B-566464D410D6}">
      <dsp:nvSpPr>
        <dsp:cNvPr id="0" name=""/>
        <dsp:cNvSpPr/>
      </dsp:nvSpPr>
      <dsp:spPr>
        <a:xfrm rot="10800000">
          <a:off x="3447683" y="3922755"/>
          <a:ext cx="5171525" cy="980688"/>
        </a:xfrm>
        <a:prstGeom prst="trapezoid">
          <a:avLst>
            <a:gd name="adj" fmla="val 87889"/>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rtl="0">
            <a:lnSpc>
              <a:spcPct val="90000"/>
            </a:lnSpc>
            <a:spcBef>
              <a:spcPct val="0"/>
            </a:spcBef>
            <a:spcAft>
              <a:spcPct val="35000"/>
            </a:spcAft>
            <a:buNone/>
          </a:pPr>
          <a:r>
            <a:rPr lang="en-US" sz="2000" kern="1200">
              <a:latin typeface="Calibri Light" panose="020F0302020204030204"/>
            </a:rPr>
            <a:t>Angel Investor</a:t>
          </a:r>
        </a:p>
      </dsp:txBody>
      <dsp:txXfrm rot="-10800000">
        <a:off x="4352700" y="3922755"/>
        <a:ext cx="3361491" cy="980688"/>
      </dsp:txXfrm>
    </dsp:sp>
    <dsp:sp modelId="{7127781F-A70E-426E-8702-40D03E953E99}">
      <dsp:nvSpPr>
        <dsp:cNvPr id="0" name=""/>
        <dsp:cNvSpPr/>
      </dsp:nvSpPr>
      <dsp:spPr>
        <a:xfrm rot="10800000">
          <a:off x="4309604" y="4903444"/>
          <a:ext cx="3447683" cy="980688"/>
        </a:xfrm>
        <a:prstGeom prst="trapezoid">
          <a:avLst>
            <a:gd name="adj" fmla="val 87889"/>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Calibri Light" panose="020F0302020204030204"/>
            </a:rPr>
            <a:t>Incubators</a:t>
          </a:r>
        </a:p>
      </dsp:txBody>
      <dsp:txXfrm rot="-10800000">
        <a:off x="4912949" y="4903444"/>
        <a:ext cx="2240994" cy="980688"/>
      </dsp:txXfrm>
    </dsp:sp>
    <dsp:sp modelId="{E3EB0BEB-B27F-4565-9D50-AF03F16ABA1F}">
      <dsp:nvSpPr>
        <dsp:cNvPr id="0" name=""/>
        <dsp:cNvSpPr/>
      </dsp:nvSpPr>
      <dsp:spPr>
        <a:xfrm rot="10800000">
          <a:off x="5171525" y="5884133"/>
          <a:ext cx="1723841" cy="980688"/>
        </a:xfrm>
        <a:prstGeom prst="trapezoid">
          <a:avLst>
            <a:gd name="adj" fmla="val 87889"/>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rtl="0">
            <a:lnSpc>
              <a:spcPct val="90000"/>
            </a:lnSpc>
            <a:spcBef>
              <a:spcPct val="0"/>
            </a:spcBef>
            <a:spcAft>
              <a:spcPct val="35000"/>
            </a:spcAft>
            <a:buNone/>
          </a:pPr>
          <a:r>
            <a:rPr lang="en-US" sz="2000" kern="1200" dirty="0">
              <a:latin typeface="Calibri Light" panose="020F0302020204030204"/>
            </a:rPr>
            <a:t>  Seed Funding   </a:t>
          </a:r>
        </a:p>
      </dsp:txBody>
      <dsp:txXfrm rot="-10800000">
        <a:off x="5171525" y="5884133"/>
        <a:ext cx="1723841" cy="98068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1422ED-2B9C-4C84-B551-1FB09B514240}">
      <dsp:nvSpPr>
        <dsp:cNvPr id="0" name=""/>
        <dsp:cNvSpPr/>
      </dsp:nvSpPr>
      <dsp:spPr>
        <a:xfrm>
          <a:off x="1489" y="0"/>
          <a:ext cx="3871696" cy="594357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86690" tIns="186690" rIns="186690" bIns="186690" numCol="1" spcCol="1270" anchor="ctr" anchorCtr="0">
          <a:noAutofit/>
        </a:bodyPr>
        <a:lstStyle/>
        <a:p>
          <a:pPr marL="0" lvl="0" indent="0" algn="ctr" defTabSz="2178050" rtl="0">
            <a:lnSpc>
              <a:spcPct val="90000"/>
            </a:lnSpc>
            <a:spcBef>
              <a:spcPct val="0"/>
            </a:spcBef>
            <a:spcAft>
              <a:spcPct val="35000"/>
            </a:spcAft>
            <a:buNone/>
          </a:pPr>
          <a:r>
            <a:rPr lang="en-US" sz="4900" kern="1200" dirty="0">
              <a:latin typeface="Calibri Light" panose="020F0302020204030204"/>
            </a:rPr>
            <a:t>Short Term Sources</a:t>
          </a:r>
          <a:endParaRPr lang="en-US" sz="4900" kern="1200" dirty="0"/>
        </a:p>
      </dsp:txBody>
      <dsp:txXfrm>
        <a:off x="1489" y="0"/>
        <a:ext cx="3871696" cy="1783072"/>
      </dsp:txXfrm>
    </dsp:sp>
    <dsp:sp modelId="{7A4BF01E-2A97-48CE-A8D6-5B3109FE778B}">
      <dsp:nvSpPr>
        <dsp:cNvPr id="0" name=""/>
        <dsp:cNvSpPr/>
      </dsp:nvSpPr>
      <dsp:spPr>
        <a:xfrm>
          <a:off x="388658" y="1784161"/>
          <a:ext cx="3097357" cy="425380"/>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rtl="0">
            <a:lnSpc>
              <a:spcPct val="90000"/>
            </a:lnSpc>
            <a:spcBef>
              <a:spcPct val="0"/>
            </a:spcBef>
            <a:spcAft>
              <a:spcPct val="35000"/>
            </a:spcAft>
            <a:buNone/>
          </a:pPr>
          <a:r>
            <a:rPr lang="en-US" sz="2000" kern="1200" dirty="0">
              <a:latin typeface="Calibri Light" panose="020F0302020204030204"/>
            </a:rPr>
            <a:t>Commercial / Trade Credit</a:t>
          </a:r>
          <a:endParaRPr lang="en-US" sz="2000" kern="1200" dirty="0"/>
        </a:p>
      </dsp:txBody>
      <dsp:txXfrm>
        <a:off x="401117" y="1796620"/>
        <a:ext cx="3072439" cy="400462"/>
      </dsp:txXfrm>
    </dsp:sp>
    <dsp:sp modelId="{7B8659BD-1312-490E-8C93-6B9936798E85}">
      <dsp:nvSpPr>
        <dsp:cNvPr id="0" name=""/>
        <dsp:cNvSpPr/>
      </dsp:nvSpPr>
      <dsp:spPr>
        <a:xfrm>
          <a:off x="388658" y="2274984"/>
          <a:ext cx="3097357" cy="425380"/>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rtl="0">
            <a:lnSpc>
              <a:spcPct val="90000"/>
            </a:lnSpc>
            <a:spcBef>
              <a:spcPct val="0"/>
            </a:spcBef>
            <a:spcAft>
              <a:spcPct val="35000"/>
            </a:spcAft>
            <a:buNone/>
          </a:pPr>
          <a:r>
            <a:rPr lang="en-US" sz="2000" kern="1200" dirty="0">
              <a:latin typeface="Calibri Light" panose="020F0302020204030204"/>
            </a:rPr>
            <a:t>Customer Advances</a:t>
          </a:r>
        </a:p>
      </dsp:txBody>
      <dsp:txXfrm>
        <a:off x="401117" y="2287443"/>
        <a:ext cx="3072439" cy="400462"/>
      </dsp:txXfrm>
    </dsp:sp>
    <dsp:sp modelId="{6188D18F-2CCD-483E-A6F9-EC9723BEA5C9}">
      <dsp:nvSpPr>
        <dsp:cNvPr id="0" name=""/>
        <dsp:cNvSpPr/>
      </dsp:nvSpPr>
      <dsp:spPr>
        <a:xfrm>
          <a:off x="388658" y="2765808"/>
          <a:ext cx="3097357" cy="425380"/>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rtl="0">
            <a:lnSpc>
              <a:spcPct val="90000"/>
            </a:lnSpc>
            <a:spcBef>
              <a:spcPct val="0"/>
            </a:spcBef>
            <a:spcAft>
              <a:spcPct val="35000"/>
            </a:spcAft>
            <a:buNone/>
          </a:pPr>
          <a:r>
            <a:rPr lang="en-US" sz="2000" kern="1200" dirty="0">
              <a:latin typeface="Calibri Light" panose="020F0302020204030204"/>
            </a:rPr>
            <a:t>Bill Discounting</a:t>
          </a:r>
        </a:p>
      </dsp:txBody>
      <dsp:txXfrm>
        <a:off x="401117" y="2778267"/>
        <a:ext cx="3072439" cy="400462"/>
      </dsp:txXfrm>
    </dsp:sp>
    <dsp:sp modelId="{8D16C53E-E98B-4E7E-A835-83397C3A49BD}">
      <dsp:nvSpPr>
        <dsp:cNvPr id="0" name=""/>
        <dsp:cNvSpPr/>
      </dsp:nvSpPr>
      <dsp:spPr>
        <a:xfrm>
          <a:off x="388658" y="3256632"/>
          <a:ext cx="3097357" cy="425380"/>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rtl="0">
            <a:lnSpc>
              <a:spcPct val="90000"/>
            </a:lnSpc>
            <a:spcBef>
              <a:spcPct val="0"/>
            </a:spcBef>
            <a:spcAft>
              <a:spcPct val="35000"/>
            </a:spcAft>
            <a:buNone/>
          </a:pPr>
          <a:r>
            <a:rPr lang="en-US" sz="2000" kern="1200" dirty="0">
              <a:latin typeface="Calibri Light" panose="020F0302020204030204"/>
            </a:rPr>
            <a:t>Bank Overdraft</a:t>
          </a:r>
        </a:p>
      </dsp:txBody>
      <dsp:txXfrm>
        <a:off x="401117" y="3269091"/>
        <a:ext cx="3072439" cy="400462"/>
      </dsp:txXfrm>
    </dsp:sp>
    <dsp:sp modelId="{2716763F-7C8E-4A9A-B4D6-B85C6E411784}">
      <dsp:nvSpPr>
        <dsp:cNvPr id="0" name=""/>
        <dsp:cNvSpPr/>
      </dsp:nvSpPr>
      <dsp:spPr>
        <a:xfrm>
          <a:off x="388658" y="3747456"/>
          <a:ext cx="3097357" cy="425380"/>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rtl="0">
            <a:lnSpc>
              <a:spcPct val="90000"/>
            </a:lnSpc>
            <a:spcBef>
              <a:spcPct val="0"/>
            </a:spcBef>
            <a:spcAft>
              <a:spcPct val="35000"/>
            </a:spcAft>
            <a:buNone/>
          </a:pPr>
          <a:r>
            <a:rPr lang="en-US" sz="2000" kern="1200" dirty="0">
              <a:latin typeface="Calibri Light" panose="020F0302020204030204"/>
            </a:rPr>
            <a:t>Cash Credit</a:t>
          </a:r>
        </a:p>
      </dsp:txBody>
      <dsp:txXfrm>
        <a:off x="401117" y="3759915"/>
        <a:ext cx="3072439" cy="400462"/>
      </dsp:txXfrm>
    </dsp:sp>
    <dsp:sp modelId="{BBCAFF97-4869-4C3A-9F38-4F10CC03F67A}">
      <dsp:nvSpPr>
        <dsp:cNvPr id="0" name=""/>
        <dsp:cNvSpPr/>
      </dsp:nvSpPr>
      <dsp:spPr>
        <a:xfrm>
          <a:off x="388658" y="4238280"/>
          <a:ext cx="3097357" cy="425380"/>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Calibri Light" panose="020F0302020204030204"/>
            </a:rPr>
            <a:t>Factoring</a:t>
          </a:r>
          <a:endParaRPr lang="en-US" sz="2000" kern="1200" dirty="0"/>
        </a:p>
      </dsp:txBody>
      <dsp:txXfrm>
        <a:off x="401117" y="4250739"/>
        <a:ext cx="3072439" cy="400462"/>
      </dsp:txXfrm>
    </dsp:sp>
    <dsp:sp modelId="{BA2F4A1F-5C4A-410C-8EB6-DFE195296DD7}">
      <dsp:nvSpPr>
        <dsp:cNvPr id="0" name=""/>
        <dsp:cNvSpPr/>
      </dsp:nvSpPr>
      <dsp:spPr>
        <a:xfrm>
          <a:off x="388658" y="4729104"/>
          <a:ext cx="3097357" cy="425380"/>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rtl="0">
            <a:lnSpc>
              <a:spcPct val="90000"/>
            </a:lnSpc>
            <a:spcBef>
              <a:spcPct val="0"/>
            </a:spcBef>
            <a:spcAft>
              <a:spcPct val="35000"/>
            </a:spcAft>
            <a:buNone/>
          </a:pPr>
          <a:r>
            <a:rPr lang="en-US" sz="2000" kern="1200" dirty="0">
              <a:latin typeface="Calibri Light" panose="020F0302020204030204"/>
            </a:rPr>
            <a:t>Commercial Paper</a:t>
          </a:r>
        </a:p>
      </dsp:txBody>
      <dsp:txXfrm>
        <a:off x="401117" y="4741563"/>
        <a:ext cx="3072439" cy="400462"/>
      </dsp:txXfrm>
    </dsp:sp>
    <dsp:sp modelId="{DFDFEF96-66CC-448F-9ABF-B2A8B9F8BFD1}">
      <dsp:nvSpPr>
        <dsp:cNvPr id="0" name=""/>
        <dsp:cNvSpPr/>
      </dsp:nvSpPr>
      <dsp:spPr>
        <a:xfrm>
          <a:off x="388658" y="5219928"/>
          <a:ext cx="3097357" cy="425380"/>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rtl="0">
            <a:lnSpc>
              <a:spcPct val="90000"/>
            </a:lnSpc>
            <a:spcBef>
              <a:spcPct val="0"/>
            </a:spcBef>
            <a:spcAft>
              <a:spcPct val="35000"/>
            </a:spcAft>
            <a:buNone/>
          </a:pPr>
          <a:r>
            <a:rPr lang="en-US" sz="2000" kern="1200" dirty="0">
              <a:latin typeface="Calibri Light" panose="020F0302020204030204"/>
            </a:rPr>
            <a:t>Hire Purchase and Leasing</a:t>
          </a:r>
        </a:p>
      </dsp:txBody>
      <dsp:txXfrm>
        <a:off x="401117" y="5232387"/>
        <a:ext cx="3072439" cy="400462"/>
      </dsp:txXfrm>
    </dsp:sp>
    <dsp:sp modelId="{B87203E0-B074-4BB7-9F6D-05A6ADA30F45}">
      <dsp:nvSpPr>
        <dsp:cNvPr id="0" name=""/>
        <dsp:cNvSpPr/>
      </dsp:nvSpPr>
      <dsp:spPr>
        <a:xfrm>
          <a:off x="4163563" y="0"/>
          <a:ext cx="3871696" cy="594357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86690" tIns="186690" rIns="186690" bIns="186690" numCol="1" spcCol="1270" anchor="ctr" anchorCtr="0">
          <a:noAutofit/>
        </a:bodyPr>
        <a:lstStyle/>
        <a:p>
          <a:pPr marL="0" lvl="0" indent="0" algn="ctr" defTabSz="2178050" rtl="0">
            <a:lnSpc>
              <a:spcPct val="90000"/>
            </a:lnSpc>
            <a:spcBef>
              <a:spcPct val="0"/>
            </a:spcBef>
            <a:spcAft>
              <a:spcPct val="35000"/>
            </a:spcAft>
            <a:buNone/>
          </a:pPr>
          <a:r>
            <a:rPr lang="en-US" sz="4900" kern="1200" dirty="0">
              <a:latin typeface="Calibri Light" panose="020F0302020204030204"/>
            </a:rPr>
            <a:t>Medium Term Sources</a:t>
          </a:r>
          <a:endParaRPr lang="en-US" sz="4900" kern="1200" dirty="0"/>
        </a:p>
      </dsp:txBody>
      <dsp:txXfrm>
        <a:off x="4163563" y="0"/>
        <a:ext cx="3871696" cy="1783072"/>
      </dsp:txXfrm>
    </dsp:sp>
    <dsp:sp modelId="{5EBBE8ED-D47E-47BB-A339-6F72A97E954A}">
      <dsp:nvSpPr>
        <dsp:cNvPr id="0" name=""/>
        <dsp:cNvSpPr/>
      </dsp:nvSpPr>
      <dsp:spPr>
        <a:xfrm>
          <a:off x="4550732" y="1784197"/>
          <a:ext cx="3097357" cy="687588"/>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rtl="0">
            <a:lnSpc>
              <a:spcPct val="90000"/>
            </a:lnSpc>
            <a:spcBef>
              <a:spcPct val="0"/>
            </a:spcBef>
            <a:spcAft>
              <a:spcPct val="35000"/>
            </a:spcAft>
            <a:buNone/>
          </a:pPr>
          <a:r>
            <a:rPr lang="en-US" sz="2000" kern="1200" dirty="0">
              <a:latin typeface="Calibri Light" panose="020F0302020204030204"/>
            </a:rPr>
            <a:t>Issue of Preference Shares</a:t>
          </a:r>
          <a:endParaRPr lang="en-US" sz="2000" kern="1200" dirty="0"/>
        </a:p>
      </dsp:txBody>
      <dsp:txXfrm>
        <a:off x="4570871" y="1804336"/>
        <a:ext cx="3057079" cy="647310"/>
      </dsp:txXfrm>
    </dsp:sp>
    <dsp:sp modelId="{4EE9CD01-3C24-4EF4-A21B-FB8D3EFFBAC0}">
      <dsp:nvSpPr>
        <dsp:cNvPr id="0" name=""/>
        <dsp:cNvSpPr/>
      </dsp:nvSpPr>
      <dsp:spPr>
        <a:xfrm>
          <a:off x="4550732" y="2577569"/>
          <a:ext cx="3097357" cy="687588"/>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rtl="0">
            <a:lnSpc>
              <a:spcPct val="90000"/>
            </a:lnSpc>
            <a:spcBef>
              <a:spcPct val="0"/>
            </a:spcBef>
            <a:spcAft>
              <a:spcPct val="35000"/>
            </a:spcAft>
            <a:buNone/>
          </a:pPr>
          <a:r>
            <a:rPr lang="en-US" sz="2000" kern="1200" dirty="0">
              <a:latin typeface="Calibri Light" panose="020F0302020204030204"/>
            </a:rPr>
            <a:t>Issue of Debentures</a:t>
          </a:r>
          <a:endParaRPr lang="en-US" sz="2000" kern="1200" dirty="0"/>
        </a:p>
      </dsp:txBody>
      <dsp:txXfrm>
        <a:off x="4570871" y="2597708"/>
        <a:ext cx="3057079" cy="647310"/>
      </dsp:txXfrm>
    </dsp:sp>
    <dsp:sp modelId="{FA191985-E31B-49EB-96A6-4B6535713D8B}">
      <dsp:nvSpPr>
        <dsp:cNvPr id="0" name=""/>
        <dsp:cNvSpPr/>
      </dsp:nvSpPr>
      <dsp:spPr>
        <a:xfrm>
          <a:off x="4550732" y="3370940"/>
          <a:ext cx="3097357" cy="687588"/>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rtl="0">
            <a:lnSpc>
              <a:spcPct val="90000"/>
            </a:lnSpc>
            <a:spcBef>
              <a:spcPct val="0"/>
            </a:spcBef>
            <a:spcAft>
              <a:spcPct val="35000"/>
            </a:spcAft>
            <a:buNone/>
          </a:pPr>
          <a:r>
            <a:rPr lang="en-US" sz="2000" kern="1200" dirty="0">
              <a:latin typeface="Calibri Light" panose="020F0302020204030204"/>
            </a:rPr>
            <a:t>Public Deposits</a:t>
          </a:r>
        </a:p>
      </dsp:txBody>
      <dsp:txXfrm>
        <a:off x="4570871" y="3391079"/>
        <a:ext cx="3057079" cy="647310"/>
      </dsp:txXfrm>
    </dsp:sp>
    <dsp:sp modelId="{FC6A178C-3652-4826-B502-AED6BD15B0C4}">
      <dsp:nvSpPr>
        <dsp:cNvPr id="0" name=""/>
        <dsp:cNvSpPr/>
      </dsp:nvSpPr>
      <dsp:spPr>
        <a:xfrm>
          <a:off x="4550732" y="4164312"/>
          <a:ext cx="3097357" cy="687588"/>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rtl="0">
            <a:lnSpc>
              <a:spcPct val="90000"/>
            </a:lnSpc>
            <a:spcBef>
              <a:spcPct val="0"/>
            </a:spcBef>
            <a:spcAft>
              <a:spcPct val="35000"/>
            </a:spcAft>
            <a:buNone/>
          </a:pPr>
          <a:r>
            <a:rPr lang="en-US" sz="2000" kern="1200" dirty="0">
              <a:latin typeface="Calibri Light" panose="020F0302020204030204"/>
            </a:rPr>
            <a:t>Bond Loans</a:t>
          </a:r>
        </a:p>
      </dsp:txBody>
      <dsp:txXfrm>
        <a:off x="4570871" y="4184451"/>
        <a:ext cx="3057079" cy="647310"/>
      </dsp:txXfrm>
    </dsp:sp>
    <dsp:sp modelId="{34C241D6-D469-434D-82B3-4EA23B917185}">
      <dsp:nvSpPr>
        <dsp:cNvPr id="0" name=""/>
        <dsp:cNvSpPr/>
      </dsp:nvSpPr>
      <dsp:spPr>
        <a:xfrm>
          <a:off x="4550732" y="4957683"/>
          <a:ext cx="3097357" cy="687588"/>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rtl="0">
            <a:lnSpc>
              <a:spcPct val="90000"/>
            </a:lnSpc>
            <a:spcBef>
              <a:spcPct val="0"/>
            </a:spcBef>
            <a:spcAft>
              <a:spcPct val="35000"/>
            </a:spcAft>
            <a:buNone/>
          </a:pPr>
          <a:r>
            <a:rPr lang="en-US" sz="2000" kern="1200" dirty="0"/>
            <a:t>Loans From Fianancial Instituitions</a:t>
          </a:r>
        </a:p>
      </dsp:txBody>
      <dsp:txXfrm>
        <a:off x="4570871" y="4977822"/>
        <a:ext cx="3057079" cy="647310"/>
      </dsp:txXfrm>
    </dsp:sp>
    <dsp:sp modelId="{07A0974B-4A4F-40B5-99C3-D9AE4B803FA3}">
      <dsp:nvSpPr>
        <dsp:cNvPr id="0" name=""/>
        <dsp:cNvSpPr/>
      </dsp:nvSpPr>
      <dsp:spPr>
        <a:xfrm>
          <a:off x="8325637" y="0"/>
          <a:ext cx="3871696" cy="594357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86690" tIns="186690" rIns="186690" bIns="186690" numCol="1" spcCol="1270" anchor="ctr" anchorCtr="0">
          <a:noAutofit/>
        </a:bodyPr>
        <a:lstStyle/>
        <a:p>
          <a:pPr marL="0" lvl="0" indent="0" algn="ctr" defTabSz="2178050" rtl="0">
            <a:lnSpc>
              <a:spcPct val="90000"/>
            </a:lnSpc>
            <a:spcBef>
              <a:spcPct val="0"/>
            </a:spcBef>
            <a:spcAft>
              <a:spcPct val="35000"/>
            </a:spcAft>
            <a:buNone/>
          </a:pPr>
          <a:r>
            <a:rPr lang="en-US" sz="4900" kern="1200" dirty="0">
              <a:latin typeface="Calibri Light" panose="020F0302020204030204"/>
            </a:rPr>
            <a:t>Long Term Sources</a:t>
          </a:r>
          <a:endParaRPr lang="en-US" sz="4900" kern="1200" dirty="0"/>
        </a:p>
      </dsp:txBody>
      <dsp:txXfrm>
        <a:off x="8325637" y="0"/>
        <a:ext cx="3871696" cy="1783072"/>
      </dsp:txXfrm>
    </dsp:sp>
    <dsp:sp modelId="{9FF2914D-763F-4E57-AFE1-8DC00FD16495}">
      <dsp:nvSpPr>
        <dsp:cNvPr id="0" name=""/>
        <dsp:cNvSpPr/>
      </dsp:nvSpPr>
      <dsp:spPr>
        <a:xfrm>
          <a:off x="8712806" y="1783217"/>
          <a:ext cx="3097357" cy="865852"/>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rtl="0">
            <a:lnSpc>
              <a:spcPct val="90000"/>
            </a:lnSpc>
            <a:spcBef>
              <a:spcPct val="0"/>
            </a:spcBef>
            <a:spcAft>
              <a:spcPct val="35000"/>
            </a:spcAft>
            <a:buNone/>
          </a:pPr>
          <a:r>
            <a:rPr lang="en-US" sz="2000" kern="1200" dirty="0">
              <a:latin typeface="Calibri Light" panose="020F0302020204030204"/>
            </a:rPr>
            <a:t>Issue of Equity Shares</a:t>
          </a:r>
          <a:endParaRPr lang="en-US" sz="2000" kern="1200" dirty="0"/>
        </a:p>
      </dsp:txBody>
      <dsp:txXfrm>
        <a:off x="8738166" y="1808577"/>
        <a:ext cx="3046637" cy="815132"/>
      </dsp:txXfrm>
    </dsp:sp>
    <dsp:sp modelId="{7C1B8114-232F-4F23-9612-7E3B87CA6135}">
      <dsp:nvSpPr>
        <dsp:cNvPr id="0" name=""/>
        <dsp:cNvSpPr/>
      </dsp:nvSpPr>
      <dsp:spPr>
        <a:xfrm>
          <a:off x="8712806" y="2782278"/>
          <a:ext cx="3097357" cy="865852"/>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rtl="0">
            <a:lnSpc>
              <a:spcPct val="90000"/>
            </a:lnSpc>
            <a:spcBef>
              <a:spcPct val="0"/>
            </a:spcBef>
            <a:spcAft>
              <a:spcPct val="35000"/>
            </a:spcAft>
            <a:buNone/>
          </a:pPr>
          <a:r>
            <a:rPr lang="en-US" sz="2000" kern="1200" dirty="0">
              <a:latin typeface="Calibri Light" panose="020F0302020204030204"/>
            </a:rPr>
            <a:t>Issue of Preference Shares</a:t>
          </a:r>
          <a:endParaRPr lang="en-US" sz="2000" kern="1200" dirty="0"/>
        </a:p>
      </dsp:txBody>
      <dsp:txXfrm>
        <a:off x="8738166" y="2807638"/>
        <a:ext cx="3046637" cy="815132"/>
      </dsp:txXfrm>
    </dsp:sp>
    <dsp:sp modelId="{CA5F9AC7-2332-46D0-A5AE-57C4A48BD1D9}">
      <dsp:nvSpPr>
        <dsp:cNvPr id="0" name=""/>
        <dsp:cNvSpPr/>
      </dsp:nvSpPr>
      <dsp:spPr>
        <a:xfrm>
          <a:off x="8712806" y="3781339"/>
          <a:ext cx="3097357" cy="865852"/>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rtl="0">
            <a:lnSpc>
              <a:spcPct val="90000"/>
            </a:lnSpc>
            <a:spcBef>
              <a:spcPct val="0"/>
            </a:spcBef>
            <a:spcAft>
              <a:spcPct val="35000"/>
            </a:spcAft>
            <a:buNone/>
          </a:pPr>
          <a:r>
            <a:rPr lang="en-US" sz="2000" kern="1200" dirty="0">
              <a:latin typeface="Calibri Light" panose="020F0302020204030204"/>
            </a:rPr>
            <a:t>Issue of Debentures</a:t>
          </a:r>
        </a:p>
      </dsp:txBody>
      <dsp:txXfrm>
        <a:off x="8738166" y="3806699"/>
        <a:ext cx="3046637" cy="815132"/>
      </dsp:txXfrm>
    </dsp:sp>
    <dsp:sp modelId="{5E9C1A7C-4124-4BDD-9A63-D71FEE32ED8C}">
      <dsp:nvSpPr>
        <dsp:cNvPr id="0" name=""/>
        <dsp:cNvSpPr/>
      </dsp:nvSpPr>
      <dsp:spPr>
        <a:xfrm>
          <a:off x="8712806" y="4780399"/>
          <a:ext cx="3097357" cy="865852"/>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rtl="0">
            <a:lnSpc>
              <a:spcPct val="90000"/>
            </a:lnSpc>
            <a:spcBef>
              <a:spcPct val="0"/>
            </a:spcBef>
            <a:spcAft>
              <a:spcPct val="35000"/>
            </a:spcAft>
            <a:buNone/>
          </a:pPr>
          <a:r>
            <a:rPr lang="en-US" sz="2000" kern="1200" dirty="0">
              <a:latin typeface="Calibri Light" panose="020F0302020204030204"/>
            </a:rPr>
            <a:t>Loans from Fianancial Institutions</a:t>
          </a:r>
          <a:endParaRPr lang="en-US" sz="2000" kern="1200" dirty="0"/>
        </a:p>
      </dsp:txBody>
      <dsp:txXfrm>
        <a:off x="8738166" y="4805759"/>
        <a:ext cx="3046637" cy="815132"/>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pyramid3">
  <dgm:title val=""/>
  <dgm:desc val=""/>
  <dgm:catLst>
    <dgm:cat type="pyramid" pri="2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T"/>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T"/>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rev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t"/>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CE196D-BC43-4946-B0A0-0E53EA46F25D}" type="datetimeFigureOut">
              <a:rPr lang="en-IN" smtClean="0"/>
              <a:t>19-01-2026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5E1BB2-19FE-4703-87FD-8FE226486878}" type="slidenum">
              <a:rPr lang="en-IN" smtClean="0"/>
              <a:t>‹#›</a:t>
            </a:fld>
            <a:endParaRPr lang="en-IN"/>
          </a:p>
        </p:txBody>
      </p:sp>
    </p:spTree>
    <p:extLst>
      <p:ext uri="{BB962C8B-B14F-4D97-AF65-F5344CB8AC3E}">
        <p14:creationId xmlns:p14="http://schemas.microsoft.com/office/powerpoint/2010/main" val="2999525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6EC913D-3726-484A-9BE1-48583A08E512}" type="datetime1">
              <a:rPr lang="en-IN" smtClean="0"/>
              <a:t>19-01-2026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94B78F3-87BC-451C-A202-F318C4D79F4A}" type="slidenum">
              <a:rPr lang="en-IN" smtClean="0"/>
              <a:pPr/>
              <a:t>‹#›</a:t>
            </a:fld>
            <a:endParaRPr lang="en-IN"/>
          </a:p>
        </p:txBody>
      </p:sp>
    </p:spTree>
    <p:extLst>
      <p:ext uri="{BB962C8B-B14F-4D97-AF65-F5344CB8AC3E}">
        <p14:creationId xmlns:p14="http://schemas.microsoft.com/office/powerpoint/2010/main" val="8009964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B533524-7FB2-45A3-83E8-60C910F528F8}" type="datetime1">
              <a:rPr lang="en-IN" smtClean="0"/>
              <a:t>19-01-2026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94B78F3-87BC-451C-A202-F318C4D79F4A}" type="slidenum">
              <a:rPr lang="en-IN" smtClean="0"/>
              <a:pPr/>
              <a:t>‹#›</a:t>
            </a:fld>
            <a:endParaRPr lang="en-IN"/>
          </a:p>
        </p:txBody>
      </p:sp>
    </p:spTree>
    <p:extLst>
      <p:ext uri="{BB962C8B-B14F-4D97-AF65-F5344CB8AC3E}">
        <p14:creationId xmlns:p14="http://schemas.microsoft.com/office/powerpoint/2010/main" val="11115157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61052E-2A9E-4010-92DE-7A2587933276}" type="datetime1">
              <a:rPr lang="en-IN" smtClean="0"/>
              <a:t>19-01-2026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94B78F3-87BC-451C-A202-F318C4D79F4A}" type="slidenum">
              <a:rPr lang="en-IN" smtClean="0"/>
              <a:pPr/>
              <a:t>‹#›</a:t>
            </a:fld>
            <a:endParaRPr lang="en-IN"/>
          </a:p>
        </p:txBody>
      </p:sp>
    </p:spTree>
    <p:extLst>
      <p:ext uri="{BB962C8B-B14F-4D97-AF65-F5344CB8AC3E}">
        <p14:creationId xmlns:p14="http://schemas.microsoft.com/office/powerpoint/2010/main" val="10585304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BBBF760-A8BB-4AFD-A986-72BBEB4BB093}" type="datetime1">
              <a:rPr lang="en-IN" smtClean="0"/>
              <a:t>19-01-2026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94B78F3-87BC-451C-A202-F318C4D79F4A}" type="slidenum">
              <a:rPr lang="en-IN" smtClean="0"/>
              <a:pPr/>
              <a:t>‹#›</a:t>
            </a:fld>
            <a:endParaRPr lang="en-IN"/>
          </a:p>
        </p:txBody>
      </p:sp>
    </p:spTree>
    <p:extLst>
      <p:ext uri="{BB962C8B-B14F-4D97-AF65-F5344CB8AC3E}">
        <p14:creationId xmlns:p14="http://schemas.microsoft.com/office/powerpoint/2010/main" val="8591668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A5DF841-98FD-42E7-BA97-552071D27539}" type="datetime1">
              <a:rPr lang="en-IN" smtClean="0"/>
              <a:t>19-01-2026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94B78F3-87BC-451C-A202-F318C4D79F4A}" type="slidenum">
              <a:rPr lang="en-IN" smtClean="0"/>
              <a:pPr/>
              <a:t>‹#›</a:t>
            </a:fld>
            <a:endParaRPr lang="en-IN"/>
          </a:p>
        </p:txBody>
      </p:sp>
    </p:spTree>
    <p:extLst>
      <p:ext uri="{BB962C8B-B14F-4D97-AF65-F5344CB8AC3E}">
        <p14:creationId xmlns:p14="http://schemas.microsoft.com/office/powerpoint/2010/main" val="38028945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59D96263-171E-4EE2-868E-941D649E4809}" type="datetime1">
              <a:rPr lang="en-IN" smtClean="0"/>
              <a:t>19-01-2026</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E94B78F3-87BC-451C-A202-F318C4D79F4A}" type="slidenum">
              <a:rPr lang="en-IN" smtClean="0"/>
              <a:pPr/>
              <a:t>‹#›</a:t>
            </a:fld>
            <a:endParaRPr lang="en-IN"/>
          </a:p>
        </p:txBody>
      </p:sp>
    </p:spTree>
    <p:extLst>
      <p:ext uri="{BB962C8B-B14F-4D97-AF65-F5344CB8AC3E}">
        <p14:creationId xmlns:p14="http://schemas.microsoft.com/office/powerpoint/2010/main" val="19701877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E05EA1F4-574B-4818-8B2A-E64B807FCF75}" type="datetime1">
              <a:rPr lang="en-IN" smtClean="0"/>
              <a:t>19-01-2026</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E94B78F3-87BC-451C-A202-F318C4D79F4A}" type="slidenum">
              <a:rPr lang="en-IN" smtClean="0"/>
              <a:pPr/>
              <a:t>‹#›</a:t>
            </a:fld>
            <a:endParaRPr lang="en-IN"/>
          </a:p>
        </p:txBody>
      </p:sp>
    </p:spTree>
    <p:extLst>
      <p:ext uri="{BB962C8B-B14F-4D97-AF65-F5344CB8AC3E}">
        <p14:creationId xmlns:p14="http://schemas.microsoft.com/office/powerpoint/2010/main" val="29714138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417FEE43-38E0-4E9C-87E4-AF35B1EF1C43}" type="datetime1">
              <a:rPr lang="en-IN" smtClean="0"/>
              <a:t>19-01-2026</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E94B78F3-87BC-451C-A202-F318C4D79F4A}" type="slidenum">
              <a:rPr lang="en-IN" smtClean="0"/>
              <a:pPr/>
              <a:t>‹#›</a:t>
            </a:fld>
            <a:endParaRPr lang="en-IN"/>
          </a:p>
        </p:txBody>
      </p:sp>
    </p:spTree>
    <p:extLst>
      <p:ext uri="{BB962C8B-B14F-4D97-AF65-F5344CB8AC3E}">
        <p14:creationId xmlns:p14="http://schemas.microsoft.com/office/powerpoint/2010/main" val="30173811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F6168F7-4B07-4EAA-BE05-7FE4D52FF7FB}" type="datetime1">
              <a:rPr lang="en-IN" smtClean="0"/>
              <a:t>19-01-2026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94B78F3-87BC-451C-A202-F318C4D79F4A}" type="slidenum">
              <a:rPr lang="en-IN" smtClean="0"/>
              <a:pPr/>
              <a:t>‹#›</a:t>
            </a:fld>
            <a:endParaRPr lang="en-IN"/>
          </a:p>
        </p:txBody>
      </p:sp>
    </p:spTree>
    <p:extLst>
      <p:ext uri="{BB962C8B-B14F-4D97-AF65-F5344CB8AC3E}">
        <p14:creationId xmlns:p14="http://schemas.microsoft.com/office/powerpoint/2010/main" val="34118735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B2C6231-BCE0-473B-840E-F4803B84A851}" type="datetime1">
              <a:rPr lang="en-IN" smtClean="0"/>
              <a:t>19-01-2026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94B78F3-87BC-451C-A202-F318C4D79F4A}" type="slidenum">
              <a:rPr lang="en-IN" smtClean="0"/>
              <a:pPr/>
              <a:t>‹#›</a:t>
            </a:fld>
            <a:endParaRPr lang="en-IN"/>
          </a:p>
        </p:txBody>
      </p:sp>
    </p:spTree>
    <p:extLst>
      <p:ext uri="{BB962C8B-B14F-4D97-AF65-F5344CB8AC3E}">
        <p14:creationId xmlns:p14="http://schemas.microsoft.com/office/powerpoint/2010/main" val="36676923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79EE5A66-DF58-405E-8772-A70345A6EBA2}" type="datetime1">
              <a:rPr lang="en-IN" smtClean="0"/>
              <a:t>19-01-2026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94B78F3-87BC-451C-A202-F318C4D79F4A}" type="slidenum">
              <a:rPr lang="en-IN" smtClean="0"/>
              <a:pPr/>
              <a:t>‹#›</a:t>
            </a:fld>
            <a:endParaRPr lang="en-IN"/>
          </a:p>
        </p:txBody>
      </p:sp>
    </p:spTree>
    <p:extLst>
      <p:ext uri="{BB962C8B-B14F-4D97-AF65-F5344CB8AC3E}">
        <p14:creationId xmlns:p14="http://schemas.microsoft.com/office/powerpoint/2010/main" val="31953808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961DB37C-7A9A-4A33-BD35-66A3864FD5DC}" type="datetime1">
              <a:rPr lang="en-IN" smtClean="0"/>
              <a:t>19-01-2026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
        <p:nvSpPr>
          <p:cNvPr id="9" name="TextBox 8"/>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110011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B9BB227-2375-451D-B824-373CE28033FB}" type="datetime1">
              <a:rPr lang="en-IN" smtClean="0"/>
              <a:t>19-01-2026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94B78F3-87BC-451C-A202-F318C4D79F4A}" type="slidenum">
              <a:rPr lang="en-IN" smtClean="0"/>
              <a:pPr/>
              <a:t>‹#›</a:t>
            </a:fld>
            <a:endParaRPr lang="en-IN"/>
          </a:p>
        </p:txBody>
      </p:sp>
    </p:spTree>
    <p:extLst>
      <p:ext uri="{BB962C8B-B14F-4D97-AF65-F5344CB8AC3E}">
        <p14:creationId xmlns:p14="http://schemas.microsoft.com/office/powerpoint/2010/main" val="31860421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7BF1E371-C8E0-4D74-9973-BDFDBCE3885C}" type="datetime1">
              <a:rPr lang="en-IN" smtClean="0"/>
              <a:t>19-01-2026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94B78F3-87BC-451C-A202-F318C4D79F4A}" type="slidenum">
              <a:rPr lang="en-IN" smtClean="0"/>
              <a:pPr/>
              <a:t>‹#›</a:t>
            </a:fld>
            <a:endParaRPr lang="en-IN"/>
          </a:p>
        </p:txBody>
      </p:sp>
    </p:spTree>
    <p:extLst>
      <p:ext uri="{BB962C8B-B14F-4D97-AF65-F5344CB8AC3E}">
        <p14:creationId xmlns:p14="http://schemas.microsoft.com/office/powerpoint/2010/main" val="13982301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34BCCC21-2310-4B10-B1DF-0E8DFB155685}" type="datetime1">
              <a:rPr lang="en-IN" smtClean="0"/>
              <a:t>19-01-2026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94B78F3-87BC-451C-A202-F318C4D79F4A}" type="slidenum">
              <a:rPr lang="en-IN" smtClean="0"/>
              <a:pPr/>
              <a:t>‹#›</a:t>
            </a:fld>
            <a:endParaRPr lang="en-IN"/>
          </a:p>
        </p:txBody>
      </p:sp>
    </p:spTree>
    <p:extLst>
      <p:ext uri="{BB962C8B-B14F-4D97-AF65-F5344CB8AC3E}">
        <p14:creationId xmlns:p14="http://schemas.microsoft.com/office/powerpoint/2010/main" val="11576123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F26DEAA-4F43-4EE2-9EE0-6856A5C8AE45}" type="datetime1">
              <a:rPr lang="en-IN" smtClean="0"/>
              <a:t>19-01-2026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94B78F3-87BC-451C-A202-F318C4D79F4A}" type="slidenum">
              <a:rPr lang="en-IN" smtClean="0"/>
              <a:pPr/>
              <a:t>‹#›</a:t>
            </a:fld>
            <a:endParaRPr lang="en-IN"/>
          </a:p>
        </p:txBody>
      </p:sp>
    </p:spTree>
    <p:extLst>
      <p:ext uri="{BB962C8B-B14F-4D97-AF65-F5344CB8AC3E}">
        <p14:creationId xmlns:p14="http://schemas.microsoft.com/office/powerpoint/2010/main" val="33166355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1A38BFA-AA04-432F-9B1B-02A2F9A49F54}" type="datetime1">
              <a:rPr lang="en-IN" smtClean="0"/>
              <a:t>19-01-2026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94B78F3-87BC-451C-A202-F318C4D79F4A}" type="slidenum">
              <a:rPr lang="en-IN" smtClean="0"/>
              <a:pPr/>
              <a:t>‹#›</a:t>
            </a:fld>
            <a:endParaRPr lang="en-IN"/>
          </a:p>
        </p:txBody>
      </p:sp>
    </p:spTree>
    <p:extLst>
      <p:ext uri="{BB962C8B-B14F-4D97-AF65-F5344CB8AC3E}">
        <p14:creationId xmlns:p14="http://schemas.microsoft.com/office/powerpoint/2010/main" val="217063863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15DC494-C005-433C-8ABD-D99EBCAA756E}" type="datetime1">
              <a:rPr lang="en-IN" smtClean="0"/>
              <a:t>19-01-2026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4264968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57D51AA-BB45-477A-A903-4BEAF177B3E0}" type="datetime1">
              <a:rPr lang="en-IN" smtClean="0"/>
              <a:t>19-01-2026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82089019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C6F7ED-8946-4AA8-ABCB-C3EEDEC94A4D}" type="datetime1">
              <a:rPr lang="en-IN" smtClean="0"/>
              <a:t>19-01-2026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99229728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C8835ED-A1B9-435D-B63D-9D8ECB6B1D5B}" type="datetime1">
              <a:rPr lang="en-IN" smtClean="0"/>
              <a:t>19-01-2026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11218473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09D1478-2DB2-406A-9A48-40DA632E8E6F}" type="datetime1">
              <a:rPr lang="en-IN" smtClean="0"/>
              <a:t>19-01-2026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58584064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7439BD04-67F7-4B7C-8EB1-14A9DD1FFC0D}" type="datetime1">
              <a:rPr lang="en-IN" smtClean="0"/>
              <a:t>19-01-2026</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09702083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ED14EEC0-A539-409D-BA7C-C707462421C6}" type="datetime1">
              <a:rPr lang="en-IN" smtClean="0"/>
              <a:t>19-01-2026</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02191695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3A12C28C-CDAB-4D5C-96CA-3FE541CDB077}" type="datetime1">
              <a:rPr lang="en-IN" smtClean="0"/>
              <a:t>19-01-2026</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16151369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99E48FE-8CB0-4D43-8A3A-28794C3441FA}" type="datetime1">
              <a:rPr lang="en-IN" smtClean="0"/>
              <a:t>19-01-2026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36866023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D264464-72B7-40ED-B495-74F6096A8996}" type="datetime1">
              <a:rPr lang="en-IN" smtClean="0"/>
              <a:t>19-01-2026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428791645"/>
      </p:ext>
    </p:extLst>
  </p:cSld>
  <p:clrMapOvr>
    <a:masterClrMapping/>
  </p:clrMapOvr>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D264464-72B7-40ED-B495-74F6096A8996}" type="datetime1">
              <a:rPr lang="en-IN" smtClean="0"/>
              <a:t>19-01-2026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899758938"/>
      </p:ext>
    </p:extLst>
  </p:cSld>
  <p:clrMapOvr>
    <a:masterClrMapping/>
  </p:clrMapOvr>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D264464-72B7-40ED-B495-74F6096A8996}" type="datetime1">
              <a:rPr lang="en-IN" smtClean="0"/>
              <a:t>19-01-2026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
        <p:nvSpPr>
          <p:cNvPr id="9" name="TextBox 8"/>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260402320"/>
      </p:ext>
    </p:extLst>
  </p:cSld>
  <p:clrMapOvr>
    <a:masterClrMapping/>
  </p:clrMapOvr>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D264464-72B7-40ED-B495-74F6096A8996}" type="datetime1">
              <a:rPr lang="en-IN" smtClean="0"/>
              <a:t>19-01-2026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86654955"/>
      </p:ext>
    </p:extLst>
  </p:cSld>
  <p:clrMapOvr>
    <a:masterClrMapping/>
  </p:clrMapOvr>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D264464-72B7-40ED-B495-74F6096A8996}" type="datetime1">
              <a:rPr lang="en-IN" smtClean="0"/>
              <a:t>19-01-2026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588554121"/>
      </p:ext>
    </p:extLst>
  </p:cSld>
  <p:clrMapOvr>
    <a:masterClrMapping/>
  </p:clrMapOvr>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D264464-72B7-40ED-B495-74F6096A8996}" type="datetime1">
              <a:rPr lang="en-IN" smtClean="0"/>
              <a:t>19-01-2026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38763456"/>
      </p:ext>
    </p:extLst>
  </p:cSld>
  <p:clrMapOvr>
    <a:masterClrMapping/>
  </p:clrMapOvr>
  <p:hf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F357923-6E14-4728-BAC2-B32BFDEB361A}" type="datetime1">
              <a:rPr lang="en-IN" smtClean="0"/>
              <a:t>19-01-2026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60890227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CD0A1B-87EF-4751-AB20-580AAB98C8BA}" type="datetime1">
              <a:rPr lang="en-IN" smtClean="0"/>
              <a:t>19-01-2026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7513965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18" Type="http://schemas.openxmlformats.org/officeDocument/2006/relationships/theme" Target="../theme/theme2.xml"/><Relationship Id="rId3" Type="http://schemas.openxmlformats.org/officeDocument/2006/relationships/slideLayout" Target="../slideLayouts/slideLayout20.xml"/><Relationship Id="rId21" Type="http://schemas.openxmlformats.org/officeDocument/2006/relationships/image" Target="../media/image4.png"/><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slideLayout" Target="../slideLayouts/slideLayout34.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20" Type="http://schemas.openxmlformats.org/officeDocument/2006/relationships/image" Target="../media/image3.png"/><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10" Type="http://schemas.openxmlformats.org/officeDocument/2006/relationships/slideLayout" Target="../slideLayouts/slideLayout27.xml"/><Relationship Id="rId19" Type="http://schemas.openxmlformats.org/officeDocument/2006/relationships/image" Target="../media/image2.png"/><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5F33730C-3656-404C-89CF-2BA43A0E8D9E}" type="datetime1">
              <a:rPr lang="en-IN" smtClean="0"/>
              <a:t>19-01-2026</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229386854"/>
      </p:ext>
    </p:extLst>
  </p:cSld>
  <p:clrMap bg1="dk1" tx1="lt1" bg2="dk2" tx2="lt2" accent1="accent1" accent2="accent2" accent3="accent3" accent4="accent4" accent5="accent5" accent6="accent6" hlink="hlink" folHlink="folHlink"/>
  <p:sldLayoutIdLst>
    <p:sldLayoutId id="2147483925" r:id="rId1"/>
    <p:sldLayoutId id="2147483926" r:id="rId2"/>
    <p:sldLayoutId id="2147483927" r:id="rId3"/>
    <p:sldLayoutId id="2147483928" r:id="rId4"/>
    <p:sldLayoutId id="2147483929" r:id="rId5"/>
    <p:sldLayoutId id="2147483930" r:id="rId6"/>
    <p:sldLayoutId id="2147483931" r:id="rId7"/>
    <p:sldLayoutId id="2147483932" r:id="rId8"/>
    <p:sldLayoutId id="2147483933" r:id="rId9"/>
    <p:sldLayoutId id="2147483934" r:id="rId10"/>
    <p:sldLayoutId id="2147483935" r:id="rId11"/>
    <p:sldLayoutId id="2147483936" r:id="rId12"/>
    <p:sldLayoutId id="2147483937" r:id="rId13"/>
    <p:sldLayoutId id="2147483938" r:id="rId14"/>
    <p:sldLayoutId id="2147483939" r:id="rId15"/>
    <p:sldLayoutId id="2147483940" r:id="rId16"/>
    <p:sldLayoutId id="2147483941" r:id="rId17"/>
  </p:sldLayoutIdLst>
  <p:hf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5F33730C-3656-404C-89CF-2BA43A0E8D9E}" type="datetime1">
              <a:rPr lang="en-IN" smtClean="0"/>
              <a:t>19-01-2026</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139404055"/>
      </p:ext>
    </p:extLst>
  </p:cSld>
  <p:clrMap bg1="dk1" tx1="lt1" bg2="dk2" tx2="lt2" accent1="accent1" accent2="accent2" accent3="accent3" accent4="accent4" accent5="accent5" accent6="accent6" hlink="hlink" folHlink="folHlink"/>
  <p:sldLayoutIdLst>
    <p:sldLayoutId id="2147483961" r:id="rId1"/>
    <p:sldLayoutId id="2147483962" r:id="rId2"/>
    <p:sldLayoutId id="2147483963" r:id="rId3"/>
    <p:sldLayoutId id="2147483964" r:id="rId4"/>
    <p:sldLayoutId id="2147483965" r:id="rId5"/>
    <p:sldLayoutId id="2147483966" r:id="rId6"/>
    <p:sldLayoutId id="2147483967" r:id="rId7"/>
    <p:sldLayoutId id="2147483968" r:id="rId8"/>
    <p:sldLayoutId id="2147483969" r:id="rId9"/>
    <p:sldLayoutId id="2147483970" r:id="rId10"/>
    <p:sldLayoutId id="2147483971" r:id="rId11"/>
    <p:sldLayoutId id="2147483972" r:id="rId12"/>
    <p:sldLayoutId id="2147483973" r:id="rId13"/>
    <p:sldLayoutId id="2147483974" r:id="rId14"/>
    <p:sldLayoutId id="2147483975" r:id="rId15"/>
    <p:sldLayoutId id="2147483976" r:id="rId16"/>
    <p:sldLayoutId id="2147483977" r:id="rId17"/>
  </p:sldLayoutIdLst>
  <p:hf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s://www.businessnewsdaily.com/11173-equity-crowdfunding-basics.html"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BB3FB8A-F3B5-2816-F105-C9EB05C35D26}"/>
              </a:ext>
            </a:extLst>
          </p:cNvPr>
          <p:cNvSpPr>
            <a:spLocks noGrp="1"/>
          </p:cNvSpPr>
          <p:nvPr>
            <p:ph type="sldNum" sz="quarter" idx="12"/>
          </p:nvPr>
        </p:nvSpPr>
        <p:spPr/>
        <p:txBody>
          <a:bodyPr/>
          <a:lstStyle/>
          <a:p>
            <a:fld id="{4FAB73BC-B049-4115-A692-8D63A059BFB8}" type="slidenum">
              <a:rPr lang="en-US" smtClean="0"/>
              <a:pPr/>
              <a:t>1</a:t>
            </a:fld>
            <a:endParaRPr lang="en-US" dirty="0"/>
          </a:p>
        </p:txBody>
      </p:sp>
      <p:sp>
        <p:nvSpPr>
          <p:cNvPr id="8" name="TextBox 7">
            <a:extLst>
              <a:ext uri="{FF2B5EF4-FFF2-40B4-BE49-F238E27FC236}">
                <a16:creationId xmlns:a16="http://schemas.microsoft.com/office/drawing/2014/main" id="{C50BC093-0D53-C80D-5715-61D20835EF01}"/>
              </a:ext>
            </a:extLst>
          </p:cNvPr>
          <p:cNvSpPr txBox="1"/>
          <p:nvPr/>
        </p:nvSpPr>
        <p:spPr>
          <a:xfrm>
            <a:off x="1990023" y="740250"/>
            <a:ext cx="6097604" cy="1754326"/>
          </a:xfrm>
          <a:prstGeom prst="rect">
            <a:avLst/>
          </a:prstGeom>
          <a:noFill/>
        </p:spPr>
        <p:txBody>
          <a:bodyPr wrap="square">
            <a:spAutoFit/>
          </a:bodyPr>
          <a:lstStyle/>
          <a:p>
            <a:r>
              <a:rPr lang="en-GB" sz="3600" b="1" dirty="0">
                <a:solidFill>
                  <a:schemeClr val="tx1"/>
                </a:solidFill>
                <a:ea typeface="+mn-lt"/>
                <a:cs typeface="+mn-lt"/>
              </a:rPr>
              <a:t>UNIT-III</a:t>
            </a:r>
          </a:p>
          <a:p>
            <a:r>
              <a:rPr lang="en-GB" sz="3600" b="1" dirty="0">
                <a:solidFill>
                  <a:schemeClr val="tx1"/>
                </a:solidFill>
                <a:ea typeface="+mn-lt"/>
                <a:cs typeface="+mn-lt"/>
              </a:rPr>
              <a:t>Project </a:t>
            </a:r>
            <a:r>
              <a:rPr lang="en-GB" sz="3600" b="1" dirty="0">
                <a:ea typeface="+mn-lt"/>
                <a:cs typeface="+mn-lt"/>
              </a:rPr>
              <a:t>Finance for Entrepreneur</a:t>
            </a:r>
            <a:r>
              <a:rPr lang="en-GB" sz="3600" b="1" cap="all" dirty="0">
                <a:solidFill>
                  <a:schemeClr val="tx1"/>
                </a:solidFill>
                <a:ea typeface="+mn-lt"/>
                <a:cs typeface="+mn-lt"/>
              </a:rPr>
              <a:t> </a:t>
            </a:r>
            <a:endParaRPr lang="en-US" sz="3600" dirty="0">
              <a:solidFill>
                <a:schemeClr val="tx1"/>
              </a:solidFill>
            </a:endParaRPr>
          </a:p>
        </p:txBody>
      </p:sp>
    </p:spTree>
    <p:extLst>
      <p:ext uri="{BB962C8B-B14F-4D97-AF65-F5344CB8AC3E}">
        <p14:creationId xmlns:p14="http://schemas.microsoft.com/office/powerpoint/2010/main" val="25800037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3A1DA-54E6-97DA-21A8-27B26D866D7D}"/>
              </a:ext>
            </a:extLst>
          </p:cNvPr>
          <p:cNvSpPr>
            <a:spLocks noGrp="1"/>
          </p:cNvSpPr>
          <p:nvPr>
            <p:ph type="title"/>
          </p:nvPr>
        </p:nvSpPr>
        <p:spPr>
          <a:xfrm>
            <a:off x="646111" y="452718"/>
            <a:ext cx="9404723" cy="914069"/>
          </a:xfrm>
        </p:spPr>
        <p:txBody>
          <a:bodyPr/>
          <a:lstStyle/>
          <a:p>
            <a:r>
              <a:rPr lang="en-US" b="1" dirty="0">
                <a:ea typeface="+mj-lt"/>
                <a:cs typeface="+mj-lt"/>
              </a:rPr>
              <a:t>Entrepreneurial Finance</a:t>
            </a:r>
            <a:endParaRPr lang="en-IN" dirty="0"/>
          </a:p>
        </p:txBody>
      </p:sp>
      <p:pic>
        <p:nvPicPr>
          <p:cNvPr id="5" name="Content Placeholder 4">
            <a:extLst>
              <a:ext uri="{FF2B5EF4-FFF2-40B4-BE49-F238E27FC236}">
                <a16:creationId xmlns:a16="http://schemas.microsoft.com/office/drawing/2014/main" id="{D64C1472-2169-229D-29DE-86B7D776DE92}"/>
              </a:ext>
            </a:extLst>
          </p:cNvPr>
          <p:cNvPicPr>
            <a:picLocks noGrp="1" noChangeAspect="1"/>
          </p:cNvPicPr>
          <p:nvPr>
            <p:ph idx="1"/>
          </p:nvPr>
        </p:nvPicPr>
        <p:blipFill>
          <a:blip r:embed="rId2"/>
          <a:stretch>
            <a:fillRect/>
          </a:stretch>
        </p:blipFill>
        <p:spPr>
          <a:xfrm>
            <a:off x="567891" y="1453415"/>
            <a:ext cx="3773907" cy="4823861"/>
          </a:xfrm>
          <a:prstGeom prst="rect">
            <a:avLst/>
          </a:prstGeom>
        </p:spPr>
      </p:pic>
      <p:sp>
        <p:nvSpPr>
          <p:cNvPr id="4" name="Slide Number Placeholder 3">
            <a:extLst>
              <a:ext uri="{FF2B5EF4-FFF2-40B4-BE49-F238E27FC236}">
                <a16:creationId xmlns:a16="http://schemas.microsoft.com/office/drawing/2014/main" id="{34C32669-64B7-7862-DFDB-BC09C4A57E8E}"/>
              </a:ext>
            </a:extLst>
          </p:cNvPr>
          <p:cNvSpPr>
            <a:spLocks noGrp="1"/>
          </p:cNvSpPr>
          <p:nvPr>
            <p:ph type="sldNum" sz="quarter" idx="12"/>
          </p:nvPr>
        </p:nvSpPr>
        <p:spPr/>
        <p:txBody>
          <a:bodyPr/>
          <a:lstStyle/>
          <a:p>
            <a:fld id="{E94B78F3-87BC-451C-A202-F318C4D79F4A}" type="slidenum">
              <a:rPr lang="en-IN" smtClean="0"/>
              <a:pPr/>
              <a:t>2</a:t>
            </a:fld>
            <a:endParaRPr lang="en-IN"/>
          </a:p>
        </p:txBody>
      </p:sp>
      <p:sp>
        <p:nvSpPr>
          <p:cNvPr id="7" name="TextBox 6">
            <a:extLst>
              <a:ext uri="{FF2B5EF4-FFF2-40B4-BE49-F238E27FC236}">
                <a16:creationId xmlns:a16="http://schemas.microsoft.com/office/drawing/2014/main" id="{B49B2FF7-C26E-37C1-F369-65231E577973}"/>
              </a:ext>
            </a:extLst>
          </p:cNvPr>
          <p:cNvSpPr txBox="1"/>
          <p:nvPr/>
        </p:nvSpPr>
        <p:spPr>
          <a:xfrm>
            <a:off x="4559968" y="2419430"/>
            <a:ext cx="6097604" cy="3785652"/>
          </a:xfrm>
          <a:prstGeom prst="rect">
            <a:avLst/>
          </a:prstGeom>
          <a:noFill/>
        </p:spPr>
        <p:txBody>
          <a:bodyPr wrap="square">
            <a:spAutoFit/>
          </a:bodyPr>
          <a:lstStyle/>
          <a:p>
            <a:r>
              <a:rPr lang="en-US" sz="2400" dirty="0"/>
              <a:t>Entrepreneurial finance is defined as the study of resource allocation and value, which is applied to new companies or startups and ventures.</a:t>
            </a:r>
          </a:p>
          <a:p>
            <a:endParaRPr lang="en-US" sz="2400" dirty="0"/>
          </a:p>
          <a:p>
            <a:r>
              <a:rPr lang="en-US" sz="2400" dirty="0"/>
              <a:t>Importance of Entrepreneurial Finance</a:t>
            </a:r>
          </a:p>
          <a:p>
            <a:r>
              <a:rPr lang="en-US" sz="2400" dirty="0"/>
              <a:t>Identifying different strategies for different phases of business venture</a:t>
            </a:r>
          </a:p>
          <a:p>
            <a:r>
              <a:rPr lang="en-US" sz="2400" dirty="0"/>
              <a:t>Maintain regular capital inflows</a:t>
            </a:r>
          </a:p>
          <a:p>
            <a:r>
              <a:rPr lang="en-US" sz="2400" dirty="0"/>
              <a:t>Planning Capital acquisition</a:t>
            </a:r>
          </a:p>
        </p:txBody>
      </p:sp>
    </p:spTree>
    <p:extLst>
      <p:ext uri="{BB962C8B-B14F-4D97-AF65-F5344CB8AC3E}">
        <p14:creationId xmlns:p14="http://schemas.microsoft.com/office/powerpoint/2010/main" val="20572975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59CE127-D002-B08D-CC9B-F5A7D1788C3E}"/>
              </a:ext>
            </a:extLst>
          </p:cNvPr>
          <p:cNvSpPr>
            <a:spLocks noGrp="1"/>
          </p:cNvSpPr>
          <p:nvPr>
            <p:ph type="title"/>
          </p:nvPr>
        </p:nvSpPr>
        <p:spPr/>
        <p:txBody>
          <a:bodyPr/>
          <a:lstStyle/>
          <a:p>
            <a:r>
              <a:rPr lang="en-GB" dirty="0">
                <a:latin typeface="Times New Roman" panose="02020603050405020304" pitchFamily="18" charset="0"/>
                <a:cs typeface="Times New Roman" panose="02020603050405020304" pitchFamily="18" charset="0"/>
              </a:rPr>
              <a:t>Factors determining the capital requirements</a:t>
            </a:r>
            <a:br>
              <a:rPr lang="en-GB" b="1" dirty="0"/>
            </a:br>
            <a:endParaRPr lang="en-IN" dirty="0"/>
          </a:p>
        </p:txBody>
      </p:sp>
      <p:sp>
        <p:nvSpPr>
          <p:cNvPr id="6" name="Content Placeholder 5">
            <a:extLst>
              <a:ext uri="{FF2B5EF4-FFF2-40B4-BE49-F238E27FC236}">
                <a16:creationId xmlns:a16="http://schemas.microsoft.com/office/drawing/2014/main" id="{E0BD695A-AB78-20E1-FE6D-F30A7CD08223}"/>
              </a:ext>
            </a:extLst>
          </p:cNvPr>
          <p:cNvSpPr>
            <a:spLocks noGrp="1"/>
          </p:cNvSpPr>
          <p:nvPr>
            <p:ph idx="1"/>
          </p:nvPr>
        </p:nvSpPr>
        <p:spPr/>
        <p:txBody>
          <a:bodyPr/>
          <a:lstStyle/>
          <a:p>
            <a:pPr lvl="0"/>
            <a:r>
              <a:rPr lang="en-GB" sz="2400" dirty="0">
                <a:latin typeface="Times New Roman" panose="02020603050405020304" pitchFamily="18" charset="0"/>
                <a:cs typeface="Times New Roman" panose="02020603050405020304" pitchFamily="18" charset="0"/>
              </a:rPr>
              <a:t>Cost of fixed assets</a:t>
            </a:r>
            <a:endParaRPr lang="en-US" sz="2400" dirty="0">
              <a:latin typeface="Times New Roman" panose="02020603050405020304" pitchFamily="18" charset="0"/>
              <a:cs typeface="Times New Roman" panose="02020603050405020304" pitchFamily="18" charset="0"/>
            </a:endParaRPr>
          </a:p>
          <a:p>
            <a:pPr lvl="0"/>
            <a:r>
              <a:rPr lang="en-GB" sz="2400" dirty="0">
                <a:latin typeface="Times New Roman" panose="02020603050405020304" pitchFamily="18" charset="0"/>
                <a:cs typeface="Times New Roman" panose="02020603050405020304" pitchFamily="18" charset="0"/>
              </a:rPr>
              <a:t>Cost of current assets  </a:t>
            </a:r>
            <a:endParaRPr lang="en-US" sz="2400" dirty="0">
              <a:latin typeface="Times New Roman" panose="02020603050405020304" pitchFamily="18" charset="0"/>
              <a:cs typeface="Times New Roman" panose="02020603050405020304" pitchFamily="18" charset="0"/>
            </a:endParaRPr>
          </a:p>
          <a:p>
            <a:pPr lvl="0" rtl="0"/>
            <a:r>
              <a:rPr lang="en-GB" sz="2400" dirty="0">
                <a:latin typeface="Times New Roman" panose="02020603050405020304" pitchFamily="18" charset="0"/>
                <a:cs typeface="Times New Roman" panose="02020603050405020304" pitchFamily="18" charset="0"/>
              </a:rPr>
              <a:t>Cost of promotion </a:t>
            </a:r>
            <a:endParaRPr lang="en-US" sz="2400" dirty="0">
              <a:latin typeface="Times New Roman" panose="02020603050405020304" pitchFamily="18" charset="0"/>
              <a:cs typeface="Times New Roman" panose="02020603050405020304" pitchFamily="18" charset="0"/>
            </a:endParaRPr>
          </a:p>
          <a:p>
            <a:pPr lvl="0"/>
            <a:r>
              <a:rPr lang="en-GB" sz="2400" dirty="0">
                <a:latin typeface="Times New Roman" panose="02020603050405020304" pitchFamily="18" charset="0"/>
                <a:cs typeface="Times New Roman" panose="02020603050405020304" pitchFamily="18" charset="0"/>
              </a:rPr>
              <a:t>Cost of establishing the business</a:t>
            </a:r>
          </a:p>
          <a:p>
            <a:pPr lvl="0" rtl="0"/>
            <a:r>
              <a:rPr lang="en-GB" sz="2400" dirty="0">
                <a:latin typeface="Times New Roman" panose="02020603050405020304" pitchFamily="18" charset="0"/>
                <a:cs typeface="Times New Roman" panose="02020603050405020304" pitchFamily="18" charset="0"/>
              </a:rPr>
              <a:t>Cost of financing </a:t>
            </a:r>
          </a:p>
          <a:p>
            <a:pPr lvl="0"/>
            <a:r>
              <a:rPr lang="en-GB" sz="2400" dirty="0">
                <a:latin typeface="Times New Roman" panose="02020603050405020304" pitchFamily="18" charset="0"/>
                <a:cs typeface="Times New Roman" panose="02020603050405020304" pitchFamily="18" charset="0"/>
              </a:rPr>
              <a:t>Cost of intangible assets </a:t>
            </a:r>
            <a:endParaRPr lang="en-US" sz="2400" dirty="0">
              <a:latin typeface="Times New Roman" panose="02020603050405020304" pitchFamily="18" charset="0"/>
              <a:cs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id="{9BDB8870-E721-7C7E-09E8-3FBE52203D6E}"/>
              </a:ext>
            </a:extLst>
          </p:cNvPr>
          <p:cNvSpPr>
            <a:spLocks noGrp="1"/>
          </p:cNvSpPr>
          <p:nvPr>
            <p:ph type="sldNum" sz="quarter" idx="12"/>
          </p:nvPr>
        </p:nvSpPr>
        <p:spPr/>
        <p:txBody>
          <a:bodyPr/>
          <a:lstStyle/>
          <a:p>
            <a:fld id="{4FAB73BC-B049-4115-A692-8D63A059BFB8}" type="slidenum">
              <a:rPr lang="en-US" smtClean="0"/>
              <a:pPr/>
              <a:t>3</a:t>
            </a:fld>
            <a:endParaRPr lang="en-US" dirty="0"/>
          </a:p>
        </p:txBody>
      </p:sp>
    </p:spTree>
    <p:extLst>
      <p:ext uri="{BB962C8B-B14F-4D97-AF65-F5344CB8AC3E}">
        <p14:creationId xmlns:p14="http://schemas.microsoft.com/office/powerpoint/2010/main" val="14030981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54C34-E811-CB31-605D-5DEA3795E079}"/>
              </a:ext>
            </a:extLst>
          </p:cNvPr>
          <p:cNvSpPr>
            <a:spLocks noGrp="1"/>
          </p:cNvSpPr>
          <p:nvPr>
            <p:ph type="title"/>
          </p:nvPr>
        </p:nvSpPr>
        <p:spPr/>
        <p:txBody>
          <a:bodyPr/>
          <a:lstStyle/>
          <a:p>
            <a:r>
              <a:rPr lang="en-US" b="1" dirty="0">
                <a:solidFill>
                  <a:srgbClr val="FFFFFF"/>
                </a:solidFill>
              </a:rPr>
              <a:t>Classification of Capital</a:t>
            </a:r>
            <a:endParaRPr lang="en-IN" dirty="0"/>
          </a:p>
        </p:txBody>
      </p:sp>
      <p:sp>
        <p:nvSpPr>
          <p:cNvPr id="3" name="Content Placeholder 2">
            <a:extLst>
              <a:ext uri="{FF2B5EF4-FFF2-40B4-BE49-F238E27FC236}">
                <a16:creationId xmlns:a16="http://schemas.microsoft.com/office/drawing/2014/main" id="{90569608-7586-EAB8-D59D-0E0C9FB00689}"/>
              </a:ext>
            </a:extLst>
          </p:cNvPr>
          <p:cNvSpPr>
            <a:spLocks noGrp="1"/>
          </p:cNvSpPr>
          <p:nvPr>
            <p:ph idx="1"/>
          </p:nvPr>
        </p:nvSpPr>
        <p:spPr/>
        <p:txBody>
          <a:bodyPr>
            <a:normAutofit fontScale="92500" lnSpcReduction="10000"/>
          </a:bodyPr>
          <a:lstStyle/>
          <a:p>
            <a:r>
              <a:rPr lang="en-US" b="1" dirty="0"/>
              <a:t>On the basis of Permanence</a:t>
            </a:r>
          </a:p>
          <a:p>
            <a:pPr lvl="1"/>
            <a:r>
              <a:rPr lang="en-US" sz="2800" dirty="0"/>
              <a:t>Fixed Capital</a:t>
            </a:r>
            <a:endParaRPr lang="en-US" sz="2800" dirty="0">
              <a:cs typeface="Calibri"/>
            </a:endParaRPr>
          </a:p>
          <a:p>
            <a:pPr lvl="2"/>
            <a:r>
              <a:rPr lang="en-US" sz="2400" dirty="0"/>
              <a:t>Is also known as Block Capital.</a:t>
            </a:r>
            <a:endParaRPr lang="en-US" sz="2400" dirty="0">
              <a:cs typeface="Calibri"/>
            </a:endParaRPr>
          </a:p>
          <a:p>
            <a:pPr lvl="2" algn="just"/>
            <a:r>
              <a:rPr lang="en-US" sz="2400" dirty="0"/>
              <a:t>“Is the fund required for the acquisition of those assets that are to be used over a long period such as Land, Building, Machinery, Equipment and Tools”.</a:t>
            </a:r>
            <a:endParaRPr lang="en-US" sz="2400" dirty="0">
              <a:cs typeface="Calibri" panose="020F0502020204030204"/>
            </a:endParaRPr>
          </a:p>
          <a:p>
            <a:pPr lvl="1"/>
            <a:r>
              <a:rPr lang="en-US" sz="2800" dirty="0"/>
              <a:t>Working Capital</a:t>
            </a:r>
            <a:endParaRPr lang="en-US" sz="2800" dirty="0">
              <a:cs typeface="Calibri"/>
            </a:endParaRPr>
          </a:p>
          <a:p>
            <a:pPr lvl="2"/>
            <a:r>
              <a:rPr lang="en-US" sz="2400" dirty="0"/>
              <a:t>Is also known as Circulating Capital.</a:t>
            </a:r>
            <a:endParaRPr lang="en-US" sz="2400" dirty="0">
              <a:cs typeface="Calibri"/>
            </a:endParaRPr>
          </a:p>
          <a:p>
            <a:pPr lvl="2"/>
            <a:r>
              <a:rPr lang="en-US" sz="2400" dirty="0"/>
              <a:t>Is the money invested in Current assets like Raw Materials, Finished goods, Debtors etc.”</a:t>
            </a:r>
            <a:endParaRPr lang="en-US" sz="2400" dirty="0">
              <a:cs typeface="Calibri"/>
            </a:endParaRPr>
          </a:p>
          <a:p>
            <a:endParaRPr lang="en-IN" dirty="0"/>
          </a:p>
        </p:txBody>
      </p:sp>
      <p:sp>
        <p:nvSpPr>
          <p:cNvPr id="4" name="Slide Number Placeholder 3">
            <a:extLst>
              <a:ext uri="{FF2B5EF4-FFF2-40B4-BE49-F238E27FC236}">
                <a16:creationId xmlns:a16="http://schemas.microsoft.com/office/drawing/2014/main" id="{CB441A42-6EF6-E7AD-9F18-273C094A3D60}"/>
              </a:ext>
            </a:extLst>
          </p:cNvPr>
          <p:cNvSpPr>
            <a:spLocks noGrp="1"/>
          </p:cNvSpPr>
          <p:nvPr>
            <p:ph type="sldNum" sz="quarter" idx="12"/>
          </p:nvPr>
        </p:nvSpPr>
        <p:spPr/>
        <p:txBody>
          <a:bodyPr/>
          <a:lstStyle/>
          <a:p>
            <a:fld id="{E94B78F3-87BC-451C-A202-F318C4D79F4A}" type="slidenum">
              <a:rPr lang="en-IN" smtClean="0"/>
              <a:pPr/>
              <a:t>4</a:t>
            </a:fld>
            <a:endParaRPr lang="en-IN"/>
          </a:p>
        </p:txBody>
      </p:sp>
    </p:spTree>
    <p:extLst>
      <p:ext uri="{BB962C8B-B14F-4D97-AF65-F5344CB8AC3E}">
        <p14:creationId xmlns:p14="http://schemas.microsoft.com/office/powerpoint/2010/main" val="9325538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27037-B22A-8AE1-E4C3-1C4831D6AA9A}"/>
              </a:ext>
            </a:extLst>
          </p:cNvPr>
          <p:cNvSpPr>
            <a:spLocks noGrp="1"/>
          </p:cNvSpPr>
          <p:nvPr>
            <p:ph type="title"/>
          </p:nvPr>
        </p:nvSpPr>
        <p:spPr/>
        <p:txBody>
          <a:bodyPr/>
          <a:lstStyle/>
          <a:p>
            <a:r>
              <a:rPr lang="en-US" sz="4400" b="1" dirty="0">
                <a:solidFill>
                  <a:srgbClr val="FFFFFF"/>
                </a:solidFill>
              </a:rPr>
              <a:t>Classification of Capital</a:t>
            </a:r>
            <a:endParaRPr lang="en-IN" dirty="0"/>
          </a:p>
        </p:txBody>
      </p:sp>
      <p:sp>
        <p:nvSpPr>
          <p:cNvPr id="3" name="Content Placeholder 2">
            <a:extLst>
              <a:ext uri="{FF2B5EF4-FFF2-40B4-BE49-F238E27FC236}">
                <a16:creationId xmlns:a16="http://schemas.microsoft.com/office/drawing/2014/main" id="{89AC2035-9AEB-F224-57A2-1A05A812126E}"/>
              </a:ext>
            </a:extLst>
          </p:cNvPr>
          <p:cNvSpPr>
            <a:spLocks noGrp="1"/>
          </p:cNvSpPr>
          <p:nvPr>
            <p:ph idx="1"/>
          </p:nvPr>
        </p:nvSpPr>
        <p:spPr>
          <a:xfrm>
            <a:off x="1103312" y="1232034"/>
            <a:ext cx="8946541" cy="5016365"/>
          </a:xfrm>
        </p:spPr>
        <p:txBody>
          <a:bodyPr>
            <a:normAutofit fontScale="92500" lnSpcReduction="20000"/>
          </a:bodyPr>
          <a:lstStyle/>
          <a:p>
            <a:r>
              <a:rPr lang="en-US" sz="3000" b="1" dirty="0"/>
              <a:t>On the basis of Period of Use</a:t>
            </a:r>
            <a:endParaRPr lang="en-US" sz="3000" dirty="0">
              <a:cs typeface="Calibri"/>
            </a:endParaRPr>
          </a:p>
          <a:p>
            <a:pPr lvl="1"/>
            <a:r>
              <a:rPr lang="en-US" sz="2800" b="1" dirty="0"/>
              <a:t>Long Term Capital</a:t>
            </a:r>
            <a:endParaRPr lang="en-US" sz="2800" b="1" dirty="0">
              <a:cs typeface="Calibri"/>
            </a:endParaRPr>
          </a:p>
          <a:p>
            <a:pPr marL="914400" lvl="2" indent="0">
              <a:buNone/>
            </a:pPr>
            <a:r>
              <a:rPr lang="en-US" sz="2800" dirty="0"/>
              <a:t>Is such money whose repayment is arranged for more than 5 years in future</a:t>
            </a:r>
            <a:endParaRPr lang="en-US" sz="2800" dirty="0">
              <a:cs typeface="Calibri"/>
            </a:endParaRPr>
          </a:p>
          <a:p>
            <a:pPr marL="914400" lvl="2" indent="0">
              <a:buNone/>
            </a:pPr>
            <a:r>
              <a:rPr lang="en-US" sz="2800" dirty="0"/>
              <a:t>Sources – Owner’s Equity, Term Loans from Financial Institutions, Credit Facilities from Banks etc.</a:t>
            </a:r>
            <a:endParaRPr lang="en-US" sz="2800" dirty="0">
              <a:cs typeface="Calibri"/>
            </a:endParaRPr>
          </a:p>
          <a:p>
            <a:pPr lvl="1"/>
            <a:r>
              <a:rPr lang="en-US" sz="2800" b="1" dirty="0"/>
              <a:t>Short Term Capital </a:t>
            </a:r>
            <a:endParaRPr lang="en-US" sz="2800" b="1" dirty="0">
              <a:cs typeface="Calibri"/>
            </a:endParaRPr>
          </a:p>
          <a:p>
            <a:pPr marL="914400" lvl="2" indent="0">
              <a:buNone/>
            </a:pPr>
            <a:r>
              <a:rPr lang="en-US" sz="2800" dirty="0"/>
              <a:t>Is borrowed capital that is to be repaid within one year.</a:t>
            </a:r>
            <a:endParaRPr lang="en-US" sz="2800" dirty="0">
              <a:cs typeface="Calibri"/>
            </a:endParaRPr>
          </a:p>
          <a:p>
            <a:pPr marL="914400" lvl="2" indent="0">
              <a:buNone/>
            </a:pPr>
            <a:r>
              <a:rPr lang="en-US" sz="2800" dirty="0"/>
              <a:t>Sources -  Bank Borrowings, Deposits or Borrowings</a:t>
            </a:r>
            <a:endParaRPr lang="en-US" sz="2800" dirty="0">
              <a:cs typeface="Calibri"/>
            </a:endParaRPr>
          </a:p>
          <a:p>
            <a:endParaRPr lang="en-IN" dirty="0"/>
          </a:p>
        </p:txBody>
      </p:sp>
      <p:sp>
        <p:nvSpPr>
          <p:cNvPr id="4" name="Slide Number Placeholder 3">
            <a:extLst>
              <a:ext uri="{FF2B5EF4-FFF2-40B4-BE49-F238E27FC236}">
                <a16:creationId xmlns:a16="http://schemas.microsoft.com/office/drawing/2014/main" id="{3BD70F09-2F5C-6E60-3167-46DBA687063C}"/>
              </a:ext>
            </a:extLst>
          </p:cNvPr>
          <p:cNvSpPr>
            <a:spLocks noGrp="1"/>
          </p:cNvSpPr>
          <p:nvPr>
            <p:ph type="sldNum" sz="quarter" idx="12"/>
          </p:nvPr>
        </p:nvSpPr>
        <p:spPr/>
        <p:txBody>
          <a:bodyPr/>
          <a:lstStyle/>
          <a:p>
            <a:fld id="{E94B78F3-87BC-451C-A202-F318C4D79F4A}" type="slidenum">
              <a:rPr lang="en-IN" smtClean="0"/>
              <a:pPr/>
              <a:t>5</a:t>
            </a:fld>
            <a:endParaRPr lang="en-IN"/>
          </a:p>
        </p:txBody>
      </p:sp>
    </p:spTree>
    <p:extLst>
      <p:ext uri="{BB962C8B-B14F-4D97-AF65-F5344CB8AC3E}">
        <p14:creationId xmlns:p14="http://schemas.microsoft.com/office/powerpoint/2010/main" val="24245375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7B678-7E46-4F9E-9DB5-DB2B2035D989}"/>
              </a:ext>
            </a:extLst>
          </p:cNvPr>
          <p:cNvSpPr>
            <a:spLocks noGrp="1"/>
          </p:cNvSpPr>
          <p:nvPr>
            <p:ph type="title"/>
          </p:nvPr>
        </p:nvSpPr>
        <p:spPr>
          <a:xfrm>
            <a:off x="646111" y="452718"/>
            <a:ext cx="9706429" cy="1400530"/>
          </a:xfrm>
        </p:spPr>
        <p:txBody>
          <a:bodyPr/>
          <a:lstStyle/>
          <a:p>
            <a:r>
              <a:rPr lang="en-GB" b="1" dirty="0"/>
              <a:t>Fixed Capital or Block Capital</a:t>
            </a:r>
            <a:br>
              <a:rPr lang="en-GB" b="1" dirty="0"/>
            </a:br>
            <a:endParaRPr lang="en-GB" dirty="0"/>
          </a:p>
        </p:txBody>
      </p:sp>
      <p:sp>
        <p:nvSpPr>
          <p:cNvPr id="3" name="Content Placeholder 2">
            <a:extLst>
              <a:ext uri="{FF2B5EF4-FFF2-40B4-BE49-F238E27FC236}">
                <a16:creationId xmlns:a16="http://schemas.microsoft.com/office/drawing/2014/main" id="{53E38B4D-AE2D-4C84-BAA9-4AB6A717BDE5}"/>
              </a:ext>
            </a:extLst>
          </p:cNvPr>
          <p:cNvSpPr>
            <a:spLocks noGrp="1"/>
          </p:cNvSpPr>
          <p:nvPr>
            <p:ph idx="1"/>
          </p:nvPr>
        </p:nvSpPr>
        <p:spPr/>
        <p:txBody>
          <a:bodyPr>
            <a:normAutofit/>
          </a:bodyPr>
          <a:lstStyle/>
          <a:p>
            <a:pPr marL="0" indent="0">
              <a:lnSpc>
                <a:spcPct val="150000"/>
              </a:lnSpc>
              <a:buNone/>
            </a:pPr>
            <a:r>
              <a:rPr lang="en-GB" sz="3200" dirty="0" err="1">
                <a:ea typeface="+mn-lt"/>
                <a:cs typeface="+mn-lt"/>
              </a:rPr>
              <a:t>Accoding</a:t>
            </a:r>
            <a:r>
              <a:rPr lang="en-GB" sz="3200">
                <a:ea typeface="+mn-lt"/>
                <a:cs typeface="+mn-lt"/>
              </a:rPr>
              <a:t> to </a:t>
            </a:r>
            <a:r>
              <a:rPr lang="en-GB" sz="3200" b="1">
                <a:ea typeface="+mn-lt"/>
                <a:cs typeface="+mn-lt"/>
              </a:rPr>
              <a:t>Shubin</a:t>
            </a:r>
            <a:endParaRPr lang="en-GB" sz="3200" dirty="0">
              <a:ea typeface="+mn-lt"/>
              <a:cs typeface="+mn-lt"/>
            </a:endParaRPr>
          </a:p>
          <a:p>
            <a:pPr>
              <a:lnSpc>
                <a:spcPct val="150000"/>
              </a:lnSpc>
            </a:pPr>
            <a:r>
              <a:rPr lang="en-GB" sz="3200">
                <a:ea typeface="+mn-lt"/>
                <a:cs typeface="+mn-lt"/>
              </a:rPr>
              <a:t>“ the funds required for the acquisition of those assets that are to be used over for a long period such assets as land, buildings machinery  equipment and tools"</a:t>
            </a:r>
            <a:endParaRPr lang="en-GB" sz="3200"/>
          </a:p>
        </p:txBody>
      </p:sp>
      <p:sp>
        <p:nvSpPr>
          <p:cNvPr id="4" name="Slide Number Placeholder 3">
            <a:extLst>
              <a:ext uri="{FF2B5EF4-FFF2-40B4-BE49-F238E27FC236}">
                <a16:creationId xmlns:a16="http://schemas.microsoft.com/office/drawing/2014/main" id="{779F7E3F-FF98-F61B-AB45-3090E7B9C7A5}"/>
              </a:ext>
            </a:extLst>
          </p:cNvPr>
          <p:cNvSpPr>
            <a:spLocks noGrp="1"/>
          </p:cNvSpPr>
          <p:nvPr>
            <p:ph type="sldNum" sz="quarter" idx="12"/>
          </p:nvPr>
        </p:nvSpPr>
        <p:spPr/>
        <p:txBody>
          <a:bodyPr/>
          <a:lstStyle/>
          <a:p>
            <a:fld id="{4FAB73BC-B049-4115-A692-8D63A059BFB8}" type="slidenum">
              <a:rPr lang="en-US" smtClean="0"/>
              <a:pPr/>
              <a:t>6</a:t>
            </a:fld>
            <a:endParaRPr lang="en-US" dirty="0"/>
          </a:p>
        </p:txBody>
      </p:sp>
    </p:spTree>
    <p:extLst>
      <p:ext uri="{BB962C8B-B14F-4D97-AF65-F5344CB8AC3E}">
        <p14:creationId xmlns:p14="http://schemas.microsoft.com/office/powerpoint/2010/main" val="24228156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32534-DDC3-4917-A187-5F936C3CCA1C}"/>
              </a:ext>
            </a:extLst>
          </p:cNvPr>
          <p:cNvSpPr>
            <a:spLocks noGrp="1"/>
          </p:cNvSpPr>
          <p:nvPr>
            <p:ph type="title"/>
          </p:nvPr>
        </p:nvSpPr>
        <p:spPr>
          <a:xfrm>
            <a:off x="0" y="0"/>
            <a:ext cx="12192000" cy="981075"/>
          </a:xfrm>
        </p:spPr>
        <p:txBody>
          <a:bodyPr>
            <a:normAutofit fontScale="90000"/>
          </a:bodyPr>
          <a:lstStyle/>
          <a:p>
            <a:pPr algn="ctr"/>
            <a:r>
              <a:rPr lang="en-US" b="1" dirty="0"/>
              <a:t>Factors Determining Fixed Capital Requirement</a:t>
            </a:r>
            <a:endParaRPr lang="en-IN" b="1">
              <a:cs typeface="Calibri Light"/>
            </a:endParaRPr>
          </a:p>
        </p:txBody>
      </p:sp>
      <p:sp>
        <p:nvSpPr>
          <p:cNvPr id="3" name="Content Placeholder 2">
            <a:extLst>
              <a:ext uri="{FF2B5EF4-FFF2-40B4-BE49-F238E27FC236}">
                <a16:creationId xmlns:a16="http://schemas.microsoft.com/office/drawing/2014/main" id="{F9819E30-1088-4326-BB09-99F3D8E800CE}"/>
              </a:ext>
            </a:extLst>
          </p:cNvPr>
          <p:cNvSpPr>
            <a:spLocks noGrp="1"/>
          </p:cNvSpPr>
          <p:nvPr>
            <p:ph idx="1"/>
          </p:nvPr>
        </p:nvSpPr>
        <p:spPr>
          <a:xfrm>
            <a:off x="1" y="981075"/>
            <a:ext cx="6096000" cy="5876925"/>
          </a:xfrm>
        </p:spPr>
        <p:txBody>
          <a:bodyPr>
            <a:normAutofit fontScale="85000" lnSpcReduction="20000"/>
          </a:bodyPr>
          <a:lstStyle/>
          <a:p>
            <a:pPr>
              <a:lnSpc>
                <a:spcPct val="150000"/>
              </a:lnSpc>
            </a:pPr>
            <a:r>
              <a:rPr lang="en-US" b="1" dirty="0"/>
              <a:t>Nature or Character of Business</a:t>
            </a:r>
          </a:p>
          <a:p>
            <a:pPr lvl="1">
              <a:lnSpc>
                <a:spcPct val="150000"/>
              </a:lnSpc>
            </a:pPr>
            <a:r>
              <a:rPr lang="en-US" dirty="0"/>
              <a:t>Manufacturing</a:t>
            </a:r>
          </a:p>
          <a:p>
            <a:pPr lvl="1">
              <a:lnSpc>
                <a:spcPct val="150000"/>
              </a:lnSpc>
            </a:pPr>
            <a:r>
              <a:rPr lang="en-US" dirty="0"/>
              <a:t>Public Utilities</a:t>
            </a:r>
          </a:p>
          <a:p>
            <a:pPr lvl="1">
              <a:lnSpc>
                <a:spcPct val="150000"/>
              </a:lnSpc>
            </a:pPr>
            <a:r>
              <a:rPr lang="en-US" dirty="0"/>
              <a:t>Trading and Finance</a:t>
            </a:r>
          </a:p>
          <a:p>
            <a:pPr>
              <a:lnSpc>
                <a:spcPct val="150000"/>
              </a:lnSpc>
            </a:pPr>
            <a:r>
              <a:rPr lang="en-US" b="1" dirty="0"/>
              <a:t>Size of Business</a:t>
            </a:r>
          </a:p>
          <a:p>
            <a:pPr lvl="1">
              <a:lnSpc>
                <a:spcPct val="150000"/>
              </a:lnSpc>
            </a:pPr>
            <a:r>
              <a:rPr lang="en-US" dirty="0"/>
              <a:t>Small Business</a:t>
            </a:r>
          </a:p>
          <a:p>
            <a:pPr lvl="1">
              <a:lnSpc>
                <a:spcPct val="150000"/>
              </a:lnSpc>
            </a:pPr>
            <a:r>
              <a:rPr lang="en-US" dirty="0"/>
              <a:t>Large Business</a:t>
            </a:r>
          </a:p>
          <a:p>
            <a:pPr>
              <a:lnSpc>
                <a:spcPct val="150000"/>
              </a:lnSpc>
            </a:pPr>
            <a:r>
              <a:rPr lang="en-US" b="1" dirty="0"/>
              <a:t>Type of Business</a:t>
            </a:r>
          </a:p>
          <a:p>
            <a:pPr lvl="1">
              <a:lnSpc>
                <a:spcPct val="150000"/>
              </a:lnSpc>
            </a:pPr>
            <a:r>
              <a:rPr lang="en-US" dirty="0"/>
              <a:t>Capital Intensive</a:t>
            </a:r>
          </a:p>
          <a:p>
            <a:pPr lvl="1">
              <a:lnSpc>
                <a:spcPct val="150000"/>
              </a:lnSpc>
            </a:pPr>
            <a:r>
              <a:rPr lang="en-US" dirty="0"/>
              <a:t>Labor Intensive</a:t>
            </a:r>
          </a:p>
          <a:p>
            <a:pPr>
              <a:lnSpc>
                <a:spcPct val="150000"/>
              </a:lnSpc>
            </a:pPr>
            <a:r>
              <a:rPr lang="en-US" b="1" dirty="0"/>
              <a:t>Production Techniques</a:t>
            </a:r>
          </a:p>
          <a:p>
            <a:pPr lvl="1">
              <a:lnSpc>
                <a:spcPct val="150000"/>
              </a:lnSpc>
            </a:pPr>
            <a:r>
              <a:rPr lang="en-US" dirty="0"/>
              <a:t>Automated</a:t>
            </a:r>
          </a:p>
          <a:p>
            <a:pPr lvl="1">
              <a:lnSpc>
                <a:spcPct val="150000"/>
              </a:lnSpc>
            </a:pPr>
            <a:r>
              <a:rPr lang="en-US" dirty="0"/>
              <a:t>Simple</a:t>
            </a:r>
          </a:p>
        </p:txBody>
      </p:sp>
      <p:sp>
        <p:nvSpPr>
          <p:cNvPr id="4" name="Content Placeholder 2">
            <a:extLst>
              <a:ext uri="{FF2B5EF4-FFF2-40B4-BE49-F238E27FC236}">
                <a16:creationId xmlns:a16="http://schemas.microsoft.com/office/drawing/2014/main" id="{EDE0A615-FE03-4921-BC4A-25685A6226E4}"/>
              </a:ext>
            </a:extLst>
          </p:cNvPr>
          <p:cNvSpPr txBox="1">
            <a:spLocks/>
          </p:cNvSpPr>
          <p:nvPr/>
        </p:nvSpPr>
        <p:spPr>
          <a:xfrm>
            <a:off x="6096000" y="866775"/>
            <a:ext cx="6095999" cy="5991225"/>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b="1" dirty="0"/>
              <a:t>Activities undertaken by the Enterprise</a:t>
            </a:r>
          </a:p>
          <a:p>
            <a:pPr lvl="1">
              <a:lnSpc>
                <a:spcPct val="150000"/>
              </a:lnSpc>
            </a:pPr>
            <a:r>
              <a:rPr lang="en-US" dirty="0"/>
              <a:t>Manufacturing</a:t>
            </a:r>
          </a:p>
          <a:p>
            <a:pPr lvl="1">
              <a:lnSpc>
                <a:spcPct val="150000"/>
              </a:lnSpc>
            </a:pPr>
            <a:r>
              <a:rPr lang="en-US" dirty="0"/>
              <a:t>Marketing</a:t>
            </a:r>
          </a:p>
          <a:p>
            <a:pPr lvl="1">
              <a:lnSpc>
                <a:spcPct val="150000"/>
              </a:lnSpc>
            </a:pPr>
            <a:r>
              <a:rPr lang="en-US" dirty="0"/>
              <a:t>Financial</a:t>
            </a:r>
          </a:p>
          <a:p>
            <a:pPr>
              <a:lnSpc>
                <a:spcPct val="150000"/>
              </a:lnSpc>
            </a:pPr>
            <a:r>
              <a:rPr lang="en-US" b="1" dirty="0"/>
              <a:t>Cost of Non-Current and Intangible Assets</a:t>
            </a:r>
          </a:p>
          <a:p>
            <a:pPr lvl="1">
              <a:lnSpc>
                <a:spcPct val="150000"/>
              </a:lnSpc>
            </a:pPr>
            <a:r>
              <a:rPr lang="en-US" dirty="0"/>
              <a:t>Preliminary Expenses</a:t>
            </a:r>
          </a:p>
          <a:p>
            <a:pPr lvl="1">
              <a:lnSpc>
                <a:spcPct val="150000"/>
              </a:lnSpc>
            </a:pPr>
            <a:r>
              <a:rPr lang="en-US" dirty="0"/>
              <a:t>Cost of Establishment</a:t>
            </a:r>
          </a:p>
          <a:p>
            <a:pPr lvl="1">
              <a:lnSpc>
                <a:spcPct val="150000"/>
              </a:lnSpc>
            </a:pPr>
            <a:r>
              <a:rPr lang="en-US" dirty="0"/>
              <a:t>Patents</a:t>
            </a:r>
          </a:p>
          <a:p>
            <a:pPr lvl="1">
              <a:lnSpc>
                <a:spcPct val="150000"/>
              </a:lnSpc>
            </a:pPr>
            <a:r>
              <a:rPr lang="en-US" dirty="0"/>
              <a:t>Goodwill</a:t>
            </a:r>
          </a:p>
          <a:p>
            <a:pPr lvl="1">
              <a:lnSpc>
                <a:spcPct val="150000"/>
              </a:lnSpc>
            </a:pPr>
            <a:r>
              <a:rPr lang="en-US" dirty="0"/>
              <a:t>Copyrights</a:t>
            </a:r>
          </a:p>
          <a:p>
            <a:pPr>
              <a:lnSpc>
                <a:spcPct val="150000"/>
              </a:lnSpc>
            </a:pPr>
            <a:r>
              <a:rPr lang="en-US" b="1" dirty="0"/>
              <a:t>Mode of Acquisition of Fixed Assets</a:t>
            </a:r>
          </a:p>
          <a:p>
            <a:pPr lvl="1">
              <a:lnSpc>
                <a:spcPct val="150000"/>
              </a:lnSpc>
            </a:pPr>
            <a:r>
              <a:rPr lang="en-US" dirty="0"/>
              <a:t>Outright Purchase</a:t>
            </a:r>
          </a:p>
          <a:p>
            <a:pPr lvl="1">
              <a:lnSpc>
                <a:spcPct val="150000"/>
              </a:lnSpc>
            </a:pPr>
            <a:r>
              <a:rPr lang="en-US" dirty="0"/>
              <a:t>Lease or Hire</a:t>
            </a:r>
          </a:p>
        </p:txBody>
      </p:sp>
      <p:sp>
        <p:nvSpPr>
          <p:cNvPr id="5" name="Slide Number Placeholder 4">
            <a:extLst>
              <a:ext uri="{FF2B5EF4-FFF2-40B4-BE49-F238E27FC236}">
                <a16:creationId xmlns:a16="http://schemas.microsoft.com/office/drawing/2014/main" id="{C1E182C6-8EAC-0B97-E0E7-06D09869B6A8}"/>
              </a:ext>
            </a:extLst>
          </p:cNvPr>
          <p:cNvSpPr>
            <a:spLocks noGrp="1"/>
          </p:cNvSpPr>
          <p:nvPr>
            <p:ph type="sldNum" sz="quarter" idx="12"/>
          </p:nvPr>
        </p:nvSpPr>
        <p:spPr/>
        <p:txBody>
          <a:bodyPr/>
          <a:lstStyle/>
          <a:p>
            <a:fld id="{E94B78F3-87BC-451C-A202-F318C4D79F4A}" type="slidenum">
              <a:rPr lang="en-IN" smtClean="0"/>
              <a:pPr/>
              <a:t>7</a:t>
            </a:fld>
            <a:endParaRPr lang="en-IN"/>
          </a:p>
        </p:txBody>
      </p:sp>
    </p:spTree>
    <p:extLst>
      <p:ext uri="{BB962C8B-B14F-4D97-AF65-F5344CB8AC3E}">
        <p14:creationId xmlns:p14="http://schemas.microsoft.com/office/powerpoint/2010/main" val="13614963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EA5E1-F038-421D-BC6B-8BF256B161C8}"/>
              </a:ext>
            </a:extLst>
          </p:cNvPr>
          <p:cNvSpPr>
            <a:spLocks noGrp="1"/>
          </p:cNvSpPr>
          <p:nvPr>
            <p:ph type="title"/>
          </p:nvPr>
        </p:nvSpPr>
        <p:spPr>
          <a:xfrm>
            <a:off x="289248" y="1123837"/>
            <a:ext cx="6451110" cy="1255469"/>
          </a:xfrm>
        </p:spPr>
        <p:txBody>
          <a:bodyPr>
            <a:normAutofit/>
          </a:bodyPr>
          <a:lstStyle/>
          <a:p>
            <a:r>
              <a:rPr lang="en-GB" b="1"/>
              <a:t>Working Capital</a:t>
            </a:r>
          </a:p>
        </p:txBody>
      </p:sp>
      <p:sp>
        <p:nvSpPr>
          <p:cNvPr id="3" name="Content Placeholder 2">
            <a:extLst>
              <a:ext uri="{FF2B5EF4-FFF2-40B4-BE49-F238E27FC236}">
                <a16:creationId xmlns:a16="http://schemas.microsoft.com/office/drawing/2014/main" id="{9C05175A-B482-44FD-B329-3D69BEA22C5B}"/>
              </a:ext>
            </a:extLst>
          </p:cNvPr>
          <p:cNvSpPr>
            <a:spLocks noGrp="1"/>
          </p:cNvSpPr>
          <p:nvPr>
            <p:ph idx="1"/>
          </p:nvPr>
        </p:nvSpPr>
        <p:spPr>
          <a:xfrm>
            <a:off x="289248" y="2510395"/>
            <a:ext cx="6451109" cy="3274586"/>
          </a:xfrm>
        </p:spPr>
        <p:txBody>
          <a:bodyPr anchor="t">
            <a:normAutofit/>
          </a:bodyPr>
          <a:lstStyle/>
          <a:p>
            <a:r>
              <a:rPr lang="en-GB" sz="2800" dirty="0">
                <a:solidFill>
                  <a:srgbClr val="FFFFFF"/>
                </a:solidFill>
              </a:rPr>
              <a:t>Revolving or Circulating or Short-term Capital</a:t>
            </a:r>
            <a:endParaRPr lang="en-US" sz="2800" dirty="0">
              <a:solidFill>
                <a:srgbClr val="FFFFFF"/>
              </a:solidFill>
            </a:endParaRPr>
          </a:p>
          <a:p>
            <a:pPr marL="0" indent="0">
              <a:buNone/>
            </a:pPr>
            <a:r>
              <a:rPr lang="en-GB" sz="2800" dirty="0">
                <a:solidFill>
                  <a:srgbClr val="FFFFFF"/>
                </a:solidFill>
                <a:ea typeface="+mn-lt"/>
                <a:cs typeface="+mn-lt"/>
              </a:rPr>
              <a:t>According to </a:t>
            </a:r>
            <a:r>
              <a:rPr lang="en-GB" sz="2800" b="1" dirty="0">
                <a:solidFill>
                  <a:srgbClr val="FFFFFF"/>
                </a:solidFill>
                <a:ea typeface="+mn-lt"/>
                <a:cs typeface="+mn-lt"/>
              </a:rPr>
              <a:t>Shubin</a:t>
            </a:r>
          </a:p>
          <a:p>
            <a:r>
              <a:rPr lang="en-GB" sz="2800" dirty="0">
                <a:solidFill>
                  <a:srgbClr val="FFFFFF"/>
                </a:solidFill>
                <a:ea typeface="+mn-lt"/>
                <a:cs typeface="+mn-lt"/>
              </a:rPr>
              <a:t>“ Working capital is the amount of funds necessary to cover the cost of operating the enterprise” </a:t>
            </a:r>
            <a:endParaRPr lang="en-GB" sz="2800" dirty="0">
              <a:solidFill>
                <a:srgbClr val="FFFFFF"/>
              </a:solidFill>
            </a:endParaRPr>
          </a:p>
          <a:p>
            <a:endParaRPr lang="en-GB">
              <a:solidFill>
                <a:srgbClr val="FFFFFF"/>
              </a:solidFill>
            </a:endParaRPr>
          </a:p>
        </p:txBody>
      </p:sp>
      <p:sp>
        <p:nvSpPr>
          <p:cNvPr id="4" name="Slide Number Placeholder 3">
            <a:extLst>
              <a:ext uri="{FF2B5EF4-FFF2-40B4-BE49-F238E27FC236}">
                <a16:creationId xmlns:a16="http://schemas.microsoft.com/office/drawing/2014/main" id="{5C3A5B26-9ACA-8EA9-D2BC-EFBA13E83C89}"/>
              </a:ext>
            </a:extLst>
          </p:cNvPr>
          <p:cNvSpPr>
            <a:spLocks noGrp="1"/>
          </p:cNvSpPr>
          <p:nvPr>
            <p:ph type="sldNum" sz="quarter" idx="12"/>
          </p:nvPr>
        </p:nvSpPr>
        <p:spPr/>
        <p:txBody>
          <a:bodyPr/>
          <a:lstStyle/>
          <a:p>
            <a:fld id="{4FAB73BC-B049-4115-A692-8D63A059BFB8}" type="slidenum">
              <a:rPr lang="en-US" smtClean="0"/>
              <a:pPr/>
              <a:t>8</a:t>
            </a:fld>
            <a:endParaRPr lang="en-US" dirty="0"/>
          </a:p>
        </p:txBody>
      </p:sp>
      <p:pic>
        <p:nvPicPr>
          <p:cNvPr id="7" name="Graphic 6" descr="Euro">
            <a:extLst>
              <a:ext uri="{FF2B5EF4-FFF2-40B4-BE49-F238E27FC236}">
                <a16:creationId xmlns:a16="http://schemas.microsoft.com/office/drawing/2014/main" id="{76AB6B19-74EE-480A-850B-CAABF41EBF6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552944" y="1535134"/>
            <a:ext cx="3778286" cy="3778286"/>
          </a:xfrm>
          <a:prstGeom prst="rect">
            <a:avLst/>
          </a:prstGeom>
        </p:spPr>
      </p:pic>
    </p:spTree>
    <p:extLst>
      <p:ext uri="{BB962C8B-B14F-4D97-AF65-F5344CB8AC3E}">
        <p14:creationId xmlns:p14="http://schemas.microsoft.com/office/powerpoint/2010/main" val="40783377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32534-DDC3-4917-A187-5F936C3CCA1C}"/>
              </a:ext>
            </a:extLst>
          </p:cNvPr>
          <p:cNvSpPr>
            <a:spLocks noGrp="1"/>
          </p:cNvSpPr>
          <p:nvPr>
            <p:ph type="title"/>
          </p:nvPr>
        </p:nvSpPr>
        <p:spPr>
          <a:xfrm>
            <a:off x="0" y="0"/>
            <a:ext cx="12192000" cy="742239"/>
          </a:xfrm>
        </p:spPr>
        <p:txBody>
          <a:bodyPr>
            <a:normAutofit/>
          </a:bodyPr>
          <a:lstStyle/>
          <a:p>
            <a:pPr algn="ctr"/>
            <a:r>
              <a:rPr lang="en-US" b="1" dirty="0"/>
              <a:t>Working Capital Classification</a:t>
            </a:r>
            <a:endParaRPr lang="en-IN" b="1">
              <a:cs typeface="Calibri Light"/>
            </a:endParaRPr>
          </a:p>
        </p:txBody>
      </p:sp>
      <p:graphicFrame>
        <p:nvGraphicFramePr>
          <p:cNvPr id="5" name="Content Placeholder 4">
            <a:extLst>
              <a:ext uri="{FF2B5EF4-FFF2-40B4-BE49-F238E27FC236}">
                <a16:creationId xmlns:a16="http://schemas.microsoft.com/office/drawing/2014/main" id="{44E06B3A-CEF9-4572-B5AB-B079C13D7158}"/>
              </a:ext>
            </a:extLst>
          </p:cNvPr>
          <p:cNvGraphicFramePr>
            <a:graphicFrameLocks noGrp="1"/>
          </p:cNvGraphicFramePr>
          <p:nvPr>
            <p:ph idx="1"/>
            <p:extLst>
              <p:ext uri="{D42A27DB-BD31-4B8C-83A1-F6EECF244321}">
                <p14:modId xmlns:p14="http://schemas.microsoft.com/office/powerpoint/2010/main" val="3408232941"/>
              </p:ext>
            </p:extLst>
          </p:nvPr>
        </p:nvGraphicFramePr>
        <p:xfrm>
          <a:off x="1" y="730867"/>
          <a:ext cx="12192000" cy="61271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ide Number Placeholder 2">
            <a:extLst>
              <a:ext uri="{FF2B5EF4-FFF2-40B4-BE49-F238E27FC236}">
                <a16:creationId xmlns:a16="http://schemas.microsoft.com/office/drawing/2014/main" id="{D29328D7-134A-5DC5-0397-8A66AEAC3AA4}"/>
              </a:ext>
            </a:extLst>
          </p:cNvPr>
          <p:cNvSpPr>
            <a:spLocks noGrp="1"/>
          </p:cNvSpPr>
          <p:nvPr>
            <p:ph type="sldNum" sz="quarter" idx="12"/>
          </p:nvPr>
        </p:nvSpPr>
        <p:spPr/>
        <p:txBody>
          <a:bodyPr/>
          <a:lstStyle/>
          <a:p>
            <a:fld id="{E94B78F3-87BC-451C-A202-F318C4D79F4A}" type="slidenum">
              <a:rPr lang="en-IN" smtClean="0"/>
              <a:pPr/>
              <a:t>9</a:t>
            </a:fld>
            <a:endParaRPr lang="en-IN"/>
          </a:p>
        </p:txBody>
      </p:sp>
    </p:spTree>
    <p:extLst>
      <p:ext uri="{BB962C8B-B14F-4D97-AF65-F5344CB8AC3E}">
        <p14:creationId xmlns:p14="http://schemas.microsoft.com/office/powerpoint/2010/main" val="33790040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C6AE5-2E71-451A-A1E7-DEA55C8A047E}"/>
              </a:ext>
            </a:extLst>
          </p:cNvPr>
          <p:cNvSpPr>
            <a:spLocks noGrp="1"/>
          </p:cNvSpPr>
          <p:nvPr>
            <p:ph type="title"/>
          </p:nvPr>
        </p:nvSpPr>
        <p:spPr/>
        <p:txBody>
          <a:bodyPr/>
          <a:lstStyle/>
          <a:p>
            <a:pPr algn="ctr"/>
            <a:r>
              <a:rPr lang="en-GB" b="1" dirty="0">
                <a:ea typeface="+mj-lt"/>
                <a:cs typeface="+mj-lt"/>
              </a:rPr>
              <a:t>On the basis of Concept</a:t>
            </a:r>
            <a:br>
              <a:rPr lang="en-GB" b="1" dirty="0">
                <a:ea typeface="+mj-lt"/>
                <a:cs typeface="+mj-lt"/>
              </a:rPr>
            </a:br>
            <a:endParaRPr lang="en-GB" b="1" dirty="0">
              <a:ea typeface="+mj-lt"/>
              <a:cs typeface="+mj-lt"/>
            </a:endParaRPr>
          </a:p>
          <a:p>
            <a:endParaRPr lang="en-GB" dirty="0"/>
          </a:p>
        </p:txBody>
      </p:sp>
      <p:sp>
        <p:nvSpPr>
          <p:cNvPr id="3" name="Content Placeholder 2">
            <a:extLst>
              <a:ext uri="{FF2B5EF4-FFF2-40B4-BE49-F238E27FC236}">
                <a16:creationId xmlns:a16="http://schemas.microsoft.com/office/drawing/2014/main" id="{3E32B68C-BEC7-43C7-9F39-CF2A7CAB04C5}"/>
              </a:ext>
            </a:extLst>
          </p:cNvPr>
          <p:cNvSpPr>
            <a:spLocks noGrp="1"/>
          </p:cNvSpPr>
          <p:nvPr>
            <p:ph idx="1"/>
          </p:nvPr>
        </p:nvSpPr>
        <p:spPr>
          <a:xfrm>
            <a:off x="1103312" y="2052918"/>
            <a:ext cx="10206372" cy="4195481"/>
          </a:xfrm>
        </p:spPr>
        <p:txBody>
          <a:bodyPr>
            <a:normAutofit fontScale="77500" lnSpcReduction="20000"/>
          </a:bodyPr>
          <a:lstStyle/>
          <a:p>
            <a:pPr marL="0" indent="0">
              <a:buNone/>
            </a:pPr>
            <a:r>
              <a:rPr lang="en-GB" sz="3200" b="1" dirty="0"/>
              <a:t>Gross Working Capital</a:t>
            </a:r>
            <a:endParaRPr lang="en-US" sz="3200" dirty="0"/>
          </a:p>
          <a:p>
            <a:r>
              <a:rPr lang="en-GB" sz="2800" dirty="0">
                <a:ea typeface="+mn-lt"/>
                <a:cs typeface="+mn-lt"/>
              </a:rPr>
              <a:t>In the broad sense the term “working capital” refers to the gross working capital and represents the </a:t>
            </a:r>
            <a:r>
              <a:rPr lang="en-GB" sz="2800" dirty="0">
                <a:solidFill>
                  <a:srgbClr val="FFFF00"/>
                </a:solidFill>
                <a:ea typeface="+mn-lt"/>
                <a:cs typeface="+mn-lt"/>
              </a:rPr>
              <a:t>amount of funds invested in current assets.</a:t>
            </a:r>
          </a:p>
          <a:p>
            <a:pPr marL="0" indent="0">
              <a:buNone/>
            </a:pPr>
            <a:r>
              <a:rPr lang="en-GB" sz="3200" b="1" dirty="0"/>
              <a:t>Net Working Capital</a:t>
            </a:r>
          </a:p>
          <a:p>
            <a:pPr marL="0" indent="0">
              <a:buNone/>
            </a:pPr>
            <a:r>
              <a:rPr lang="en-GB" sz="2800" dirty="0">
                <a:ea typeface="+mn-lt"/>
                <a:cs typeface="+mn-lt"/>
              </a:rPr>
              <a:t>	In a Narrow Sense, the term Working Capital refers to the Net Working Capital. </a:t>
            </a:r>
            <a:endParaRPr lang="en-GB" sz="2800" b="1" dirty="0">
              <a:ea typeface="+mn-lt"/>
              <a:cs typeface="+mn-lt"/>
            </a:endParaRPr>
          </a:p>
          <a:p>
            <a:pPr marL="0" indent="0">
              <a:buNone/>
            </a:pPr>
            <a:r>
              <a:rPr lang="en-GB" sz="2800" dirty="0">
                <a:ea typeface="+mn-lt"/>
                <a:cs typeface="+mn-lt"/>
              </a:rPr>
              <a:t>	Net  Working Capital </a:t>
            </a:r>
            <a:r>
              <a:rPr lang="en-GB" sz="2800" dirty="0">
                <a:solidFill>
                  <a:srgbClr val="FFFF00"/>
                </a:solidFill>
                <a:ea typeface="+mn-lt"/>
                <a:cs typeface="+mn-lt"/>
              </a:rPr>
              <a:t>is the excess of Current Assets over Current Liabilities </a:t>
            </a:r>
            <a:endParaRPr lang="en-GB" sz="2000" dirty="0">
              <a:solidFill>
                <a:srgbClr val="FFFF00"/>
              </a:solidFill>
            </a:endParaRPr>
          </a:p>
          <a:p>
            <a:pPr marL="0" indent="0">
              <a:buNone/>
            </a:pPr>
            <a:r>
              <a:rPr lang="en-GB" sz="3200" dirty="0">
                <a:ea typeface="+mn-lt"/>
                <a:cs typeface="+mn-lt"/>
              </a:rPr>
              <a:t>	NWC = Current Assets-Current Liabilities</a:t>
            </a:r>
            <a:endParaRPr lang="en-GB" sz="3200" dirty="0"/>
          </a:p>
          <a:p>
            <a:pPr marL="0" indent="0">
              <a:buNone/>
            </a:pPr>
            <a:r>
              <a:rPr lang="en-GB" sz="3200" dirty="0"/>
              <a:t>               =CA-CL</a:t>
            </a:r>
          </a:p>
          <a:p>
            <a:pPr marL="0" indent="0">
              <a:buNone/>
            </a:pPr>
            <a:endParaRPr lang="en-GB" sz="2800" b="1" dirty="0"/>
          </a:p>
          <a:p>
            <a:endParaRPr lang="en-GB" sz="2800" b="1" dirty="0"/>
          </a:p>
        </p:txBody>
      </p:sp>
      <p:sp>
        <p:nvSpPr>
          <p:cNvPr id="4" name="Slide Number Placeholder 3">
            <a:extLst>
              <a:ext uri="{FF2B5EF4-FFF2-40B4-BE49-F238E27FC236}">
                <a16:creationId xmlns:a16="http://schemas.microsoft.com/office/drawing/2014/main" id="{1E0F3D83-C1E0-1D1B-555C-A5AB98CBF448}"/>
              </a:ext>
            </a:extLst>
          </p:cNvPr>
          <p:cNvSpPr>
            <a:spLocks noGrp="1"/>
          </p:cNvSpPr>
          <p:nvPr>
            <p:ph type="sldNum" sz="quarter" idx="12"/>
          </p:nvPr>
        </p:nvSpPr>
        <p:spPr/>
        <p:txBody>
          <a:bodyPr/>
          <a:lstStyle/>
          <a:p>
            <a:fld id="{4FAB73BC-B049-4115-A692-8D63A059BFB8}" type="slidenum">
              <a:rPr lang="en-US" smtClean="0"/>
              <a:pPr/>
              <a:t>10</a:t>
            </a:fld>
            <a:endParaRPr lang="en-US" dirty="0"/>
          </a:p>
        </p:txBody>
      </p:sp>
    </p:spTree>
    <p:extLst>
      <p:ext uri="{BB962C8B-B14F-4D97-AF65-F5344CB8AC3E}">
        <p14:creationId xmlns:p14="http://schemas.microsoft.com/office/powerpoint/2010/main" val="29842955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32534-DDC3-4917-A187-5F936C3CCA1C}"/>
              </a:ext>
            </a:extLst>
          </p:cNvPr>
          <p:cNvSpPr>
            <a:spLocks noGrp="1"/>
          </p:cNvSpPr>
          <p:nvPr>
            <p:ph type="title"/>
          </p:nvPr>
        </p:nvSpPr>
        <p:spPr>
          <a:xfrm>
            <a:off x="0" y="0"/>
            <a:ext cx="12192000" cy="981075"/>
          </a:xfrm>
        </p:spPr>
        <p:txBody>
          <a:bodyPr>
            <a:normAutofit fontScale="90000"/>
          </a:bodyPr>
          <a:lstStyle/>
          <a:p>
            <a:pPr algn="ctr"/>
            <a:r>
              <a:rPr lang="en-US" b="1" dirty="0"/>
              <a:t>Factors Determining Working Capital Requirement</a:t>
            </a:r>
            <a:endParaRPr lang="en-IN" b="1" dirty="0">
              <a:cs typeface="Calibri Light"/>
            </a:endParaRPr>
          </a:p>
        </p:txBody>
      </p:sp>
      <p:sp>
        <p:nvSpPr>
          <p:cNvPr id="3" name="Content Placeholder 2">
            <a:extLst>
              <a:ext uri="{FF2B5EF4-FFF2-40B4-BE49-F238E27FC236}">
                <a16:creationId xmlns:a16="http://schemas.microsoft.com/office/drawing/2014/main" id="{F9819E30-1088-4326-BB09-99F3D8E800CE}"/>
              </a:ext>
            </a:extLst>
          </p:cNvPr>
          <p:cNvSpPr>
            <a:spLocks noGrp="1"/>
          </p:cNvSpPr>
          <p:nvPr>
            <p:ph idx="1"/>
          </p:nvPr>
        </p:nvSpPr>
        <p:spPr>
          <a:xfrm>
            <a:off x="1" y="981075"/>
            <a:ext cx="6096000" cy="5876925"/>
          </a:xfrm>
        </p:spPr>
        <p:txBody>
          <a:bodyPr vert="horz" lIns="91440" tIns="45720" rIns="91440" bIns="45720" rtlCol="0" anchor="t">
            <a:normAutofit fontScale="92500" lnSpcReduction="10000"/>
          </a:bodyPr>
          <a:lstStyle/>
          <a:p>
            <a:pPr>
              <a:lnSpc>
                <a:spcPct val="150000"/>
              </a:lnSpc>
            </a:pPr>
            <a:r>
              <a:rPr lang="en-US" dirty="0"/>
              <a:t>Nature or Character of Business</a:t>
            </a:r>
            <a:endParaRPr lang="en-US" dirty="0">
              <a:cs typeface="Calibri"/>
            </a:endParaRPr>
          </a:p>
          <a:p>
            <a:pPr>
              <a:lnSpc>
                <a:spcPct val="150000"/>
              </a:lnSpc>
            </a:pPr>
            <a:r>
              <a:rPr lang="en-US" dirty="0"/>
              <a:t>Size of Business/ Scale of Operations</a:t>
            </a:r>
            <a:endParaRPr lang="en-US" dirty="0">
              <a:cs typeface="Calibri"/>
            </a:endParaRPr>
          </a:p>
          <a:p>
            <a:pPr>
              <a:lnSpc>
                <a:spcPct val="150000"/>
              </a:lnSpc>
            </a:pPr>
            <a:r>
              <a:rPr lang="en-US" dirty="0"/>
              <a:t>Production Policy</a:t>
            </a:r>
            <a:endParaRPr lang="en-US" dirty="0">
              <a:cs typeface="Calibri"/>
            </a:endParaRPr>
          </a:p>
          <a:p>
            <a:pPr>
              <a:lnSpc>
                <a:spcPct val="150000"/>
              </a:lnSpc>
            </a:pPr>
            <a:r>
              <a:rPr lang="en-US" dirty="0"/>
              <a:t>Manufacturing Process/ Length of Production Cycle</a:t>
            </a:r>
            <a:endParaRPr lang="en-US" dirty="0">
              <a:cs typeface="Calibri"/>
            </a:endParaRPr>
          </a:p>
          <a:p>
            <a:pPr>
              <a:lnSpc>
                <a:spcPct val="150000"/>
              </a:lnSpc>
            </a:pPr>
            <a:r>
              <a:rPr lang="en-US" dirty="0"/>
              <a:t>Working Capital Cycle</a:t>
            </a:r>
          </a:p>
          <a:p>
            <a:pPr>
              <a:lnSpc>
                <a:spcPct val="150000"/>
              </a:lnSpc>
            </a:pPr>
            <a:r>
              <a:rPr lang="en-US" dirty="0"/>
              <a:t>Seasonal Variations</a:t>
            </a:r>
            <a:endParaRPr lang="en-US" dirty="0">
              <a:cs typeface="Calibri"/>
            </a:endParaRPr>
          </a:p>
          <a:p>
            <a:pPr>
              <a:lnSpc>
                <a:spcPct val="150000"/>
              </a:lnSpc>
            </a:pPr>
            <a:r>
              <a:rPr lang="en-US" dirty="0"/>
              <a:t>Credit Policy</a:t>
            </a:r>
            <a:endParaRPr lang="en-US" dirty="0">
              <a:cs typeface="Calibri"/>
            </a:endParaRPr>
          </a:p>
          <a:p>
            <a:pPr>
              <a:lnSpc>
                <a:spcPct val="150000"/>
              </a:lnSpc>
            </a:pPr>
            <a:r>
              <a:rPr lang="en-US" dirty="0"/>
              <a:t>Business Cycle</a:t>
            </a:r>
            <a:endParaRPr lang="en-US" dirty="0">
              <a:cs typeface="Calibri"/>
            </a:endParaRPr>
          </a:p>
          <a:p>
            <a:pPr>
              <a:lnSpc>
                <a:spcPct val="150000"/>
              </a:lnSpc>
            </a:pPr>
            <a:r>
              <a:rPr lang="en-US" dirty="0"/>
              <a:t>Rate of Growth of Business</a:t>
            </a:r>
            <a:endParaRPr lang="en-US" dirty="0">
              <a:cs typeface="Calibri"/>
            </a:endParaRPr>
          </a:p>
          <a:p>
            <a:pPr>
              <a:lnSpc>
                <a:spcPct val="150000"/>
              </a:lnSpc>
            </a:pPr>
            <a:r>
              <a:rPr lang="en-US" dirty="0"/>
              <a:t>Other Factors</a:t>
            </a:r>
            <a:endParaRPr lang="en-US" dirty="0">
              <a:cs typeface="Calibri"/>
            </a:endParaRPr>
          </a:p>
        </p:txBody>
      </p:sp>
      <p:graphicFrame>
        <p:nvGraphicFramePr>
          <p:cNvPr id="5" name="Diagram 4">
            <a:extLst>
              <a:ext uri="{FF2B5EF4-FFF2-40B4-BE49-F238E27FC236}">
                <a16:creationId xmlns:a16="http://schemas.microsoft.com/office/drawing/2014/main" id="{F133CC32-A4EB-48AC-82BF-EDD89502DDDE}"/>
              </a:ext>
            </a:extLst>
          </p:cNvPr>
          <p:cNvGraphicFramePr/>
          <p:nvPr>
            <p:extLst>
              <p:ext uri="{D42A27DB-BD31-4B8C-83A1-F6EECF244321}">
                <p14:modId xmlns:p14="http://schemas.microsoft.com/office/powerpoint/2010/main" val="1606648602"/>
              </p:ext>
            </p:extLst>
          </p:nvPr>
        </p:nvGraphicFramePr>
        <p:xfrm>
          <a:off x="7772400" y="1724025"/>
          <a:ext cx="4419599" cy="40195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7" name="Straight Arrow Connector 6">
            <a:extLst>
              <a:ext uri="{FF2B5EF4-FFF2-40B4-BE49-F238E27FC236}">
                <a16:creationId xmlns:a16="http://schemas.microsoft.com/office/drawing/2014/main" id="{EC7224D2-F48B-4888-A8CC-44447884ABCD}"/>
              </a:ext>
            </a:extLst>
          </p:cNvPr>
          <p:cNvCxnSpPr>
            <a:cxnSpLocks/>
          </p:cNvCxnSpPr>
          <p:nvPr/>
        </p:nvCxnSpPr>
        <p:spPr>
          <a:xfrm>
            <a:off x="3224463" y="3867150"/>
            <a:ext cx="508133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A328E9A5-F972-D56A-F9E6-CA89364F2226}"/>
              </a:ext>
            </a:extLst>
          </p:cNvPr>
          <p:cNvSpPr>
            <a:spLocks noGrp="1"/>
          </p:cNvSpPr>
          <p:nvPr>
            <p:ph type="sldNum" sz="quarter" idx="12"/>
          </p:nvPr>
        </p:nvSpPr>
        <p:spPr/>
        <p:txBody>
          <a:bodyPr/>
          <a:lstStyle/>
          <a:p>
            <a:fld id="{E94B78F3-87BC-451C-A202-F318C4D79F4A}" type="slidenum">
              <a:rPr lang="en-IN" smtClean="0"/>
              <a:pPr/>
              <a:t>11</a:t>
            </a:fld>
            <a:endParaRPr lang="en-IN"/>
          </a:p>
        </p:txBody>
      </p:sp>
    </p:spTree>
    <p:extLst>
      <p:ext uri="{BB962C8B-B14F-4D97-AF65-F5344CB8AC3E}">
        <p14:creationId xmlns:p14="http://schemas.microsoft.com/office/powerpoint/2010/main" val="20229985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D94E5-B789-4BFF-90B1-F7A859FE9B86}"/>
              </a:ext>
            </a:extLst>
          </p:cNvPr>
          <p:cNvSpPr>
            <a:spLocks noGrp="1"/>
          </p:cNvSpPr>
          <p:nvPr>
            <p:ph type="title"/>
          </p:nvPr>
        </p:nvSpPr>
        <p:spPr>
          <a:xfrm>
            <a:off x="2117" y="-5292"/>
            <a:ext cx="12187766" cy="817563"/>
          </a:xfrm>
        </p:spPr>
        <p:txBody>
          <a:bodyPr/>
          <a:lstStyle/>
          <a:p>
            <a:pPr algn="ctr"/>
            <a:r>
              <a:rPr lang="en-US" b="1" dirty="0">
                <a:ea typeface="+mj-lt"/>
                <a:cs typeface="+mj-lt"/>
              </a:rPr>
              <a:t>Entrepreneurial Sources of Finance</a:t>
            </a:r>
            <a:endParaRPr lang="en-US" b="1" dirty="0">
              <a:cs typeface="Calibri Light"/>
            </a:endParaRPr>
          </a:p>
        </p:txBody>
      </p:sp>
      <p:sp>
        <p:nvSpPr>
          <p:cNvPr id="3" name="Content Placeholder 2">
            <a:extLst>
              <a:ext uri="{FF2B5EF4-FFF2-40B4-BE49-F238E27FC236}">
                <a16:creationId xmlns:a16="http://schemas.microsoft.com/office/drawing/2014/main" id="{1155A084-C7DB-4E11-9EF9-FB294CBAEBE2}"/>
              </a:ext>
            </a:extLst>
          </p:cNvPr>
          <p:cNvSpPr>
            <a:spLocks noGrp="1"/>
          </p:cNvSpPr>
          <p:nvPr>
            <p:ph idx="1"/>
          </p:nvPr>
        </p:nvSpPr>
        <p:spPr>
          <a:xfrm>
            <a:off x="2117" y="660196"/>
            <a:ext cx="12187766" cy="7184393"/>
          </a:xfrm>
        </p:spPr>
        <p:txBody>
          <a:bodyPr vert="horz" lIns="91440" tIns="45720" rIns="91440" bIns="45720" rtlCol="0" anchor="t">
            <a:noAutofit/>
          </a:bodyPr>
          <a:lstStyle/>
          <a:p>
            <a:pPr algn="just">
              <a:lnSpc>
                <a:spcPct val="170000"/>
              </a:lnSpc>
              <a:spcBef>
                <a:spcPct val="0"/>
              </a:spcBef>
              <a:spcAft>
                <a:spcPct val="0"/>
              </a:spcAft>
            </a:pPr>
            <a:r>
              <a:rPr lang="en-US" sz="1800" b="1" dirty="0">
                <a:ea typeface="+mn-lt"/>
                <a:cs typeface="+mn-lt"/>
              </a:rPr>
              <a:t>Seed Funding </a:t>
            </a:r>
          </a:p>
          <a:p>
            <a:pPr lvl="1" algn="just">
              <a:spcBef>
                <a:spcPct val="0"/>
              </a:spcBef>
              <a:spcAft>
                <a:spcPct val="0"/>
              </a:spcAft>
            </a:pPr>
            <a:r>
              <a:rPr lang="en-US" sz="1800" dirty="0">
                <a:ea typeface="+mn-lt"/>
                <a:cs typeface="+mn-lt"/>
              </a:rPr>
              <a:t>Also referred to as seed money or seed capital</a:t>
            </a:r>
          </a:p>
          <a:p>
            <a:pPr lvl="1" algn="just">
              <a:spcBef>
                <a:spcPct val="0"/>
              </a:spcBef>
              <a:spcAft>
                <a:spcPct val="0"/>
              </a:spcAft>
            </a:pPr>
            <a:r>
              <a:rPr lang="en-US" sz="1800" dirty="0">
                <a:ea typeface="+mn-lt"/>
                <a:cs typeface="+mn-lt"/>
              </a:rPr>
              <a:t>Is  a very early investment which aims at helping a business grow and generating its own capital where investors often get equity stake in exchange for the capital invested.</a:t>
            </a:r>
          </a:p>
          <a:p>
            <a:pPr lvl="1" algn="just">
              <a:spcBef>
                <a:spcPct val="0"/>
              </a:spcBef>
              <a:spcAft>
                <a:spcPct val="0"/>
              </a:spcAft>
            </a:pPr>
            <a:endParaRPr lang="en-US" sz="1800" b="1" dirty="0">
              <a:ea typeface="+mn-lt"/>
              <a:cs typeface="+mn-lt"/>
            </a:endParaRPr>
          </a:p>
          <a:p>
            <a:pPr algn="just">
              <a:spcBef>
                <a:spcPct val="0"/>
              </a:spcBef>
              <a:spcAft>
                <a:spcPct val="0"/>
              </a:spcAft>
            </a:pPr>
            <a:r>
              <a:rPr lang="en-US" sz="1800" b="1" dirty="0">
                <a:ea typeface="+mn-lt"/>
                <a:cs typeface="+mn-lt"/>
              </a:rPr>
              <a:t>Business Angels</a:t>
            </a:r>
            <a:endParaRPr lang="en-US" sz="1800" dirty="0">
              <a:cs typeface="Calibri" panose="020F0502020204030204"/>
            </a:endParaRPr>
          </a:p>
          <a:p>
            <a:pPr lvl="1" algn="just">
              <a:spcBef>
                <a:spcPct val="0"/>
              </a:spcBef>
              <a:spcAft>
                <a:spcPct val="0"/>
              </a:spcAft>
            </a:pPr>
            <a:r>
              <a:rPr lang="en-US" sz="1800" dirty="0">
                <a:ea typeface="+mn-lt"/>
                <a:cs typeface="+mn-lt"/>
              </a:rPr>
              <a:t>Was  introduced by  Frederick Terman, who is known as the father of Silicon Valley, along with William Shockley.</a:t>
            </a:r>
          </a:p>
          <a:p>
            <a:pPr lvl="1" algn="just">
              <a:spcBef>
                <a:spcPct val="0"/>
              </a:spcBef>
              <a:spcAft>
                <a:spcPct val="0"/>
              </a:spcAft>
            </a:pPr>
            <a:r>
              <a:rPr lang="en-US" sz="1800" dirty="0">
                <a:ea typeface="+mn-lt"/>
                <a:cs typeface="+mn-lt"/>
              </a:rPr>
              <a:t>A private investor who invests part of his finance and time in the early stages of the company.  </a:t>
            </a:r>
          </a:p>
          <a:p>
            <a:pPr marL="457200" lvl="1" indent="0" algn="just">
              <a:spcBef>
                <a:spcPct val="0"/>
              </a:spcBef>
              <a:spcAft>
                <a:spcPct val="0"/>
              </a:spcAft>
              <a:buNone/>
            </a:pPr>
            <a:endParaRPr lang="en-US" sz="1800" dirty="0">
              <a:ea typeface="+mn-lt"/>
              <a:cs typeface="+mn-lt"/>
            </a:endParaRPr>
          </a:p>
          <a:p>
            <a:pPr algn="just">
              <a:spcBef>
                <a:spcPct val="0"/>
              </a:spcBef>
              <a:spcAft>
                <a:spcPct val="0"/>
              </a:spcAft>
            </a:pPr>
            <a:r>
              <a:rPr lang="en-US" sz="1800" b="1" dirty="0">
                <a:ea typeface="+mn-lt"/>
                <a:cs typeface="+mn-lt"/>
              </a:rPr>
              <a:t>Venture capital</a:t>
            </a:r>
            <a:endParaRPr lang="en-US" sz="1800" dirty="0">
              <a:ea typeface="+mn-lt"/>
              <a:cs typeface="+mn-lt"/>
            </a:endParaRPr>
          </a:p>
          <a:p>
            <a:pPr lvl="1" algn="just">
              <a:spcBef>
                <a:spcPct val="0"/>
              </a:spcBef>
              <a:spcAft>
                <a:spcPct val="0"/>
              </a:spcAft>
            </a:pPr>
            <a:r>
              <a:rPr lang="en-US" sz="1800" dirty="0">
                <a:ea typeface="+mn-lt"/>
                <a:cs typeface="+mn-lt"/>
              </a:rPr>
              <a:t>Is  a financing method in which financial investors participate in a new company’s capital against cash and guidance. </a:t>
            </a:r>
          </a:p>
          <a:p>
            <a:pPr lvl="1" algn="just">
              <a:spcBef>
                <a:spcPct val="0"/>
              </a:spcBef>
              <a:spcAft>
                <a:spcPct val="0"/>
              </a:spcAft>
            </a:pPr>
            <a:r>
              <a:rPr lang="en-US" sz="1800" dirty="0">
                <a:ea typeface="+mn-lt"/>
                <a:cs typeface="+mn-lt"/>
              </a:rPr>
              <a:t>The primary objective is to make a profit by selling its stake in the company in the middle term.</a:t>
            </a:r>
          </a:p>
          <a:p>
            <a:pPr lvl="1" algn="just">
              <a:spcBef>
                <a:spcPct val="0"/>
              </a:spcBef>
              <a:spcAft>
                <a:spcPct val="0"/>
              </a:spcAft>
            </a:pPr>
            <a:r>
              <a:rPr lang="en-US" sz="1800" dirty="0">
                <a:ea typeface="+mn-lt"/>
                <a:cs typeface="+mn-lt"/>
              </a:rPr>
              <a:t>Expect very high profitability  as  they take a very high risk of investing in a relatively new venture.</a:t>
            </a:r>
          </a:p>
          <a:p>
            <a:pPr lvl="1" algn="just">
              <a:spcBef>
                <a:spcPct val="0"/>
              </a:spcBef>
              <a:spcAft>
                <a:spcPct val="0"/>
              </a:spcAft>
            </a:pPr>
            <a:r>
              <a:rPr lang="en-US" sz="1800" dirty="0">
                <a:ea typeface="+mn-lt"/>
                <a:cs typeface="+mn-lt"/>
              </a:rPr>
              <a:t>While business angels invest their own money, venture capitalists invest  other people money. </a:t>
            </a:r>
          </a:p>
          <a:p>
            <a:pPr lvl="1" algn="just">
              <a:spcBef>
                <a:spcPct val="0"/>
              </a:spcBef>
              <a:spcAft>
                <a:spcPct val="0"/>
              </a:spcAft>
            </a:pPr>
            <a:r>
              <a:rPr lang="en-US" sz="1800" dirty="0">
                <a:ea typeface="+mn-lt"/>
                <a:cs typeface="+mn-lt"/>
              </a:rPr>
              <a:t>Venture capitalists enter during the growth stage while business angels invest at a very early stage.</a:t>
            </a:r>
          </a:p>
        </p:txBody>
      </p:sp>
      <p:sp>
        <p:nvSpPr>
          <p:cNvPr id="4" name="Slide Number Placeholder 3">
            <a:extLst>
              <a:ext uri="{FF2B5EF4-FFF2-40B4-BE49-F238E27FC236}">
                <a16:creationId xmlns:a16="http://schemas.microsoft.com/office/drawing/2014/main" id="{317AAB3A-AF51-4EAA-D552-74F1976B732C}"/>
              </a:ext>
            </a:extLst>
          </p:cNvPr>
          <p:cNvSpPr>
            <a:spLocks noGrp="1"/>
          </p:cNvSpPr>
          <p:nvPr>
            <p:ph type="sldNum" sz="quarter" idx="12"/>
          </p:nvPr>
        </p:nvSpPr>
        <p:spPr/>
        <p:txBody>
          <a:bodyPr/>
          <a:lstStyle/>
          <a:p>
            <a:fld id="{E94B78F3-87BC-451C-A202-F318C4D79F4A}" type="slidenum">
              <a:rPr lang="en-IN" smtClean="0"/>
              <a:pPr/>
              <a:t>12</a:t>
            </a:fld>
            <a:endParaRPr lang="en-IN"/>
          </a:p>
        </p:txBody>
      </p:sp>
    </p:spTree>
    <p:extLst>
      <p:ext uri="{BB962C8B-B14F-4D97-AF65-F5344CB8AC3E}">
        <p14:creationId xmlns:p14="http://schemas.microsoft.com/office/powerpoint/2010/main" val="7409908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75777-8B02-478B-9470-97BE1B4B8ABE}"/>
              </a:ext>
            </a:extLst>
          </p:cNvPr>
          <p:cNvSpPr>
            <a:spLocks noGrp="1"/>
          </p:cNvSpPr>
          <p:nvPr>
            <p:ph type="title"/>
          </p:nvPr>
        </p:nvSpPr>
        <p:spPr>
          <a:xfrm>
            <a:off x="0" y="1"/>
            <a:ext cx="12192000" cy="804333"/>
          </a:xfrm>
        </p:spPr>
        <p:txBody>
          <a:bodyPr/>
          <a:lstStyle/>
          <a:p>
            <a:pPr algn="ctr"/>
            <a:r>
              <a:rPr lang="en-US" b="1" dirty="0"/>
              <a:t>Entrepreneurial Sources of Finance</a:t>
            </a:r>
            <a:endParaRPr lang="en-IN" b="1">
              <a:cs typeface="Calibri Light" panose="020F0302020204030204"/>
            </a:endParaRPr>
          </a:p>
        </p:txBody>
      </p:sp>
      <p:sp>
        <p:nvSpPr>
          <p:cNvPr id="3" name="Content Placeholder 2">
            <a:extLst>
              <a:ext uri="{FF2B5EF4-FFF2-40B4-BE49-F238E27FC236}">
                <a16:creationId xmlns:a16="http://schemas.microsoft.com/office/drawing/2014/main" id="{6639156C-F486-4469-B282-0513EC7A0194}"/>
              </a:ext>
            </a:extLst>
          </p:cNvPr>
          <p:cNvSpPr>
            <a:spLocks noGrp="1"/>
          </p:cNvSpPr>
          <p:nvPr>
            <p:ph idx="1"/>
          </p:nvPr>
        </p:nvSpPr>
        <p:spPr>
          <a:xfrm>
            <a:off x="-1" y="604672"/>
            <a:ext cx="12191999" cy="6253325"/>
          </a:xfrm>
        </p:spPr>
        <p:txBody>
          <a:bodyPr vert="horz" lIns="91440" tIns="45720" rIns="91440" bIns="45720" rtlCol="0" anchor="t">
            <a:noAutofit/>
          </a:bodyPr>
          <a:lstStyle/>
          <a:p>
            <a:pPr>
              <a:spcBef>
                <a:spcPct val="0"/>
              </a:spcBef>
              <a:spcAft>
                <a:spcPct val="0"/>
              </a:spcAft>
            </a:pPr>
            <a:r>
              <a:rPr lang="en-US" sz="2000" b="1" dirty="0">
                <a:ea typeface="+mn-lt"/>
                <a:cs typeface="+mn-lt"/>
              </a:rPr>
              <a:t>Government venture capital</a:t>
            </a:r>
          </a:p>
          <a:p>
            <a:pPr>
              <a:spcBef>
                <a:spcPct val="0"/>
              </a:spcBef>
              <a:spcAft>
                <a:spcPct val="0"/>
              </a:spcAft>
            </a:pPr>
            <a:endParaRPr lang="en-US" sz="2000" dirty="0">
              <a:ea typeface="+mn-lt"/>
              <a:cs typeface="+mn-lt"/>
            </a:endParaRPr>
          </a:p>
          <a:p>
            <a:pPr marL="457200" lvl="1" indent="0">
              <a:spcBef>
                <a:spcPct val="0"/>
              </a:spcBef>
              <a:spcAft>
                <a:spcPct val="0"/>
              </a:spcAft>
              <a:buNone/>
            </a:pPr>
            <a:r>
              <a:rPr lang="en-US" sz="2000" dirty="0">
                <a:ea typeface="+mn-lt"/>
                <a:cs typeface="+mn-lt"/>
              </a:rPr>
              <a:t>They aim to help new businesses solve the financial problem and reduce the gap between the company and finances.</a:t>
            </a:r>
          </a:p>
          <a:p>
            <a:pPr marL="457200" lvl="1" indent="0">
              <a:spcBef>
                <a:spcPct val="0"/>
              </a:spcBef>
              <a:spcAft>
                <a:spcPct val="0"/>
              </a:spcAft>
              <a:buNone/>
            </a:pPr>
            <a:endParaRPr lang="en-US" sz="2000" dirty="0">
              <a:ea typeface="+mn-lt"/>
              <a:cs typeface="+mn-lt"/>
            </a:endParaRPr>
          </a:p>
          <a:p>
            <a:pPr>
              <a:spcBef>
                <a:spcPct val="0"/>
              </a:spcBef>
              <a:spcAft>
                <a:spcPct val="0"/>
              </a:spcAft>
            </a:pPr>
            <a:r>
              <a:rPr lang="en-US" sz="2000" b="1" dirty="0">
                <a:ea typeface="+mn-lt"/>
                <a:cs typeface="+mn-lt"/>
              </a:rPr>
              <a:t>Corporate venture capital</a:t>
            </a:r>
          </a:p>
          <a:p>
            <a:pPr>
              <a:spcBef>
                <a:spcPct val="0"/>
              </a:spcBef>
              <a:spcAft>
                <a:spcPct val="0"/>
              </a:spcAft>
            </a:pPr>
            <a:endParaRPr lang="en-US" sz="2000" dirty="0">
              <a:ea typeface="+mn-lt"/>
              <a:cs typeface="+mn-lt"/>
            </a:endParaRPr>
          </a:p>
          <a:p>
            <a:pPr marL="457200" lvl="1" indent="0">
              <a:spcBef>
                <a:spcPct val="0"/>
              </a:spcBef>
              <a:spcAft>
                <a:spcPct val="0"/>
              </a:spcAft>
              <a:buNone/>
            </a:pPr>
            <a:r>
              <a:rPr lang="en-US" sz="2000" dirty="0">
                <a:ea typeface="+mn-lt"/>
                <a:cs typeface="+mn-lt"/>
              </a:rPr>
              <a:t>These are venture capital investments by established companies in startups or growth companies. </a:t>
            </a:r>
          </a:p>
          <a:p>
            <a:pPr marL="457200" lvl="1" indent="0">
              <a:spcBef>
                <a:spcPct val="0"/>
              </a:spcBef>
              <a:spcAft>
                <a:spcPct val="0"/>
              </a:spcAft>
              <a:buNone/>
            </a:pPr>
            <a:r>
              <a:rPr lang="en-US" sz="2000" dirty="0">
                <a:ea typeface="+mn-lt"/>
                <a:cs typeface="+mn-lt"/>
              </a:rPr>
              <a:t>Take  a major stake in these young firms and help them develop the market.</a:t>
            </a:r>
          </a:p>
          <a:p>
            <a:pPr marL="457200" lvl="1" indent="0">
              <a:spcBef>
                <a:spcPct val="0"/>
              </a:spcBef>
              <a:spcAft>
                <a:spcPct val="0"/>
              </a:spcAft>
              <a:buNone/>
            </a:pPr>
            <a:r>
              <a:rPr lang="en-US" sz="2000" dirty="0">
                <a:ea typeface="+mn-lt"/>
                <a:cs typeface="+mn-lt"/>
              </a:rPr>
              <a:t>Usually invest either in the early venture stage or late stage of the venture.</a:t>
            </a:r>
          </a:p>
          <a:p>
            <a:pPr marL="457200" lvl="1" indent="0">
              <a:spcBef>
                <a:spcPct val="0"/>
              </a:spcBef>
              <a:spcAft>
                <a:spcPct val="0"/>
              </a:spcAft>
              <a:buNone/>
            </a:pPr>
            <a:endParaRPr lang="en-US" sz="2000" dirty="0">
              <a:ea typeface="+mn-lt"/>
              <a:cs typeface="+mn-lt"/>
            </a:endParaRPr>
          </a:p>
          <a:p>
            <a:pPr>
              <a:spcBef>
                <a:spcPct val="0"/>
              </a:spcBef>
              <a:spcAft>
                <a:spcPct val="0"/>
              </a:spcAft>
            </a:pPr>
            <a:r>
              <a:rPr lang="en-US" sz="2000" b="1" dirty="0">
                <a:ea typeface="+mn-lt"/>
                <a:cs typeface="+mn-lt"/>
              </a:rPr>
              <a:t>Family offices</a:t>
            </a:r>
          </a:p>
          <a:p>
            <a:pPr>
              <a:spcBef>
                <a:spcPct val="0"/>
              </a:spcBef>
              <a:spcAft>
                <a:spcPct val="0"/>
              </a:spcAft>
            </a:pPr>
            <a:endParaRPr lang="en-US" sz="2000" dirty="0">
              <a:ea typeface="+mn-lt"/>
              <a:cs typeface="+mn-lt"/>
            </a:endParaRPr>
          </a:p>
          <a:p>
            <a:pPr marL="457200" lvl="1" indent="0">
              <a:spcBef>
                <a:spcPct val="0"/>
              </a:spcBef>
              <a:spcAft>
                <a:spcPct val="0"/>
              </a:spcAft>
              <a:buNone/>
            </a:pPr>
            <a:r>
              <a:rPr lang="en-US" sz="2000" dirty="0">
                <a:ea typeface="+mn-lt"/>
                <a:cs typeface="+mn-lt"/>
              </a:rPr>
              <a:t>The families who own very high net worth and large companies establish their own offices. </a:t>
            </a:r>
          </a:p>
          <a:p>
            <a:pPr marL="457200" lvl="1" indent="0">
              <a:spcBef>
                <a:spcPct val="0"/>
              </a:spcBef>
              <a:spcAft>
                <a:spcPct val="0"/>
              </a:spcAft>
              <a:buNone/>
            </a:pPr>
            <a:r>
              <a:rPr lang="en-US" sz="2000" dirty="0">
                <a:ea typeface="+mn-lt"/>
                <a:cs typeface="+mn-lt"/>
              </a:rPr>
              <a:t>The primary objective of these offices is to manage their wealth. </a:t>
            </a:r>
          </a:p>
          <a:p>
            <a:pPr marL="457200" lvl="1" indent="0">
              <a:spcBef>
                <a:spcPct val="0"/>
              </a:spcBef>
              <a:spcAft>
                <a:spcPct val="0"/>
              </a:spcAft>
              <a:buNone/>
            </a:pPr>
            <a:r>
              <a:rPr lang="en-US" sz="2000" dirty="0">
                <a:ea typeface="+mn-lt"/>
                <a:cs typeface="+mn-lt"/>
              </a:rPr>
              <a:t>These family offices also invest in different growth ventures.</a:t>
            </a:r>
            <a:endParaRPr lang="en-US" sz="2000" b="1" dirty="0">
              <a:ea typeface="+mn-lt"/>
              <a:cs typeface="+mn-lt"/>
            </a:endParaRPr>
          </a:p>
        </p:txBody>
      </p:sp>
      <p:sp>
        <p:nvSpPr>
          <p:cNvPr id="4" name="Slide Number Placeholder 3">
            <a:extLst>
              <a:ext uri="{FF2B5EF4-FFF2-40B4-BE49-F238E27FC236}">
                <a16:creationId xmlns:a16="http://schemas.microsoft.com/office/drawing/2014/main" id="{5F164E9A-9A19-AAA5-8508-898D677E4031}"/>
              </a:ext>
            </a:extLst>
          </p:cNvPr>
          <p:cNvSpPr>
            <a:spLocks noGrp="1"/>
          </p:cNvSpPr>
          <p:nvPr>
            <p:ph type="sldNum" sz="quarter" idx="12"/>
          </p:nvPr>
        </p:nvSpPr>
        <p:spPr/>
        <p:txBody>
          <a:bodyPr/>
          <a:lstStyle/>
          <a:p>
            <a:fld id="{E94B78F3-87BC-451C-A202-F318C4D79F4A}" type="slidenum">
              <a:rPr lang="en-IN" smtClean="0"/>
              <a:pPr/>
              <a:t>13</a:t>
            </a:fld>
            <a:endParaRPr lang="en-IN"/>
          </a:p>
        </p:txBody>
      </p:sp>
    </p:spTree>
    <p:extLst>
      <p:ext uri="{BB962C8B-B14F-4D97-AF65-F5344CB8AC3E}">
        <p14:creationId xmlns:p14="http://schemas.microsoft.com/office/powerpoint/2010/main" val="8281825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D94E5-B789-4BFF-90B1-F7A859FE9B86}"/>
              </a:ext>
            </a:extLst>
          </p:cNvPr>
          <p:cNvSpPr>
            <a:spLocks noGrp="1"/>
          </p:cNvSpPr>
          <p:nvPr>
            <p:ph type="title"/>
          </p:nvPr>
        </p:nvSpPr>
        <p:spPr>
          <a:xfrm>
            <a:off x="2117" y="-5292"/>
            <a:ext cx="12187766" cy="817563"/>
          </a:xfrm>
        </p:spPr>
        <p:txBody>
          <a:bodyPr/>
          <a:lstStyle/>
          <a:p>
            <a:pPr algn="ctr"/>
            <a:r>
              <a:rPr lang="en-US" b="1" dirty="0">
                <a:ea typeface="+mj-lt"/>
                <a:cs typeface="+mj-lt"/>
              </a:rPr>
              <a:t>Entrepreneurial Sources of Finance</a:t>
            </a:r>
            <a:endParaRPr lang="en-US" b="1" dirty="0">
              <a:cs typeface="Calibri Light"/>
            </a:endParaRPr>
          </a:p>
        </p:txBody>
      </p:sp>
      <p:sp>
        <p:nvSpPr>
          <p:cNvPr id="3" name="Content Placeholder 2">
            <a:extLst>
              <a:ext uri="{FF2B5EF4-FFF2-40B4-BE49-F238E27FC236}">
                <a16:creationId xmlns:a16="http://schemas.microsoft.com/office/drawing/2014/main" id="{1155A084-C7DB-4E11-9EF9-FB294CBAEBE2}"/>
              </a:ext>
            </a:extLst>
          </p:cNvPr>
          <p:cNvSpPr>
            <a:spLocks noGrp="1"/>
          </p:cNvSpPr>
          <p:nvPr>
            <p:ph idx="1"/>
          </p:nvPr>
        </p:nvSpPr>
        <p:spPr>
          <a:xfrm>
            <a:off x="2117" y="830793"/>
            <a:ext cx="12187766" cy="6023503"/>
          </a:xfrm>
        </p:spPr>
        <p:txBody>
          <a:bodyPr vert="horz" lIns="91440" tIns="45720" rIns="91440" bIns="45720" rtlCol="0" anchor="t">
            <a:normAutofit/>
          </a:bodyPr>
          <a:lstStyle/>
          <a:p>
            <a:pPr>
              <a:lnSpc>
                <a:spcPct val="170000"/>
              </a:lnSpc>
              <a:spcBef>
                <a:spcPct val="0"/>
              </a:spcBef>
              <a:spcAft>
                <a:spcPct val="0"/>
              </a:spcAft>
            </a:pPr>
            <a:r>
              <a:rPr lang="en-US" b="1" dirty="0">
                <a:ea typeface="+mn-lt"/>
                <a:cs typeface="+mn-lt"/>
              </a:rPr>
              <a:t>Financial bootstrapping(personal funds)</a:t>
            </a:r>
          </a:p>
          <a:p>
            <a:pPr lvl="1">
              <a:lnSpc>
                <a:spcPct val="170000"/>
              </a:lnSpc>
              <a:spcBef>
                <a:spcPct val="0"/>
              </a:spcBef>
              <a:spcAft>
                <a:spcPct val="0"/>
              </a:spcAft>
            </a:pPr>
            <a:r>
              <a:rPr lang="en-US" sz="2000" b="1" dirty="0">
                <a:ea typeface="+mn-lt"/>
                <a:cs typeface="+mn-lt"/>
              </a:rPr>
              <a:t>Bootstrapping is the practice of self-financing a business. Using only existing resources</a:t>
            </a:r>
          </a:p>
          <a:p>
            <a:pPr marL="457200" lvl="1" indent="0">
              <a:lnSpc>
                <a:spcPct val="170000"/>
              </a:lnSpc>
              <a:spcBef>
                <a:spcPct val="0"/>
              </a:spcBef>
              <a:spcAft>
                <a:spcPct val="0"/>
              </a:spcAft>
              <a:buNone/>
            </a:pPr>
            <a:r>
              <a:rPr lang="en-US" sz="2000" b="1" dirty="0">
                <a:ea typeface="+mn-lt"/>
                <a:cs typeface="+mn-lt"/>
              </a:rPr>
              <a:t> (no venture capital or major loans), bootstrapped companies build their businesses from scratch.</a:t>
            </a:r>
            <a:endParaRPr lang="en-US" b="1" dirty="0">
              <a:ea typeface="+mn-lt"/>
              <a:cs typeface="+mn-lt"/>
            </a:endParaRPr>
          </a:p>
          <a:p>
            <a:pPr>
              <a:lnSpc>
                <a:spcPct val="150000"/>
              </a:lnSpc>
              <a:spcBef>
                <a:spcPct val="0"/>
              </a:spcBef>
              <a:spcAft>
                <a:spcPct val="0"/>
              </a:spcAft>
            </a:pPr>
            <a:r>
              <a:rPr lang="en-US" b="1" dirty="0">
                <a:ea typeface="+mn-lt"/>
                <a:cs typeface="+mn-lt"/>
              </a:rPr>
              <a:t>Buyouts</a:t>
            </a:r>
          </a:p>
          <a:p>
            <a:pPr lvl="1">
              <a:lnSpc>
                <a:spcPct val="150000"/>
              </a:lnSpc>
              <a:spcBef>
                <a:spcPct val="0"/>
              </a:spcBef>
              <a:spcAft>
                <a:spcPct val="0"/>
              </a:spcAft>
            </a:pPr>
            <a:r>
              <a:rPr lang="en-US" sz="2000" b="1" dirty="0">
                <a:ea typeface="+mn-lt"/>
                <a:cs typeface="+mn-lt"/>
              </a:rPr>
              <a:t>are utilized to transfer ownership  by different methods. The company can be private and free of regulations, or it can be public.</a:t>
            </a:r>
          </a:p>
          <a:p>
            <a:pPr lvl="1">
              <a:lnSpc>
                <a:spcPct val="150000"/>
              </a:lnSpc>
              <a:spcBef>
                <a:spcPct val="0"/>
              </a:spcBef>
              <a:spcAft>
                <a:spcPct val="0"/>
              </a:spcAft>
            </a:pPr>
            <a:r>
              <a:rPr lang="en-US" sz="2000" b="1" dirty="0">
                <a:ea typeface="+mn-lt"/>
                <a:cs typeface="+mn-lt"/>
              </a:rPr>
              <a:t>Might also change or refocuses the organizations mission and vision</a:t>
            </a:r>
          </a:p>
          <a:p>
            <a:pPr lvl="1">
              <a:lnSpc>
                <a:spcPct val="150000"/>
              </a:lnSpc>
              <a:spcBef>
                <a:spcPct val="0"/>
              </a:spcBef>
              <a:spcAft>
                <a:spcPct val="0"/>
              </a:spcAft>
            </a:pPr>
            <a:r>
              <a:rPr lang="en-US" sz="2000" b="1" dirty="0">
                <a:ea typeface="+mn-lt"/>
                <a:cs typeface="+mn-lt"/>
              </a:rPr>
              <a:t>Management buyout</a:t>
            </a:r>
          </a:p>
          <a:p>
            <a:pPr lvl="1">
              <a:lnSpc>
                <a:spcPct val="150000"/>
              </a:lnSpc>
              <a:spcBef>
                <a:spcPct val="0"/>
              </a:spcBef>
              <a:spcAft>
                <a:spcPct val="0"/>
              </a:spcAft>
            </a:pPr>
            <a:r>
              <a:rPr lang="en-US" sz="2000" b="1" dirty="0">
                <a:ea typeface="+mn-lt"/>
                <a:cs typeface="+mn-lt"/>
              </a:rPr>
              <a:t>Leveraged buyout</a:t>
            </a:r>
          </a:p>
          <a:p>
            <a:pPr lvl="1">
              <a:lnSpc>
                <a:spcPct val="150000"/>
              </a:lnSpc>
              <a:spcBef>
                <a:spcPct val="0"/>
              </a:spcBef>
              <a:spcAft>
                <a:spcPct val="0"/>
              </a:spcAft>
            </a:pPr>
            <a:r>
              <a:rPr lang="en-US" sz="2000" b="1" dirty="0">
                <a:ea typeface="+mn-lt"/>
                <a:cs typeface="+mn-lt"/>
              </a:rPr>
              <a:t>Secondary buyout</a:t>
            </a:r>
          </a:p>
        </p:txBody>
      </p:sp>
      <p:sp>
        <p:nvSpPr>
          <p:cNvPr id="4" name="Slide Number Placeholder 3">
            <a:extLst>
              <a:ext uri="{FF2B5EF4-FFF2-40B4-BE49-F238E27FC236}">
                <a16:creationId xmlns:a16="http://schemas.microsoft.com/office/drawing/2014/main" id="{F0D970A3-0888-29A0-9A31-53D16A78C252}"/>
              </a:ext>
            </a:extLst>
          </p:cNvPr>
          <p:cNvSpPr>
            <a:spLocks noGrp="1"/>
          </p:cNvSpPr>
          <p:nvPr>
            <p:ph type="sldNum" sz="quarter" idx="12"/>
          </p:nvPr>
        </p:nvSpPr>
        <p:spPr/>
        <p:txBody>
          <a:bodyPr/>
          <a:lstStyle/>
          <a:p>
            <a:fld id="{E94B78F3-87BC-451C-A202-F318C4D79F4A}" type="slidenum">
              <a:rPr lang="en-IN" smtClean="0"/>
              <a:pPr/>
              <a:t>14</a:t>
            </a:fld>
            <a:endParaRPr lang="en-IN"/>
          </a:p>
        </p:txBody>
      </p:sp>
    </p:spTree>
    <p:extLst>
      <p:ext uri="{BB962C8B-B14F-4D97-AF65-F5344CB8AC3E}">
        <p14:creationId xmlns:p14="http://schemas.microsoft.com/office/powerpoint/2010/main" val="1899830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75777-8B02-478B-9470-97BE1B4B8ABE}"/>
              </a:ext>
            </a:extLst>
          </p:cNvPr>
          <p:cNvSpPr>
            <a:spLocks noGrp="1"/>
          </p:cNvSpPr>
          <p:nvPr>
            <p:ph type="title"/>
          </p:nvPr>
        </p:nvSpPr>
        <p:spPr>
          <a:xfrm>
            <a:off x="0" y="1"/>
            <a:ext cx="12192000" cy="804333"/>
          </a:xfrm>
        </p:spPr>
        <p:txBody>
          <a:bodyPr/>
          <a:lstStyle/>
          <a:p>
            <a:pPr algn="ctr"/>
            <a:r>
              <a:rPr lang="en-US" b="1" dirty="0"/>
              <a:t>Entrepreneurial Sources of Finance</a:t>
            </a:r>
            <a:endParaRPr lang="en-IN" b="1">
              <a:cs typeface="Calibri Light" panose="020F0302020204030204"/>
            </a:endParaRPr>
          </a:p>
        </p:txBody>
      </p:sp>
      <p:sp>
        <p:nvSpPr>
          <p:cNvPr id="3" name="Content Placeholder 2">
            <a:extLst>
              <a:ext uri="{FF2B5EF4-FFF2-40B4-BE49-F238E27FC236}">
                <a16:creationId xmlns:a16="http://schemas.microsoft.com/office/drawing/2014/main" id="{6639156C-F486-4469-B282-0513EC7A0194}"/>
              </a:ext>
            </a:extLst>
          </p:cNvPr>
          <p:cNvSpPr>
            <a:spLocks noGrp="1"/>
          </p:cNvSpPr>
          <p:nvPr>
            <p:ph idx="1"/>
          </p:nvPr>
        </p:nvSpPr>
        <p:spPr>
          <a:xfrm>
            <a:off x="-1" y="649849"/>
            <a:ext cx="12191999" cy="6208150"/>
          </a:xfrm>
        </p:spPr>
        <p:txBody>
          <a:bodyPr vert="horz" lIns="91440" tIns="45720" rIns="91440" bIns="45720" rtlCol="0" anchor="t">
            <a:noAutofit/>
          </a:bodyPr>
          <a:lstStyle/>
          <a:p>
            <a:pPr>
              <a:lnSpc>
                <a:spcPct val="170000"/>
              </a:lnSpc>
              <a:spcBef>
                <a:spcPct val="0"/>
              </a:spcBef>
              <a:spcAft>
                <a:spcPct val="0"/>
              </a:spcAft>
            </a:pPr>
            <a:r>
              <a:rPr lang="en-US" b="1" dirty="0">
                <a:ea typeface="+mn-lt"/>
                <a:cs typeface="+mn-lt"/>
              </a:rPr>
              <a:t>Accelerators and Incubators</a:t>
            </a:r>
          </a:p>
          <a:p>
            <a:pPr lvl="1">
              <a:lnSpc>
                <a:spcPct val="170000"/>
              </a:lnSpc>
              <a:spcBef>
                <a:spcPct val="0"/>
              </a:spcBef>
              <a:spcAft>
                <a:spcPct val="0"/>
              </a:spcAft>
            </a:pPr>
            <a:r>
              <a:rPr lang="en-US" sz="2000" b="1" dirty="0">
                <a:ea typeface="+mn-lt"/>
                <a:cs typeface="+mn-lt"/>
              </a:rPr>
              <a:t>Accelerators and incubators can be government or private institutions.</a:t>
            </a:r>
          </a:p>
          <a:p>
            <a:pPr lvl="1">
              <a:lnSpc>
                <a:spcPct val="170000"/>
              </a:lnSpc>
              <a:spcBef>
                <a:spcPct val="0"/>
              </a:spcBef>
              <a:spcAft>
                <a:spcPct val="0"/>
              </a:spcAft>
            </a:pPr>
            <a:r>
              <a:rPr lang="en-US" sz="2000" b="1" dirty="0">
                <a:ea typeface="+mn-lt"/>
                <a:cs typeface="+mn-lt"/>
              </a:rPr>
              <a:t>The objective  is to assist the ventures with advice, access for network, shared resources, and mentorship to grow. </a:t>
            </a:r>
          </a:p>
          <a:p>
            <a:pPr lvl="1">
              <a:lnSpc>
                <a:spcPct val="170000"/>
              </a:lnSpc>
              <a:spcBef>
                <a:spcPct val="0"/>
              </a:spcBef>
              <a:spcAft>
                <a:spcPct val="0"/>
              </a:spcAft>
            </a:pPr>
            <a:r>
              <a:rPr lang="en-US" sz="2000" b="1" dirty="0">
                <a:ea typeface="+mn-lt"/>
                <a:cs typeface="+mn-lt"/>
              </a:rPr>
              <a:t>They  also offer physical space along with financial resources and against that, they expect equity from the venture. </a:t>
            </a:r>
          </a:p>
          <a:p>
            <a:pPr>
              <a:lnSpc>
                <a:spcPct val="170000"/>
              </a:lnSpc>
              <a:spcBef>
                <a:spcPct val="0"/>
              </a:spcBef>
              <a:spcAft>
                <a:spcPct val="0"/>
              </a:spcAft>
            </a:pPr>
            <a:endParaRPr lang="en-US" dirty="0">
              <a:ea typeface="+mn-lt"/>
              <a:cs typeface="+mn-lt"/>
            </a:endParaRPr>
          </a:p>
        </p:txBody>
      </p:sp>
      <p:sp>
        <p:nvSpPr>
          <p:cNvPr id="4" name="Slide Number Placeholder 3">
            <a:extLst>
              <a:ext uri="{FF2B5EF4-FFF2-40B4-BE49-F238E27FC236}">
                <a16:creationId xmlns:a16="http://schemas.microsoft.com/office/drawing/2014/main" id="{A171DF39-AFCA-C124-FE3C-435C3FF1FF9D}"/>
              </a:ext>
            </a:extLst>
          </p:cNvPr>
          <p:cNvSpPr>
            <a:spLocks noGrp="1"/>
          </p:cNvSpPr>
          <p:nvPr>
            <p:ph type="sldNum" sz="quarter" idx="12"/>
          </p:nvPr>
        </p:nvSpPr>
        <p:spPr/>
        <p:txBody>
          <a:bodyPr/>
          <a:lstStyle/>
          <a:p>
            <a:fld id="{E94B78F3-87BC-451C-A202-F318C4D79F4A}" type="slidenum">
              <a:rPr lang="en-IN" smtClean="0"/>
              <a:pPr/>
              <a:t>15</a:t>
            </a:fld>
            <a:endParaRPr lang="en-IN"/>
          </a:p>
        </p:txBody>
      </p:sp>
    </p:spTree>
    <p:extLst>
      <p:ext uri="{BB962C8B-B14F-4D97-AF65-F5344CB8AC3E}">
        <p14:creationId xmlns:p14="http://schemas.microsoft.com/office/powerpoint/2010/main" val="35889346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95602-7155-4972-83A6-183457B8EB41}"/>
              </a:ext>
            </a:extLst>
          </p:cNvPr>
          <p:cNvSpPr>
            <a:spLocks noGrp="1"/>
          </p:cNvSpPr>
          <p:nvPr>
            <p:ph type="title"/>
          </p:nvPr>
        </p:nvSpPr>
        <p:spPr/>
        <p:txBody>
          <a:bodyPr/>
          <a:lstStyle/>
          <a:p>
            <a:r>
              <a:rPr lang="en-GB" b="1" dirty="0"/>
              <a:t>Incubation Centres</a:t>
            </a:r>
          </a:p>
        </p:txBody>
      </p:sp>
      <p:sp>
        <p:nvSpPr>
          <p:cNvPr id="3" name="Content Placeholder 2">
            <a:extLst>
              <a:ext uri="{FF2B5EF4-FFF2-40B4-BE49-F238E27FC236}">
                <a16:creationId xmlns:a16="http://schemas.microsoft.com/office/drawing/2014/main" id="{F3F6CEE4-29F3-4A3D-9225-0AE0501AB58C}"/>
              </a:ext>
            </a:extLst>
          </p:cNvPr>
          <p:cNvSpPr>
            <a:spLocks noGrp="1"/>
          </p:cNvSpPr>
          <p:nvPr>
            <p:ph idx="1"/>
          </p:nvPr>
        </p:nvSpPr>
        <p:spPr/>
        <p:txBody>
          <a:bodyPr vert="horz" lIns="91440" tIns="45720" rIns="91440" bIns="45720" rtlCol="0" anchor="t">
            <a:normAutofit/>
          </a:bodyPr>
          <a:lstStyle/>
          <a:p>
            <a:pPr algn="just"/>
            <a:r>
              <a:rPr lang="en-GB" sz="2400" dirty="0"/>
              <a:t>Business incubators are organizations designed to assist and accelerate the growth of small businesses. They typically provide business assistance in the form of coaching and training, access to investors, and access to office services and space on flexible terms. Incubators are short-term assistance programs. They are designed to provide concentrated critical resources during the key development period.  Most incubators have time limits ranging from six months to three years. Business incubators have become one of the most concentrated and useful methods for obtaining business assistance.</a:t>
            </a:r>
            <a:endParaRPr lang="en-US" sz="2400" dirty="0"/>
          </a:p>
        </p:txBody>
      </p:sp>
      <p:sp>
        <p:nvSpPr>
          <p:cNvPr id="4" name="Slide Number Placeholder 3">
            <a:extLst>
              <a:ext uri="{FF2B5EF4-FFF2-40B4-BE49-F238E27FC236}">
                <a16:creationId xmlns:a16="http://schemas.microsoft.com/office/drawing/2014/main" id="{2DDE936D-A6CE-4693-A5E7-70BDC36967A4}"/>
              </a:ext>
            </a:extLst>
          </p:cNvPr>
          <p:cNvSpPr>
            <a:spLocks noGrp="1"/>
          </p:cNvSpPr>
          <p:nvPr>
            <p:ph type="sldNum" sz="quarter" idx="12"/>
          </p:nvPr>
        </p:nvSpPr>
        <p:spPr/>
        <p:txBody>
          <a:bodyPr/>
          <a:lstStyle/>
          <a:p>
            <a:fld id="{D57F1E4F-1CFF-5643-939E-02111984F565}" type="slidenum">
              <a:rPr lang="en-US" dirty="0"/>
              <a:pPr/>
              <a:t>16</a:t>
            </a:fld>
            <a:endParaRPr lang="en-US" dirty="0"/>
          </a:p>
        </p:txBody>
      </p:sp>
    </p:spTree>
    <p:extLst>
      <p:ext uri="{BB962C8B-B14F-4D97-AF65-F5344CB8AC3E}">
        <p14:creationId xmlns:p14="http://schemas.microsoft.com/office/powerpoint/2010/main" val="23777547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Incubation Centres</a:t>
            </a:r>
            <a:endParaRPr lang="en-US" dirty="0"/>
          </a:p>
        </p:txBody>
      </p:sp>
      <p:sp>
        <p:nvSpPr>
          <p:cNvPr id="3" name="Content Placeholder 2"/>
          <p:cNvSpPr>
            <a:spLocks noGrp="1"/>
          </p:cNvSpPr>
          <p:nvPr>
            <p:ph idx="1"/>
          </p:nvPr>
        </p:nvSpPr>
        <p:spPr/>
        <p:txBody>
          <a:bodyPr/>
          <a:lstStyle/>
          <a:p>
            <a:pPr algn="just"/>
            <a:r>
              <a:rPr lang="en-IN" sz="2400" dirty="0"/>
              <a:t>Is the institution that assists entrepreneurs in developing their business and solving problems associated with it, especially in the initial stages, by providing an array of business and technical services, initial seed funds, lab facilities, advisory, network and linkages.</a:t>
            </a:r>
            <a:r>
              <a:rPr lang="en-US" sz="2400" dirty="0"/>
              <a:t>​</a:t>
            </a:r>
          </a:p>
          <a:p>
            <a:pPr algn="just" fontAlgn="base"/>
            <a:r>
              <a:rPr lang="en-IN" sz="2400" b="1" dirty="0"/>
              <a:t>Purpose of Incubation Centres</a:t>
            </a:r>
            <a:r>
              <a:rPr lang="en-US" sz="2400" dirty="0"/>
              <a:t>​</a:t>
            </a:r>
          </a:p>
          <a:p>
            <a:pPr lvl="1" algn="just" fontAlgn="base"/>
            <a:r>
              <a:rPr lang="en-IN" sz="2000" dirty="0"/>
              <a:t>Manufacturing space is acquired at below-market rates.</a:t>
            </a:r>
            <a:r>
              <a:rPr lang="en-US" sz="2000" dirty="0"/>
              <a:t>​</a:t>
            </a:r>
          </a:p>
          <a:p>
            <a:pPr lvl="1" algn="just" fontAlgn="base"/>
            <a:r>
              <a:rPr lang="en-IN" sz="2000" dirty="0"/>
              <a:t>Staff supplies advice and expertise in developing business and marketing plans.</a:t>
            </a:r>
            <a:r>
              <a:rPr lang="en-US" sz="2000" dirty="0"/>
              <a:t>​</a:t>
            </a:r>
          </a:p>
          <a:p>
            <a:pPr lvl="1" algn="just" fontAlgn="base"/>
            <a:r>
              <a:rPr lang="en-IN" sz="2000" dirty="0"/>
              <a:t>Assist in funding </a:t>
            </a:r>
            <a:r>
              <a:rPr lang="en-IN" sz="2000" dirty="0" err="1"/>
              <a:t>fledgeling</a:t>
            </a:r>
            <a:r>
              <a:rPr lang="en-IN" sz="2000" dirty="0"/>
              <a:t> businesses.</a:t>
            </a:r>
            <a:r>
              <a:rPr lang="en-US" sz="2000" dirty="0"/>
              <a:t>​</a:t>
            </a:r>
          </a:p>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pPr/>
              <a:t>17</a:t>
            </a:fld>
            <a:endParaRPr lang="en-US" dirty="0"/>
          </a:p>
        </p:txBody>
      </p:sp>
    </p:spTree>
    <p:extLst>
      <p:ext uri="{BB962C8B-B14F-4D97-AF65-F5344CB8AC3E}">
        <p14:creationId xmlns:p14="http://schemas.microsoft.com/office/powerpoint/2010/main" val="31821088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840054"/>
          </a:xfrm>
        </p:spPr>
        <p:txBody>
          <a:bodyPr/>
          <a:lstStyle/>
          <a:p>
            <a:r>
              <a:rPr lang="en-US" b="1" dirty="0"/>
              <a:t>Functions of Incubation Centers</a:t>
            </a:r>
            <a:r>
              <a:rPr lang="en-US" dirty="0"/>
              <a:t>​</a:t>
            </a:r>
            <a:br>
              <a:rPr lang="en-US" dirty="0"/>
            </a:br>
            <a:endParaRPr lang="en-US" dirty="0"/>
          </a:p>
        </p:txBody>
      </p:sp>
      <p:sp>
        <p:nvSpPr>
          <p:cNvPr id="3" name="Content Placeholder 2"/>
          <p:cNvSpPr>
            <a:spLocks noGrp="1"/>
          </p:cNvSpPr>
          <p:nvPr>
            <p:ph idx="1"/>
          </p:nvPr>
        </p:nvSpPr>
        <p:spPr>
          <a:xfrm>
            <a:off x="1103312" y="1513490"/>
            <a:ext cx="8946541" cy="5097517"/>
          </a:xfrm>
        </p:spPr>
        <p:txBody>
          <a:bodyPr>
            <a:noAutofit/>
          </a:bodyPr>
          <a:lstStyle/>
          <a:p>
            <a:pPr algn="just" fontAlgn="base"/>
            <a:r>
              <a:rPr lang="en-US" sz="2200" dirty="0"/>
              <a:t>Reduces the investment risk associated with start-ups and R&amp;D, thereby improving the success rate of entrepreneurs and innovators.​</a:t>
            </a:r>
          </a:p>
          <a:p>
            <a:pPr algn="just" fontAlgn="base"/>
            <a:r>
              <a:rPr lang="en-US" sz="2200" dirty="0"/>
              <a:t>Assists with incubation projects and helps with the development of new technologies and products.​</a:t>
            </a:r>
          </a:p>
          <a:p>
            <a:pPr algn="just" fontAlgn="base"/>
            <a:r>
              <a:rPr lang="en-US" sz="2200" dirty="0"/>
              <a:t>Enables the commercialization of R&amp;D results.​</a:t>
            </a:r>
          </a:p>
          <a:p>
            <a:pPr algn="just" fontAlgn="base"/>
            <a:r>
              <a:rPr lang="en-US" sz="2200" dirty="0"/>
              <a:t>Provides a venue where academics and industry leaders can cooperate.​</a:t>
            </a:r>
          </a:p>
          <a:p>
            <a:pPr algn="just" fontAlgn="base"/>
            <a:r>
              <a:rPr lang="en-US" sz="2200" dirty="0"/>
              <a:t>Offers a testing services to speed up product development.​</a:t>
            </a:r>
          </a:p>
          <a:p>
            <a:pPr algn="just" fontAlgn="base"/>
            <a:r>
              <a:rPr lang="en-US" sz="2200" dirty="0"/>
              <a:t>Assist with consulting services in talent development, fund raising, information provision, management and other operations​</a:t>
            </a:r>
          </a:p>
          <a:p>
            <a:endParaRPr lang="en-US" sz="2200" dirty="0"/>
          </a:p>
        </p:txBody>
      </p:sp>
      <p:sp>
        <p:nvSpPr>
          <p:cNvPr id="4" name="Slide Number Placeholder 3"/>
          <p:cNvSpPr>
            <a:spLocks noGrp="1"/>
          </p:cNvSpPr>
          <p:nvPr>
            <p:ph type="sldNum" sz="quarter" idx="12"/>
          </p:nvPr>
        </p:nvSpPr>
        <p:spPr/>
        <p:txBody>
          <a:bodyPr/>
          <a:lstStyle/>
          <a:p>
            <a:fld id="{D57F1E4F-1CFF-5643-939E-02111984F565}" type="slidenum">
              <a:rPr lang="en-US" smtClean="0"/>
              <a:pPr/>
              <a:t>18</a:t>
            </a:fld>
            <a:endParaRPr lang="en-US" dirty="0"/>
          </a:p>
        </p:txBody>
      </p:sp>
    </p:spTree>
    <p:extLst>
      <p:ext uri="{BB962C8B-B14F-4D97-AF65-F5344CB8AC3E}">
        <p14:creationId xmlns:p14="http://schemas.microsoft.com/office/powerpoint/2010/main" val="5366925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7C045-9CA2-4B4F-9C2A-4830C1075626}"/>
              </a:ext>
            </a:extLst>
          </p:cNvPr>
          <p:cNvSpPr>
            <a:spLocks noGrp="1"/>
          </p:cNvSpPr>
          <p:nvPr>
            <p:ph type="title"/>
          </p:nvPr>
        </p:nvSpPr>
        <p:spPr>
          <a:xfrm>
            <a:off x="0" y="-7199"/>
            <a:ext cx="12192000" cy="864449"/>
          </a:xfrm>
        </p:spPr>
        <p:txBody>
          <a:bodyPr/>
          <a:lstStyle/>
          <a:p>
            <a:r>
              <a:rPr lang="en-US" dirty="0"/>
              <a:t>Incubation centers- types</a:t>
            </a:r>
            <a:endParaRPr lang="en-IN" dirty="0"/>
          </a:p>
        </p:txBody>
      </p:sp>
      <p:graphicFrame>
        <p:nvGraphicFramePr>
          <p:cNvPr id="6" name="Table 6">
            <a:extLst>
              <a:ext uri="{FF2B5EF4-FFF2-40B4-BE49-F238E27FC236}">
                <a16:creationId xmlns:a16="http://schemas.microsoft.com/office/drawing/2014/main" id="{EE8C68B1-951B-4863-BECD-F8903EB9884E}"/>
              </a:ext>
            </a:extLst>
          </p:cNvPr>
          <p:cNvGraphicFramePr>
            <a:graphicFrameLocks noGrp="1"/>
          </p:cNvGraphicFramePr>
          <p:nvPr>
            <p:ph idx="1"/>
          </p:nvPr>
        </p:nvGraphicFramePr>
        <p:xfrm>
          <a:off x="0" y="-7198"/>
          <a:ext cx="12191999" cy="6865200"/>
        </p:xfrm>
        <a:graphic>
          <a:graphicData uri="http://schemas.openxmlformats.org/drawingml/2006/table">
            <a:tbl>
              <a:tblPr firstRow="1" bandRow="1">
                <a:tableStyleId>{073A0DAA-6AF3-43AB-8588-CEC1D06C72B9}</a:tableStyleId>
              </a:tblPr>
              <a:tblGrid>
                <a:gridCol w="3267075">
                  <a:extLst>
                    <a:ext uri="{9D8B030D-6E8A-4147-A177-3AD203B41FA5}">
                      <a16:colId xmlns:a16="http://schemas.microsoft.com/office/drawing/2014/main" val="1673659907"/>
                    </a:ext>
                  </a:extLst>
                </a:gridCol>
                <a:gridCol w="8924924">
                  <a:extLst>
                    <a:ext uri="{9D8B030D-6E8A-4147-A177-3AD203B41FA5}">
                      <a16:colId xmlns:a16="http://schemas.microsoft.com/office/drawing/2014/main" val="2597876417"/>
                    </a:ext>
                  </a:extLst>
                </a:gridCol>
              </a:tblGrid>
              <a:tr h="1456617">
                <a:tc>
                  <a:txBody>
                    <a:bodyPr/>
                    <a:lstStyle/>
                    <a:p>
                      <a:pPr algn="ctr"/>
                      <a:r>
                        <a:rPr lang="en-US" dirty="0"/>
                        <a:t>Types of Incubation Centers</a:t>
                      </a:r>
                      <a:endParaRPr lang="en-IN" dirty="0"/>
                    </a:p>
                  </a:txBody>
                  <a:tcPr anchor="ctr"/>
                </a:tc>
                <a:tc>
                  <a:txBody>
                    <a:bodyPr/>
                    <a:lstStyle/>
                    <a:p>
                      <a:pPr algn="ctr"/>
                      <a:r>
                        <a:rPr lang="en-US" dirty="0"/>
                        <a:t>Role </a:t>
                      </a:r>
                      <a:endParaRPr lang="en-IN" dirty="0"/>
                    </a:p>
                  </a:txBody>
                  <a:tcPr anchor="ctr"/>
                </a:tc>
                <a:extLst>
                  <a:ext uri="{0D108BD9-81ED-4DB2-BD59-A6C34878D82A}">
                    <a16:rowId xmlns:a16="http://schemas.microsoft.com/office/drawing/2014/main" val="3041546866"/>
                  </a:ext>
                </a:extLst>
              </a:tr>
              <a:tr h="3379536">
                <a:tc>
                  <a:txBody>
                    <a:bodyPr/>
                    <a:lstStyle/>
                    <a:p>
                      <a:r>
                        <a:rPr lang="en-US" b="1" dirty="0"/>
                        <a:t>Business Incubator (BI)</a:t>
                      </a:r>
                      <a:endParaRPr lang="en-IN" b="1" dirty="0"/>
                    </a:p>
                  </a:txBody>
                  <a:tcPr anchor="ctr"/>
                </a:tc>
                <a:tc>
                  <a:txBody>
                    <a:bodyPr/>
                    <a:lstStyle/>
                    <a:p>
                      <a:pPr algn="just">
                        <a:lnSpc>
                          <a:spcPct val="150000"/>
                        </a:lnSpc>
                      </a:pPr>
                      <a:r>
                        <a:rPr lang="en-US" sz="1800" kern="1200" dirty="0">
                          <a:solidFill>
                            <a:schemeClr val="dk1"/>
                          </a:solidFill>
                          <a:effectLst/>
                          <a:latin typeface="+mn-lt"/>
                          <a:ea typeface="+mn-ea"/>
                          <a:cs typeface="+mn-cs"/>
                        </a:rPr>
                        <a:t>promote continuous regional and national industrial and economic growth including increasing employment through general business development or stimulating specific economic objectives such as industrial restructuring and wealth generation or utilization of resources. The incubator combines a variety of small enterprises support elements in one integrated affordable package. It has a special niche, i.e. nurturing early stage, growth-oriented ventures, through focused assistance</a:t>
                      </a:r>
                      <a:r>
                        <a:rPr lang="en-US" dirty="0"/>
                        <a:t> </a:t>
                      </a:r>
                      <a:r>
                        <a:rPr lang="en-IN" sz="1800" b="0" i="0" kern="1200" dirty="0">
                          <a:solidFill>
                            <a:schemeClr val="dk1"/>
                          </a:solidFill>
                          <a:effectLst/>
                          <a:latin typeface="+mn-lt"/>
                          <a:ea typeface="+mn-ea"/>
                          <a:cs typeface="+mn-cs"/>
                        </a:rPr>
                        <a:t>within a supportive environment.</a:t>
                      </a:r>
                      <a:endParaRPr lang="en-IN" dirty="0"/>
                    </a:p>
                  </a:txBody>
                  <a:tcPr/>
                </a:tc>
                <a:extLst>
                  <a:ext uri="{0D108BD9-81ED-4DB2-BD59-A6C34878D82A}">
                    <a16:rowId xmlns:a16="http://schemas.microsoft.com/office/drawing/2014/main" val="1547040636"/>
                  </a:ext>
                </a:extLst>
              </a:tr>
              <a:tr h="2029047">
                <a:tc>
                  <a:txBody>
                    <a:bodyPr/>
                    <a:lstStyle/>
                    <a:p>
                      <a:r>
                        <a:rPr lang="en-US" b="1" dirty="0"/>
                        <a:t>Technology Incubator (TI)</a:t>
                      </a:r>
                      <a:endParaRPr lang="en-IN" b="1" dirty="0"/>
                    </a:p>
                  </a:txBody>
                  <a:tcPr anchor="ctr"/>
                </a:tc>
                <a:tc>
                  <a:txBody>
                    <a:bodyPr/>
                    <a:lstStyle/>
                    <a:p>
                      <a:pPr algn="just">
                        <a:lnSpc>
                          <a:spcPct val="150000"/>
                        </a:lnSpc>
                      </a:pPr>
                      <a:r>
                        <a:rPr lang="en-US" sz="1800" kern="1200" dirty="0">
                          <a:solidFill>
                            <a:schemeClr val="dk1"/>
                          </a:solidFill>
                          <a:effectLst/>
                          <a:latin typeface="+mn-lt"/>
                          <a:ea typeface="+mn-ea"/>
                          <a:cs typeface="+mn-cs"/>
                        </a:rPr>
                        <a:t>are intended for bolstering the technology development stage. The primary goal of technology incubators is to promote the development of technology-based firms, and assist in completion of the technologies under development.</a:t>
                      </a:r>
                    </a:p>
                  </a:txBody>
                  <a:tcPr/>
                </a:tc>
                <a:extLst>
                  <a:ext uri="{0D108BD9-81ED-4DB2-BD59-A6C34878D82A}">
                    <a16:rowId xmlns:a16="http://schemas.microsoft.com/office/drawing/2014/main" val="3573282865"/>
                  </a:ext>
                </a:extLst>
              </a:tr>
            </a:tbl>
          </a:graphicData>
        </a:graphic>
      </p:graphicFrame>
    </p:spTree>
    <p:extLst>
      <p:ext uri="{BB962C8B-B14F-4D97-AF65-F5344CB8AC3E}">
        <p14:creationId xmlns:p14="http://schemas.microsoft.com/office/powerpoint/2010/main" val="19890100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7C045-9CA2-4B4F-9C2A-4830C1075626}"/>
              </a:ext>
            </a:extLst>
          </p:cNvPr>
          <p:cNvSpPr>
            <a:spLocks noGrp="1"/>
          </p:cNvSpPr>
          <p:nvPr>
            <p:ph type="title"/>
          </p:nvPr>
        </p:nvSpPr>
        <p:spPr>
          <a:xfrm>
            <a:off x="0" y="-7199"/>
            <a:ext cx="12192000" cy="864449"/>
          </a:xfrm>
        </p:spPr>
        <p:txBody>
          <a:bodyPr/>
          <a:lstStyle/>
          <a:p>
            <a:r>
              <a:rPr lang="en-US" dirty="0"/>
              <a:t>Incubation centers- types</a:t>
            </a:r>
            <a:endParaRPr lang="en-IN" dirty="0"/>
          </a:p>
        </p:txBody>
      </p:sp>
      <p:graphicFrame>
        <p:nvGraphicFramePr>
          <p:cNvPr id="6" name="Table 6">
            <a:extLst>
              <a:ext uri="{FF2B5EF4-FFF2-40B4-BE49-F238E27FC236}">
                <a16:creationId xmlns:a16="http://schemas.microsoft.com/office/drawing/2014/main" id="{EE8C68B1-951B-4863-BECD-F8903EB9884E}"/>
              </a:ext>
            </a:extLst>
          </p:cNvPr>
          <p:cNvGraphicFramePr>
            <a:graphicFrameLocks noGrp="1"/>
          </p:cNvGraphicFramePr>
          <p:nvPr>
            <p:ph idx="1"/>
          </p:nvPr>
        </p:nvGraphicFramePr>
        <p:xfrm>
          <a:off x="0" y="0"/>
          <a:ext cx="12191999" cy="6857998"/>
        </p:xfrm>
        <a:graphic>
          <a:graphicData uri="http://schemas.openxmlformats.org/drawingml/2006/table">
            <a:tbl>
              <a:tblPr firstRow="1" bandRow="1">
                <a:tableStyleId>{073A0DAA-6AF3-43AB-8588-CEC1D06C72B9}</a:tableStyleId>
              </a:tblPr>
              <a:tblGrid>
                <a:gridCol w="4733925">
                  <a:extLst>
                    <a:ext uri="{9D8B030D-6E8A-4147-A177-3AD203B41FA5}">
                      <a16:colId xmlns:a16="http://schemas.microsoft.com/office/drawing/2014/main" val="1673659907"/>
                    </a:ext>
                  </a:extLst>
                </a:gridCol>
                <a:gridCol w="7458074">
                  <a:extLst>
                    <a:ext uri="{9D8B030D-6E8A-4147-A177-3AD203B41FA5}">
                      <a16:colId xmlns:a16="http://schemas.microsoft.com/office/drawing/2014/main" val="2597876417"/>
                    </a:ext>
                  </a:extLst>
                </a:gridCol>
              </a:tblGrid>
              <a:tr h="1419253">
                <a:tc>
                  <a:txBody>
                    <a:bodyPr/>
                    <a:lstStyle/>
                    <a:p>
                      <a:pPr algn="ctr"/>
                      <a:r>
                        <a:rPr lang="en-US" dirty="0"/>
                        <a:t>Types of Incubation Centers</a:t>
                      </a:r>
                      <a:endParaRPr lang="en-IN" dirty="0"/>
                    </a:p>
                  </a:txBody>
                  <a:tcPr anchor="ctr"/>
                </a:tc>
                <a:tc>
                  <a:txBody>
                    <a:bodyPr/>
                    <a:lstStyle/>
                    <a:p>
                      <a:pPr algn="ctr"/>
                      <a:r>
                        <a:rPr lang="en-US" dirty="0"/>
                        <a:t>Role</a:t>
                      </a:r>
                      <a:endParaRPr lang="en-IN" dirty="0"/>
                    </a:p>
                  </a:txBody>
                  <a:tcPr anchor="ctr"/>
                </a:tc>
                <a:extLst>
                  <a:ext uri="{0D108BD9-81ED-4DB2-BD59-A6C34878D82A}">
                    <a16:rowId xmlns:a16="http://schemas.microsoft.com/office/drawing/2014/main" val="3041546866"/>
                  </a:ext>
                </a:extLst>
              </a:tr>
              <a:tr h="3075679">
                <a:tc>
                  <a:txBody>
                    <a:bodyPr/>
                    <a:lstStyle/>
                    <a:p>
                      <a:pPr>
                        <a:lnSpc>
                          <a:spcPct val="150000"/>
                        </a:lnSpc>
                      </a:pPr>
                      <a:r>
                        <a:rPr lang="en-US" b="1" dirty="0"/>
                        <a:t>Technology Innovation Centers (TIC)</a:t>
                      </a:r>
                    </a:p>
                  </a:txBody>
                  <a:tcPr anchor="ctr"/>
                </a:tc>
                <a:tc>
                  <a:txBody>
                    <a:bodyPr/>
                    <a:lstStyle/>
                    <a:p>
                      <a:pPr algn="just">
                        <a:lnSpc>
                          <a:spcPct val="150000"/>
                        </a:lnSpc>
                      </a:pPr>
                      <a:r>
                        <a:rPr lang="en-US" sz="1800" kern="1200" dirty="0">
                          <a:solidFill>
                            <a:schemeClr val="dk1"/>
                          </a:solidFill>
                          <a:effectLst/>
                          <a:latin typeface="+mn-lt"/>
                          <a:ea typeface="+mn-ea"/>
                          <a:cs typeface="+mn-cs"/>
                        </a:rPr>
                        <a:t>conduct research and development (R&amp;D) and technology innovations required by the industrial field, which aims to jointly invest resources into university campuses or research institutions and achieve commercialization with support from business enterprises or public institutions.</a:t>
                      </a:r>
                      <a:r>
                        <a:rPr lang="en-US" dirty="0"/>
                        <a:t> </a:t>
                      </a:r>
                      <a:endParaRPr lang="en-IN" dirty="0"/>
                    </a:p>
                  </a:txBody>
                  <a:tcPr/>
                </a:tc>
                <a:extLst>
                  <a:ext uri="{0D108BD9-81ED-4DB2-BD59-A6C34878D82A}">
                    <a16:rowId xmlns:a16="http://schemas.microsoft.com/office/drawing/2014/main" val="1437817756"/>
                  </a:ext>
                </a:extLst>
              </a:tr>
              <a:tr h="2363066">
                <a:tc>
                  <a:txBody>
                    <a:bodyPr/>
                    <a:lstStyle/>
                    <a:p>
                      <a:pPr>
                        <a:lnSpc>
                          <a:spcPct val="150000"/>
                        </a:lnSpc>
                      </a:pPr>
                      <a:r>
                        <a:rPr lang="en-US" b="1" dirty="0"/>
                        <a:t>Technology Business Incubators (TBI)</a:t>
                      </a:r>
                    </a:p>
                  </a:txBody>
                  <a:tcPr anchor="ctr"/>
                </a:tc>
                <a:tc>
                  <a:txBody>
                    <a:bodyPr/>
                    <a:lstStyle/>
                    <a:p>
                      <a:pPr algn="just">
                        <a:lnSpc>
                          <a:spcPct val="150000"/>
                        </a:lnSpc>
                      </a:pPr>
                      <a:r>
                        <a:rPr lang="en-US" sz="1800" kern="1200" dirty="0">
                          <a:solidFill>
                            <a:schemeClr val="dk1"/>
                          </a:solidFill>
                          <a:effectLst/>
                          <a:latin typeface="+mn-lt"/>
                          <a:ea typeface="+mn-ea"/>
                          <a:cs typeface="+mn-cs"/>
                        </a:rPr>
                        <a:t>is a venture of universities, public research institutes, local government and private institutions to promote and bolster a new technology intensive enterprise.</a:t>
                      </a:r>
                      <a:r>
                        <a:rPr lang="en-US" dirty="0"/>
                        <a:t> </a:t>
                      </a:r>
                      <a:endParaRPr lang="en-IN" dirty="0"/>
                    </a:p>
                  </a:txBody>
                  <a:tcPr/>
                </a:tc>
                <a:extLst>
                  <a:ext uri="{0D108BD9-81ED-4DB2-BD59-A6C34878D82A}">
                    <a16:rowId xmlns:a16="http://schemas.microsoft.com/office/drawing/2014/main" val="1493988060"/>
                  </a:ext>
                </a:extLst>
              </a:tr>
            </a:tbl>
          </a:graphicData>
        </a:graphic>
      </p:graphicFrame>
    </p:spTree>
    <p:extLst>
      <p:ext uri="{BB962C8B-B14F-4D97-AF65-F5344CB8AC3E}">
        <p14:creationId xmlns:p14="http://schemas.microsoft.com/office/powerpoint/2010/main" val="22337490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Types of Incubation Services</a:t>
            </a:r>
          </a:p>
        </p:txBody>
      </p:sp>
      <p:sp>
        <p:nvSpPr>
          <p:cNvPr id="3" name="Content Placeholder 2"/>
          <p:cNvSpPr>
            <a:spLocks noGrp="1"/>
          </p:cNvSpPr>
          <p:nvPr>
            <p:ph idx="1"/>
          </p:nvPr>
        </p:nvSpPr>
        <p:spPr>
          <a:xfrm>
            <a:off x="588305" y="1309036"/>
            <a:ext cx="8946541" cy="5307225"/>
          </a:xfrm>
        </p:spPr>
        <p:txBody>
          <a:bodyPr>
            <a:normAutofit/>
          </a:bodyPr>
          <a:lstStyle/>
          <a:p>
            <a:pPr algn="just">
              <a:lnSpc>
                <a:spcPct val="150000"/>
              </a:lnSpc>
            </a:pPr>
            <a:r>
              <a:rPr lang="en-US" dirty="0"/>
              <a:t>Since startup companies lack many resources, experience and networks, incubators provide services which helps them get through initial hurdles in starting up a business. These hurdles include space, funding, legal, accounting, computer services and other prerequisites to running the business. Most common Incubator services are</a:t>
            </a:r>
          </a:p>
          <a:p>
            <a:pPr fontAlgn="base"/>
            <a:r>
              <a:rPr lang="en-US" dirty="0"/>
              <a:t>They help with business basics</a:t>
            </a:r>
          </a:p>
          <a:p>
            <a:pPr fontAlgn="base"/>
            <a:r>
              <a:rPr lang="en-US" dirty="0"/>
              <a:t>They provide Networking activities</a:t>
            </a:r>
          </a:p>
          <a:p>
            <a:pPr fontAlgn="base"/>
            <a:r>
              <a:rPr lang="en-US" dirty="0"/>
              <a:t>They provide Marketing assistance</a:t>
            </a:r>
          </a:p>
          <a:p>
            <a:pPr fontAlgn="base"/>
            <a:r>
              <a:rPr lang="en-US" dirty="0"/>
              <a:t>Incubators help in Market Research</a:t>
            </a:r>
          </a:p>
          <a:p>
            <a:pPr fontAlgn="base"/>
            <a:r>
              <a:rPr lang="en-US" dirty="0"/>
              <a:t>They provide High-speed Internet access</a:t>
            </a:r>
          </a:p>
          <a:p>
            <a:pPr fontAlgn="base">
              <a:buNone/>
            </a:pPr>
            <a:endParaRPr lang="en-US" dirty="0"/>
          </a:p>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pPr/>
              <a:t>21</a:t>
            </a:fld>
            <a:endParaRPr lang="en-US" dirty="0"/>
          </a:p>
        </p:txBody>
      </p:sp>
    </p:spTree>
    <p:extLst>
      <p:ext uri="{BB962C8B-B14F-4D97-AF65-F5344CB8AC3E}">
        <p14:creationId xmlns:p14="http://schemas.microsoft.com/office/powerpoint/2010/main" val="10391193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b="1" dirty="0"/>
              <a:t>Most Common Incubator Services</a:t>
            </a:r>
            <a:endParaRPr lang="en-US" dirty="0"/>
          </a:p>
        </p:txBody>
      </p:sp>
      <p:sp>
        <p:nvSpPr>
          <p:cNvPr id="3" name="Content Placeholder 2"/>
          <p:cNvSpPr>
            <a:spLocks noGrp="1"/>
          </p:cNvSpPr>
          <p:nvPr>
            <p:ph sz="half" idx="1"/>
          </p:nvPr>
        </p:nvSpPr>
        <p:spPr/>
        <p:txBody>
          <a:bodyPr>
            <a:normAutofit lnSpcReduction="10000"/>
          </a:bodyPr>
          <a:lstStyle/>
          <a:p>
            <a:pPr algn="just" fontAlgn="base"/>
            <a:r>
              <a:rPr lang="en-US" dirty="0"/>
              <a:t>Incubators Help with accounting/financial management</a:t>
            </a:r>
          </a:p>
          <a:p>
            <a:pPr algn="just" fontAlgn="base"/>
            <a:r>
              <a:rPr lang="en-US" dirty="0"/>
              <a:t>They help in providing Access to bank loans, loan funds and guarantee programs</a:t>
            </a:r>
          </a:p>
          <a:p>
            <a:pPr algn="just" fontAlgn="base"/>
            <a:r>
              <a:rPr lang="en-US" dirty="0"/>
              <a:t>Incubators help with presentation skills</a:t>
            </a:r>
          </a:p>
          <a:p>
            <a:pPr algn="just" fontAlgn="base"/>
            <a:r>
              <a:rPr lang="en-US" dirty="0"/>
              <a:t>They link to higher education resources</a:t>
            </a:r>
          </a:p>
          <a:p>
            <a:pPr algn="just" fontAlgn="base"/>
            <a:r>
              <a:rPr lang="en-US" dirty="0"/>
              <a:t>They link to strategic partners</a:t>
            </a:r>
          </a:p>
          <a:p>
            <a:pPr algn="just" fontAlgn="base"/>
            <a:r>
              <a:rPr lang="en-US" dirty="0"/>
              <a:t>They provide Access to angel investors or venture capital</a:t>
            </a:r>
          </a:p>
          <a:p>
            <a:pPr algn="just" fontAlgn="base"/>
            <a:endParaRPr lang="en-US" dirty="0"/>
          </a:p>
        </p:txBody>
      </p:sp>
      <p:sp>
        <p:nvSpPr>
          <p:cNvPr id="6" name="Content Placeholder 5"/>
          <p:cNvSpPr>
            <a:spLocks noGrp="1"/>
          </p:cNvSpPr>
          <p:nvPr>
            <p:ph sz="half" idx="2"/>
          </p:nvPr>
        </p:nvSpPr>
        <p:spPr/>
        <p:txBody>
          <a:bodyPr>
            <a:normAutofit lnSpcReduction="10000"/>
          </a:bodyPr>
          <a:lstStyle/>
          <a:p>
            <a:pPr algn="just" fontAlgn="base"/>
            <a:r>
              <a:rPr lang="en-US" dirty="0"/>
              <a:t>They organize Comprehensive business training programs</a:t>
            </a:r>
          </a:p>
          <a:p>
            <a:pPr algn="just" fontAlgn="base"/>
            <a:r>
              <a:rPr lang="en-US" dirty="0"/>
              <a:t>They act as Advisory boards and mentors</a:t>
            </a:r>
          </a:p>
          <a:p>
            <a:pPr algn="just" fontAlgn="base"/>
            <a:r>
              <a:rPr lang="en-US" dirty="0"/>
              <a:t>They help in Management team identification</a:t>
            </a:r>
          </a:p>
          <a:p>
            <a:pPr algn="just" fontAlgn="base"/>
            <a:r>
              <a:rPr lang="en-US" dirty="0"/>
              <a:t>They help with business etiquette</a:t>
            </a:r>
          </a:p>
          <a:p>
            <a:pPr algn="just" fontAlgn="base"/>
            <a:r>
              <a:rPr lang="en-US" dirty="0"/>
              <a:t>They provide Technology commercialization assistance</a:t>
            </a:r>
          </a:p>
          <a:p>
            <a:pPr algn="just" fontAlgn="base"/>
            <a:r>
              <a:rPr lang="en-US" dirty="0"/>
              <a:t>They help with regulatory compliance</a:t>
            </a:r>
          </a:p>
          <a:p>
            <a:pPr algn="just" fontAlgn="base"/>
            <a:r>
              <a:rPr lang="en-US" dirty="0"/>
              <a:t>They provide Intellectual property management</a:t>
            </a:r>
          </a:p>
          <a:p>
            <a:pPr algn="just"/>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pPr/>
              <a:t>22</a:t>
            </a:fld>
            <a:endParaRPr lang="en-US" dirty="0"/>
          </a:p>
        </p:txBody>
      </p:sp>
    </p:spTree>
    <p:extLst>
      <p:ext uri="{BB962C8B-B14F-4D97-AF65-F5344CB8AC3E}">
        <p14:creationId xmlns:p14="http://schemas.microsoft.com/office/powerpoint/2010/main" val="13980272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Incubation Process</a:t>
            </a:r>
          </a:p>
        </p:txBody>
      </p:sp>
      <p:sp>
        <p:nvSpPr>
          <p:cNvPr id="3" name="Content Placeholder 2"/>
          <p:cNvSpPr>
            <a:spLocks noGrp="1"/>
          </p:cNvSpPr>
          <p:nvPr>
            <p:ph idx="1"/>
          </p:nvPr>
        </p:nvSpPr>
        <p:spPr/>
        <p:txBody>
          <a:bodyPr/>
          <a:lstStyle/>
          <a:p>
            <a:r>
              <a:rPr lang="en-US" dirty="0"/>
              <a:t>   </a:t>
            </a:r>
          </a:p>
        </p:txBody>
      </p:sp>
      <p:sp>
        <p:nvSpPr>
          <p:cNvPr id="4" name="Slide Number Placeholder 3"/>
          <p:cNvSpPr>
            <a:spLocks noGrp="1"/>
          </p:cNvSpPr>
          <p:nvPr>
            <p:ph type="sldNum" sz="quarter" idx="12"/>
          </p:nvPr>
        </p:nvSpPr>
        <p:spPr/>
        <p:txBody>
          <a:bodyPr/>
          <a:lstStyle/>
          <a:p>
            <a:fld id="{D57F1E4F-1CFF-5643-939E-02111984F565}" type="slidenum">
              <a:rPr lang="en-US" smtClean="0"/>
              <a:pPr/>
              <a:t>23</a:t>
            </a:fld>
            <a:endParaRPr lang="en-US" dirty="0"/>
          </a:p>
        </p:txBody>
      </p:sp>
      <p:pic>
        <p:nvPicPr>
          <p:cNvPr id="6" name="Picture 5" descr="The-Incubation-Process.png"/>
          <p:cNvPicPr>
            <a:picLocks noChangeAspect="1"/>
          </p:cNvPicPr>
          <p:nvPr/>
        </p:nvPicPr>
        <p:blipFill>
          <a:blip r:embed="rId2"/>
          <a:stretch>
            <a:fillRect/>
          </a:stretch>
        </p:blipFill>
        <p:spPr>
          <a:xfrm>
            <a:off x="578070" y="1608082"/>
            <a:ext cx="10247586" cy="4960883"/>
          </a:xfrm>
          <a:prstGeom prst="rect">
            <a:avLst/>
          </a:prstGeom>
        </p:spPr>
      </p:pic>
    </p:spTree>
    <p:extLst>
      <p:ext uri="{BB962C8B-B14F-4D97-AF65-F5344CB8AC3E}">
        <p14:creationId xmlns:p14="http://schemas.microsoft.com/office/powerpoint/2010/main" val="35490519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19125-F122-4A6A-A62A-D37C211CB2A7}"/>
              </a:ext>
            </a:extLst>
          </p:cNvPr>
          <p:cNvSpPr>
            <a:spLocks noGrp="1"/>
          </p:cNvSpPr>
          <p:nvPr>
            <p:ph type="title"/>
          </p:nvPr>
        </p:nvSpPr>
        <p:spPr/>
        <p:txBody>
          <a:bodyPr/>
          <a:lstStyle/>
          <a:p>
            <a:r>
              <a:rPr lang="en-GB" b="1"/>
              <a:t>Benefits of Incubation</a:t>
            </a:r>
          </a:p>
        </p:txBody>
      </p:sp>
      <p:sp>
        <p:nvSpPr>
          <p:cNvPr id="3" name="Content Placeholder 2">
            <a:extLst>
              <a:ext uri="{FF2B5EF4-FFF2-40B4-BE49-F238E27FC236}">
                <a16:creationId xmlns:a16="http://schemas.microsoft.com/office/drawing/2014/main" id="{10C0CFEF-07BE-47B0-9892-6E6A2B841F98}"/>
              </a:ext>
            </a:extLst>
          </p:cNvPr>
          <p:cNvSpPr>
            <a:spLocks noGrp="1"/>
          </p:cNvSpPr>
          <p:nvPr>
            <p:ph idx="1"/>
          </p:nvPr>
        </p:nvSpPr>
        <p:spPr/>
        <p:txBody>
          <a:bodyPr vert="horz" lIns="91440" tIns="45720" rIns="91440" bIns="45720" rtlCol="0" anchor="t">
            <a:normAutofit lnSpcReduction="10000"/>
          </a:bodyPr>
          <a:lstStyle/>
          <a:p>
            <a:r>
              <a:rPr lang="en-GB" dirty="0"/>
              <a:t> Incubators are found all over the world and their approach to venture development can be summarized along the following dimensions:</a:t>
            </a:r>
            <a:endParaRPr lang="en-US" dirty="0"/>
          </a:p>
          <a:p>
            <a:pPr>
              <a:buFont typeface="Wingdings" charset="2"/>
              <a:buChar char="v"/>
            </a:pPr>
            <a:r>
              <a:rPr lang="en-GB" sz="2800" dirty="0"/>
              <a:t>Offering Space on Flexible Terms</a:t>
            </a:r>
          </a:p>
          <a:p>
            <a:pPr>
              <a:buFont typeface="Wingdings" charset="2"/>
              <a:buChar char="v"/>
            </a:pPr>
            <a:r>
              <a:rPr lang="en-GB" sz="2800" dirty="0"/>
              <a:t>Providing shared office services</a:t>
            </a:r>
          </a:p>
          <a:p>
            <a:pPr>
              <a:buFont typeface="Wingdings" charset="2"/>
              <a:buChar char="v"/>
            </a:pPr>
            <a:r>
              <a:rPr lang="en-GB" sz="2800" dirty="0"/>
              <a:t>Presenting a business consulting network</a:t>
            </a:r>
          </a:p>
          <a:p>
            <a:pPr>
              <a:buFont typeface="Wingdings" charset="2"/>
              <a:buChar char="v"/>
            </a:pPr>
            <a:r>
              <a:rPr lang="en-GB" sz="2800" dirty="0"/>
              <a:t>Providing opportunities to develop business relations</a:t>
            </a:r>
          </a:p>
          <a:p>
            <a:pPr>
              <a:buFont typeface="Wingdings" charset="2"/>
              <a:buChar char="v"/>
            </a:pPr>
            <a:r>
              <a:rPr lang="en-GB" sz="2800" dirty="0"/>
              <a:t>Facilitating access to Capital</a:t>
            </a:r>
          </a:p>
          <a:p>
            <a:pPr>
              <a:buFont typeface="Wingdings" charset="2"/>
              <a:buChar char="v"/>
            </a:pPr>
            <a:endParaRPr lang="en-GB" dirty="0"/>
          </a:p>
        </p:txBody>
      </p:sp>
      <p:sp>
        <p:nvSpPr>
          <p:cNvPr id="4" name="Slide Number Placeholder 3">
            <a:extLst>
              <a:ext uri="{FF2B5EF4-FFF2-40B4-BE49-F238E27FC236}">
                <a16:creationId xmlns:a16="http://schemas.microsoft.com/office/drawing/2014/main" id="{26E78B2B-0C74-456E-8D61-368A2E9CB96E}"/>
              </a:ext>
            </a:extLst>
          </p:cNvPr>
          <p:cNvSpPr>
            <a:spLocks noGrp="1"/>
          </p:cNvSpPr>
          <p:nvPr>
            <p:ph type="sldNum" sz="quarter" idx="12"/>
          </p:nvPr>
        </p:nvSpPr>
        <p:spPr/>
        <p:txBody>
          <a:bodyPr/>
          <a:lstStyle/>
          <a:p>
            <a:fld id="{D57F1E4F-1CFF-5643-939E-02111984F565}" type="slidenum">
              <a:rPr lang="en-US" dirty="0"/>
              <a:pPr/>
              <a:t>24</a:t>
            </a:fld>
            <a:endParaRPr lang="en-US" dirty="0"/>
          </a:p>
        </p:txBody>
      </p:sp>
    </p:spTree>
    <p:extLst>
      <p:ext uri="{BB962C8B-B14F-4D97-AF65-F5344CB8AC3E}">
        <p14:creationId xmlns:p14="http://schemas.microsoft.com/office/powerpoint/2010/main" val="15790381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78EEE-0B29-4048-A2E6-9AC13811A29B}"/>
              </a:ext>
            </a:extLst>
          </p:cNvPr>
          <p:cNvSpPr>
            <a:spLocks noGrp="1"/>
          </p:cNvSpPr>
          <p:nvPr>
            <p:ph type="title"/>
          </p:nvPr>
        </p:nvSpPr>
        <p:spPr/>
        <p:txBody>
          <a:bodyPr/>
          <a:lstStyle/>
          <a:p>
            <a:r>
              <a:rPr lang="en-GB" b="1"/>
              <a:t>Types of Incubators</a:t>
            </a:r>
          </a:p>
        </p:txBody>
      </p:sp>
      <p:sp>
        <p:nvSpPr>
          <p:cNvPr id="3" name="Content Placeholder 2">
            <a:extLst>
              <a:ext uri="{FF2B5EF4-FFF2-40B4-BE49-F238E27FC236}">
                <a16:creationId xmlns:a16="http://schemas.microsoft.com/office/drawing/2014/main" id="{F0C47F7E-A9C4-4637-91DE-B36D24AE6889}"/>
              </a:ext>
            </a:extLst>
          </p:cNvPr>
          <p:cNvSpPr>
            <a:spLocks noGrp="1"/>
          </p:cNvSpPr>
          <p:nvPr>
            <p:ph idx="1"/>
          </p:nvPr>
        </p:nvSpPr>
        <p:spPr/>
        <p:txBody>
          <a:bodyPr vert="horz" lIns="91440" tIns="45720" rIns="91440" bIns="45720" rtlCol="0" anchor="t">
            <a:normAutofit lnSpcReduction="10000"/>
          </a:bodyPr>
          <a:lstStyle/>
          <a:p>
            <a:r>
              <a:rPr lang="en-GB" sz="2800" dirty="0"/>
              <a:t>Virtual Business Incubators</a:t>
            </a:r>
          </a:p>
          <a:p>
            <a:r>
              <a:rPr lang="en-GB" sz="2800" dirty="0"/>
              <a:t>Medical Incubator</a:t>
            </a:r>
          </a:p>
          <a:p>
            <a:r>
              <a:rPr lang="en-GB" sz="2800" dirty="0"/>
              <a:t>Kitchen Incubator</a:t>
            </a:r>
          </a:p>
          <a:p>
            <a:r>
              <a:rPr lang="en-GB" sz="2800" dirty="0"/>
              <a:t>Public/Social Incubator</a:t>
            </a:r>
          </a:p>
          <a:p>
            <a:r>
              <a:rPr lang="en-GB" sz="2800" dirty="0"/>
              <a:t>Seed Accelerator</a:t>
            </a:r>
          </a:p>
          <a:p>
            <a:r>
              <a:rPr lang="en-GB" sz="2800" dirty="0"/>
              <a:t>Corporate Accelerator</a:t>
            </a:r>
          </a:p>
          <a:p>
            <a:r>
              <a:rPr lang="en-GB" sz="2800" dirty="0"/>
              <a:t>Start up Studio</a:t>
            </a:r>
          </a:p>
          <a:p>
            <a:r>
              <a:rPr lang="en-GB" sz="2800" dirty="0"/>
              <a:t>Venture Builder</a:t>
            </a:r>
          </a:p>
          <a:p>
            <a:endParaRPr lang="en-GB" dirty="0"/>
          </a:p>
          <a:p>
            <a:endParaRPr lang="en-GB" dirty="0"/>
          </a:p>
        </p:txBody>
      </p:sp>
      <p:sp>
        <p:nvSpPr>
          <p:cNvPr id="4" name="Slide Number Placeholder 3">
            <a:extLst>
              <a:ext uri="{FF2B5EF4-FFF2-40B4-BE49-F238E27FC236}">
                <a16:creationId xmlns:a16="http://schemas.microsoft.com/office/drawing/2014/main" id="{E1CEF611-46E9-4E9D-BB64-51934269C187}"/>
              </a:ext>
            </a:extLst>
          </p:cNvPr>
          <p:cNvSpPr>
            <a:spLocks noGrp="1"/>
          </p:cNvSpPr>
          <p:nvPr>
            <p:ph type="sldNum" sz="quarter" idx="12"/>
          </p:nvPr>
        </p:nvSpPr>
        <p:spPr/>
        <p:txBody>
          <a:bodyPr/>
          <a:lstStyle/>
          <a:p>
            <a:fld id="{D57F1E4F-1CFF-5643-939E-02111984F565}" type="slidenum">
              <a:rPr lang="en-US" dirty="0"/>
              <a:pPr/>
              <a:t>25</a:t>
            </a:fld>
            <a:endParaRPr lang="en-US" dirty="0"/>
          </a:p>
        </p:txBody>
      </p:sp>
    </p:spTree>
    <p:extLst>
      <p:ext uri="{BB962C8B-B14F-4D97-AF65-F5344CB8AC3E}">
        <p14:creationId xmlns:p14="http://schemas.microsoft.com/office/powerpoint/2010/main" val="25502429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043CF98B-8259-4FEB-A824-0FF0C5C1EDD6}"/>
              </a:ext>
            </a:extLst>
          </p:cNvPr>
          <p:cNvGraphicFramePr>
            <a:graphicFrameLocks noGrp="1"/>
          </p:cNvGraphicFramePr>
          <p:nvPr/>
        </p:nvGraphicFramePr>
        <p:xfrm>
          <a:off x="0" y="0"/>
          <a:ext cx="12192000" cy="6858000"/>
        </p:xfrm>
        <a:graphic>
          <a:graphicData uri="http://schemas.openxmlformats.org/drawingml/2006/table">
            <a:tbl>
              <a:tblPr firstRow="1" bandRow="1">
                <a:tableStyleId>{073A0DAA-6AF3-43AB-8588-CEC1D06C72B9}</a:tableStyleId>
              </a:tblPr>
              <a:tblGrid>
                <a:gridCol w="2084439">
                  <a:extLst>
                    <a:ext uri="{9D8B030D-6E8A-4147-A177-3AD203B41FA5}">
                      <a16:colId xmlns:a16="http://schemas.microsoft.com/office/drawing/2014/main" val="1319084661"/>
                    </a:ext>
                  </a:extLst>
                </a:gridCol>
                <a:gridCol w="5909187">
                  <a:extLst>
                    <a:ext uri="{9D8B030D-6E8A-4147-A177-3AD203B41FA5}">
                      <a16:colId xmlns:a16="http://schemas.microsoft.com/office/drawing/2014/main" val="136307701"/>
                    </a:ext>
                  </a:extLst>
                </a:gridCol>
                <a:gridCol w="4198374">
                  <a:extLst>
                    <a:ext uri="{9D8B030D-6E8A-4147-A177-3AD203B41FA5}">
                      <a16:colId xmlns:a16="http://schemas.microsoft.com/office/drawing/2014/main" val="1562833357"/>
                    </a:ext>
                  </a:extLst>
                </a:gridCol>
              </a:tblGrid>
              <a:tr h="485605">
                <a:tc>
                  <a:txBody>
                    <a:bodyPr/>
                    <a:lstStyle/>
                    <a:p>
                      <a:pPr algn="ctr"/>
                      <a:r>
                        <a:rPr lang="en-US" sz="2400" dirty="0"/>
                        <a:t>Basis</a:t>
                      </a:r>
                      <a:endParaRPr lang="en-IN" sz="2400" dirty="0"/>
                    </a:p>
                  </a:txBody>
                  <a:tcPr/>
                </a:tc>
                <a:tc>
                  <a:txBody>
                    <a:bodyPr/>
                    <a:lstStyle/>
                    <a:p>
                      <a:pPr algn="ctr"/>
                      <a:r>
                        <a:rPr lang="en-US" sz="2400" dirty="0"/>
                        <a:t>Incubators</a:t>
                      </a:r>
                      <a:endParaRPr lang="en-IN" sz="2400" dirty="0"/>
                    </a:p>
                  </a:txBody>
                  <a:tcPr/>
                </a:tc>
                <a:tc>
                  <a:txBody>
                    <a:bodyPr/>
                    <a:lstStyle/>
                    <a:p>
                      <a:pPr algn="ctr"/>
                      <a:r>
                        <a:rPr lang="en-US" sz="2400" dirty="0"/>
                        <a:t>Accelerators</a:t>
                      </a:r>
                      <a:endParaRPr lang="en-IN" sz="2400" dirty="0"/>
                    </a:p>
                  </a:txBody>
                  <a:tcPr/>
                </a:tc>
                <a:extLst>
                  <a:ext uri="{0D108BD9-81ED-4DB2-BD59-A6C34878D82A}">
                    <a16:rowId xmlns:a16="http://schemas.microsoft.com/office/drawing/2014/main" val="269150181"/>
                  </a:ext>
                </a:extLst>
              </a:tr>
              <a:tr h="1131470">
                <a:tc>
                  <a:txBody>
                    <a:bodyPr/>
                    <a:lstStyle/>
                    <a:p>
                      <a:pPr>
                        <a:lnSpc>
                          <a:spcPct val="150000"/>
                        </a:lnSpc>
                      </a:pPr>
                      <a:r>
                        <a:rPr lang="en-US" b="1" dirty="0"/>
                        <a:t>Clients</a:t>
                      </a:r>
                      <a:endParaRPr lang="en-IN" b="1" dirty="0"/>
                    </a:p>
                  </a:txBody>
                  <a:tcPr anchor="ctr"/>
                </a:tc>
                <a:tc>
                  <a:txBody>
                    <a:bodyPr/>
                    <a:lstStyle/>
                    <a:p>
                      <a:pPr>
                        <a:lnSpc>
                          <a:spcPct val="150000"/>
                        </a:lnSpc>
                      </a:pPr>
                      <a:r>
                        <a:rPr lang="en-US" dirty="0"/>
                        <a:t>Science based Business(Bio Tech, Medical Devices, Nano Technology)</a:t>
                      </a:r>
                      <a:endParaRPr lang="en-IN" dirty="0"/>
                    </a:p>
                  </a:txBody>
                  <a:tcPr anchor="ctr"/>
                </a:tc>
                <a:tc>
                  <a:txBody>
                    <a:bodyPr/>
                    <a:lstStyle/>
                    <a:p>
                      <a:pPr>
                        <a:lnSpc>
                          <a:spcPct val="150000"/>
                        </a:lnSpc>
                      </a:pPr>
                      <a:r>
                        <a:rPr lang="en-US" dirty="0"/>
                        <a:t>Mostly IT Based( Web Designing, Cloud Computing)</a:t>
                      </a:r>
                      <a:endParaRPr lang="en-IN" dirty="0"/>
                    </a:p>
                  </a:txBody>
                  <a:tcPr anchor="ctr"/>
                </a:tc>
                <a:extLst>
                  <a:ext uri="{0D108BD9-81ED-4DB2-BD59-A6C34878D82A}">
                    <a16:rowId xmlns:a16="http://schemas.microsoft.com/office/drawing/2014/main" val="2802783411"/>
                  </a:ext>
                </a:extLst>
              </a:tr>
              <a:tr h="1012956">
                <a:tc>
                  <a:txBody>
                    <a:bodyPr/>
                    <a:lstStyle/>
                    <a:p>
                      <a:pPr>
                        <a:lnSpc>
                          <a:spcPct val="150000"/>
                        </a:lnSpc>
                      </a:pPr>
                      <a:r>
                        <a:rPr lang="en-US" b="1" dirty="0"/>
                        <a:t>Selection Process</a:t>
                      </a:r>
                      <a:endParaRPr lang="en-IN" b="1" dirty="0"/>
                    </a:p>
                  </a:txBody>
                  <a:tcPr anchor="ctr"/>
                </a:tc>
                <a:tc>
                  <a:txBody>
                    <a:bodyPr/>
                    <a:lstStyle/>
                    <a:p>
                      <a:pPr>
                        <a:lnSpc>
                          <a:spcPct val="150000"/>
                        </a:lnSpc>
                      </a:pPr>
                      <a:r>
                        <a:rPr lang="en-US" dirty="0"/>
                        <a:t>Competitive Selection, Mostly Same Region)</a:t>
                      </a:r>
                      <a:endParaRPr lang="en-IN" dirty="0"/>
                    </a:p>
                  </a:txBody>
                  <a:tcPr anchor="ctr"/>
                </a:tc>
                <a:tc>
                  <a:txBody>
                    <a:bodyPr/>
                    <a:lstStyle/>
                    <a:p>
                      <a:pPr>
                        <a:lnSpc>
                          <a:spcPct val="150000"/>
                        </a:lnSpc>
                      </a:pPr>
                      <a:r>
                        <a:rPr lang="en-US" dirty="0"/>
                        <a:t>Competitive Selection of Firms from Wide Regions</a:t>
                      </a:r>
                      <a:endParaRPr lang="en-IN" dirty="0"/>
                    </a:p>
                  </a:txBody>
                  <a:tcPr anchor="ctr"/>
                </a:tc>
                <a:extLst>
                  <a:ext uri="{0D108BD9-81ED-4DB2-BD59-A6C34878D82A}">
                    <a16:rowId xmlns:a16="http://schemas.microsoft.com/office/drawing/2014/main" val="749351416"/>
                  </a:ext>
                </a:extLst>
              </a:tr>
              <a:tr h="1012956">
                <a:tc>
                  <a:txBody>
                    <a:bodyPr/>
                    <a:lstStyle/>
                    <a:p>
                      <a:pPr>
                        <a:lnSpc>
                          <a:spcPct val="150000"/>
                        </a:lnSpc>
                      </a:pPr>
                      <a:r>
                        <a:rPr lang="en-US" b="1" dirty="0"/>
                        <a:t>Term of Assistance</a:t>
                      </a:r>
                      <a:endParaRPr lang="en-IN" b="1" dirty="0"/>
                    </a:p>
                  </a:txBody>
                  <a:tcPr anchor="ctr"/>
                </a:tc>
                <a:tc>
                  <a:txBody>
                    <a:bodyPr/>
                    <a:lstStyle/>
                    <a:p>
                      <a:pPr>
                        <a:lnSpc>
                          <a:spcPct val="150000"/>
                        </a:lnSpc>
                      </a:pPr>
                      <a:r>
                        <a:rPr lang="en-US" dirty="0"/>
                        <a:t>1 to 5 years</a:t>
                      </a:r>
                      <a:endParaRPr lang="en-IN" dirty="0"/>
                    </a:p>
                  </a:txBody>
                  <a:tcPr anchor="ctr"/>
                </a:tc>
                <a:tc>
                  <a:txBody>
                    <a:bodyPr/>
                    <a:lstStyle/>
                    <a:p>
                      <a:pPr>
                        <a:lnSpc>
                          <a:spcPct val="150000"/>
                        </a:lnSpc>
                      </a:pPr>
                      <a:r>
                        <a:rPr lang="en-US" dirty="0"/>
                        <a:t>Short Term Assistance from 1-3 Months</a:t>
                      </a:r>
                      <a:endParaRPr lang="en-IN" dirty="0"/>
                    </a:p>
                  </a:txBody>
                  <a:tcPr anchor="ctr"/>
                </a:tc>
                <a:extLst>
                  <a:ext uri="{0D108BD9-81ED-4DB2-BD59-A6C34878D82A}">
                    <a16:rowId xmlns:a16="http://schemas.microsoft.com/office/drawing/2014/main" val="3231470005"/>
                  </a:ext>
                </a:extLst>
              </a:tr>
              <a:tr h="1299198">
                <a:tc>
                  <a:txBody>
                    <a:bodyPr/>
                    <a:lstStyle/>
                    <a:p>
                      <a:pPr>
                        <a:lnSpc>
                          <a:spcPct val="150000"/>
                        </a:lnSpc>
                      </a:pPr>
                      <a:r>
                        <a:rPr lang="en-US" b="1" dirty="0"/>
                        <a:t>Services</a:t>
                      </a:r>
                      <a:endParaRPr lang="en-IN" b="1" dirty="0"/>
                    </a:p>
                  </a:txBody>
                  <a:tcPr anchor="ctr"/>
                </a:tc>
                <a:tc>
                  <a:txBody>
                    <a:bodyPr/>
                    <a:lstStyle/>
                    <a:p>
                      <a:pPr>
                        <a:lnSpc>
                          <a:spcPct val="150000"/>
                        </a:lnSpc>
                      </a:pPr>
                      <a:r>
                        <a:rPr lang="en-US" dirty="0"/>
                        <a:t>Provide Services like Consultation, Specialized advice in IPR, Skill Development</a:t>
                      </a:r>
                      <a:endParaRPr lang="en-IN" dirty="0"/>
                    </a:p>
                  </a:txBody>
                  <a:tcPr anchor="ctr"/>
                </a:tc>
                <a:tc>
                  <a:txBody>
                    <a:bodyPr/>
                    <a:lstStyle/>
                    <a:p>
                      <a:pPr>
                        <a:lnSpc>
                          <a:spcPct val="150000"/>
                        </a:lnSpc>
                      </a:pPr>
                      <a:r>
                        <a:rPr lang="en-US" dirty="0"/>
                        <a:t>Give Ideas, Procure Resources and Investments, Find Customers</a:t>
                      </a:r>
                      <a:endParaRPr lang="en-IN" dirty="0"/>
                    </a:p>
                  </a:txBody>
                  <a:tcPr anchor="ctr"/>
                </a:tc>
                <a:extLst>
                  <a:ext uri="{0D108BD9-81ED-4DB2-BD59-A6C34878D82A}">
                    <a16:rowId xmlns:a16="http://schemas.microsoft.com/office/drawing/2014/main" val="3986437636"/>
                  </a:ext>
                </a:extLst>
              </a:tr>
              <a:tr h="1915815">
                <a:tc>
                  <a:txBody>
                    <a:bodyPr/>
                    <a:lstStyle/>
                    <a:p>
                      <a:pPr>
                        <a:lnSpc>
                          <a:spcPct val="150000"/>
                        </a:lnSpc>
                      </a:pPr>
                      <a:r>
                        <a:rPr lang="en-US" b="1" dirty="0"/>
                        <a:t>Investment</a:t>
                      </a:r>
                      <a:endParaRPr lang="en-IN" b="1" dirty="0"/>
                    </a:p>
                  </a:txBody>
                  <a:tcPr anchor="ctr"/>
                </a:tc>
                <a:tc>
                  <a:txBody>
                    <a:bodyPr/>
                    <a:lstStyle/>
                    <a:p>
                      <a:pPr>
                        <a:lnSpc>
                          <a:spcPct val="150000"/>
                        </a:lnSpc>
                      </a:pPr>
                      <a:r>
                        <a:rPr lang="en-US" dirty="0"/>
                        <a:t>Do not have funds to invest directly, Create a network to expand the business, do not take Equity</a:t>
                      </a:r>
                      <a:endParaRPr lang="en-IN" dirty="0"/>
                    </a:p>
                  </a:txBody>
                  <a:tcPr anchor="ctr"/>
                </a:tc>
                <a:tc>
                  <a:txBody>
                    <a:bodyPr/>
                    <a:lstStyle/>
                    <a:p>
                      <a:pPr>
                        <a:lnSpc>
                          <a:spcPct val="150000"/>
                        </a:lnSpc>
                      </a:pPr>
                      <a:r>
                        <a:rPr lang="en-US" dirty="0"/>
                        <a:t>Invest money in Companies and take Equity </a:t>
                      </a:r>
                      <a:endParaRPr lang="en-IN" dirty="0"/>
                    </a:p>
                  </a:txBody>
                  <a:tcPr anchor="ctr"/>
                </a:tc>
                <a:extLst>
                  <a:ext uri="{0D108BD9-81ED-4DB2-BD59-A6C34878D82A}">
                    <a16:rowId xmlns:a16="http://schemas.microsoft.com/office/drawing/2014/main" val="1286802847"/>
                  </a:ext>
                </a:extLst>
              </a:tr>
            </a:tbl>
          </a:graphicData>
        </a:graphic>
      </p:graphicFrame>
    </p:spTree>
    <p:extLst>
      <p:ext uri="{BB962C8B-B14F-4D97-AF65-F5344CB8AC3E}">
        <p14:creationId xmlns:p14="http://schemas.microsoft.com/office/powerpoint/2010/main" val="26510368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a typeface="+mj-lt"/>
                <a:cs typeface="+mj-lt"/>
              </a:rPr>
              <a:t>Entrepreneurial Sources of Finance</a:t>
            </a:r>
            <a:br>
              <a:rPr lang="en-GB" b="1" dirty="0">
                <a:ea typeface="+mj-lt"/>
                <a:cs typeface="+mj-lt"/>
              </a:rPr>
            </a:br>
            <a:endParaRPr lang="en-US" dirty="0"/>
          </a:p>
        </p:txBody>
      </p:sp>
      <p:sp>
        <p:nvSpPr>
          <p:cNvPr id="3" name="Content Placeholder 2"/>
          <p:cNvSpPr>
            <a:spLocks noGrp="1"/>
          </p:cNvSpPr>
          <p:nvPr>
            <p:ph idx="1"/>
          </p:nvPr>
        </p:nvSpPr>
        <p:spPr>
          <a:xfrm>
            <a:off x="838200" y="1313792"/>
            <a:ext cx="10515600" cy="5034455"/>
          </a:xfrm>
        </p:spPr>
        <p:txBody>
          <a:bodyPr>
            <a:noAutofit/>
          </a:bodyPr>
          <a:lstStyle/>
          <a:p>
            <a:pPr>
              <a:lnSpc>
                <a:spcPct val="100000"/>
              </a:lnSpc>
              <a:spcBef>
                <a:spcPct val="0"/>
              </a:spcBef>
              <a:spcAft>
                <a:spcPct val="0"/>
              </a:spcAft>
            </a:pPr>
            <a:r>
              <a:rPr lang="en-US" b="1" dirty="0">
                <a:ea typeface="+mn-lt"/>
                <a:cs typeface="+mn-lt"/>
              </a:rPr>
              <a:t>Crowdfunding</a:t>
            </a:r>
          </a:p>
          <a:p>
            <a:pPr marL="0" indent="0">
              <a:lnSpc>
                <a:spcPct val="100000"/>
              </a:lnSpc>
              <a:spcBef>
                <a:spcPct val="0"/>
              </a:spcBef>
              <a:spcAft>
                <a:spcPct val="0"/>
              </a:spcAft>
              <a:buNone/>
            </a:pPr>
            <a:endParaRPr lang="en-US" b="1" dirty="0">
              <a:ea typeface="+mn-lt"/>
              <a:cs typeface="+mn-lt"/>
            </a:endParaRPr>
          </a:p>
          <a:p>
            <a:pPr>
              <a:lnSpc>
                <a:spcPct val="100000"/>
              </a:lnSpc>
              <a:spcBef>
                <a:spcPct val="0"/>
              </a:spcBef>
              <a:spcAft>
                <a:spcPct val="0"/>
              </a:spcAft>
              <a:buFont typeface="Wingdings 3" charset="2"/>
              <a:buChar char="•"/>
            </a:pPr>
            <a:r>
              <a:rPr lang="en-US" b="1" dirty="0">
                <a:ea typeface="+mn-lt"/>
                <a:cs typeface="+mn-lt"/>
              </a:rPr>
              <a:t>Crowdfunding is when a "crowd" funds a project or business, rather than one or two major investors. </a:t>
            </a:r>
          </a:p>
          <a:p>
            <a:pPr>
              <a:lnSpc>
                <a:spcPct val="100000"/>
              </a:lnSpc>
              <a:spcBef>
                <a:spcPct val="0"/>
              </a:spcBef>
              <a:spcAft>
                <a:spcPct val="0"/>
              </a:spcAft>
              <a:buFont typeface="Wingdings 3" charset="2"/>
              <a:buChar char="•"/>
            </a:pPr>
            <a:r>
              <a:rPr lang="en-US" b="1" dirty="0">
                <a:ea typeface="+mn-lt"/>
                <a:cs typeface="+mn-lt"/>
              </a:rPr>
              <a:t>There are four different types of crowdfunding: rewards, donation, debt and equity.</a:t>
            </a:r>
          </a:p>
          <a:p>
            <a:pPr>
              <a:lnSpc>
                <a:spcPct val="100000"/>
              </a:lnSpc>
              <a:spcBef>
                <a:spcPct val="0"/>
              </a:spcBef>
              <a:spcAft>
                <a:spcPct val="0"/>
              </a:spcAft>
              <a:buFont typeface="Wingdings 3" charset="2"/>
              <a:buChar char="•"/>
            </a:pPr>
            <a:r>
              <a:rPr lang="en-US" b="1" dirty="0">
                <a:ea typeface="+mn-lt"/>
                <a:cs typeface="+mn-lt"/>
              </a:rPr>
              <a:t>To run a successful crowdfunding campaign, you need to capture the attention of a large number of backers and convince them that your project is worthy of their investment.</a:t>
            </a:r>
          </a:p>
          <a:p>
            <a:pPr>
              <a:lnSpc>
                <a:spcPct val="100000"/>
              </a:lnSpc>
              <a:spcBef>
                <a:spcPct val="0"/>
              </a:spcBef>
              <a:spcAft>
                <a:spcPct val="0"/>
              </a:spcAft>
              <a:buFont typeface="Wingdings 3" charset="2"/>
              <a:buChar char="•"/>
            </a:pPr>
            <a:r>
              <a:rPr lang="en-US" b="1" dirty="0">
                <a:ea typeface="+mn-lt"/>
                <a:cs typeface="+mn-lt"/>
              </a:rPr>
              <a:t>Examples of Crowdfunding sites:</a:t>
            </a:r>
          </a:p>
          <a:p>
            <a:pPr>
              <a:lnSpc>
                <a:spcPct val="100000"/>
              </a:lnSpc>
              <a:spcBef>
                <a:spcPct val="0"/>
              </a:spcBef>
              <a:spcAft>
                <a:spcPct val="0"/>
              </a:spcAft>
              <a:buFont typeface="Wingdings 3" charset="2"/>
              <a:buChar char="•"/>
            </a:pPr>
            <a:endParaRPr lang="en-US" b="1" dirty="0">
              <a:ea typeface="+mn-lt"/>
              <a:cs typeface="+mn-lt"/>
            </a:endParaRPr>
          </a:p>
          <a:p>
            <a:pPr marL="0" indent="0">
              <a:spcBef>
                <a:spcPct val="0"/>
              </a:spcBef>
              <a:spcAft>
                <a:spcPct val="0"/>
              </a:spcAft>
              <a:buNone/>
            </a:pPr>
            <a:r>
              <a:rPr lang="en-IN" b="1" dirty="0">
                <a:ea typeface="+mn-lt"/>
                <a:cs typeface="+mn-lt"/>
              </a:rPr>
              <a:t>Kickstarter</a:t>
            </a:r>
          </a:p>
          <a:p>
            <a:pPr marL="0" indent="0">
              <a:spcBef>
                <a:spcPct val="0"/>
              </a:spcBef>
              <a:spcAft>
                <a:spcPct val="0"/>
              </a:spcAft>
              <a:buNone/>
            </a:pPr>
            <a:r>
              <a:rPr lang="en-IN" b="1" dirty="0">
                <a:ea typeface="+mn-lt"/>
                <a:cs typeface="+mn-lt"/>
              </a:rPr>
              <a:t>GoFundMe</a:t>
            </a:r>
          </a:p>
          <a:p>
            <a:pPr marL="0" indent="0">
              <a:spcBef>
                <a:spcPct val="0"/>
              </a:spcBef>
              <a:spcAft>
                <a:spcPct val="0"/>
              </a:spcAft>
              <a:buNone/>
            </a:pPr>
            <a:r>
              <a:rPr lang="en-IN" b="1" dirty="0" err="1">
                <a:ea typeface="+mn-lt"/>
                <a:cs typeface="+mn-lt"/>
              </a:rPr>
              <a:t>LendingClub</a:t>
            </a:r>
            <a:endParaRPr lang="en-IN" b="1" dirty="0">
              <a:ea typeface="+mn-lt"/>
              <a:cs typeface="+mn-lt"/>
            </a:endParaRPr>
          </a:p>
          <a:p>
            <a:pPr marL="0" indent="0">
              <a:spcBef>
                <a:spcPct val="0"/>
              </a:spcBef>
              <a:spcAft>
                <a:spcPct val="0"/>
              </a:spcAft>
              <a:buNone/>
            </a:pPr>
            <a:r>
              <a:rPr lang="en-IN" b="1" dirty="0">
                <a:ea typeface="+mn-lt"/>
                <a:cs typeface="+mn-lt"/>
              </a:rPr>
              <a:t>Indiegogo</a:t>
            </a:r>
          </a:p>
          <a:p>
            <a:pPr marL="0" indent="0">
              <a:buNone/>
            </a:pPr>
            <a:br>
              <a:rPr lang="en-IN" dirty="0"/>
            </a:br>
            <a:endParaRPr lang="en-US" dirty="0">
              <a:ea typeface="+mn-lt"/>
              <a:cs typeface="+mn-lt"/>
            </a:endParaRPr>
          </a:p>
          <a:p>
            <a:pPr>
              <a:lnSpc>
                <a:spcPct val="100000"/>
              </a:lnSpc>
            </a:pPr>
            <a:endParaRPr lang="en-US" sz="2400" dirty="0"/>
          </a:p>
        </p:txBody>
      </p:sp>
      <p:sp>
        <p:nvSpPr>
          <p:cNvPr id="4" name="Slide Number Placeholder 3">
            <a:extLst>
              <a:ext uri="{FF2B5EF4-FFF2-40B4-BE49-F238E27FC236}">
                <a16:creationId xmlns:a16="http://schemas.microsoft.com/office/drawing/2014/main" id="{289AA29D-CA85-27CA-49C1-E2C1665AA616}"/>
              </a:ext>
            </a:extLst>
          </p:cNvPr>
          <p:cNvSpPr>
            <a:spLocks noGrp="1"/>
          </p:cNvSpPr>
          <p:nvPr>
            <p:ph type="sldNum" sz="quarter" idx="12"/>
          </p:nvPr>
        </p:nvSpPr>
        <p:spPr/>
        <p:txBody>
          <a:bodyPr/>
          <a:lstStyle/>
          <a:p>
            <a:fld id="{E94B78F3-87BC-451C-A202-F318C4D79F4A}" type="slidenum">
              <a:rPr lang="en-IN" smtClean="0"/>
              <a:pPr/>
              <a:t>27</a:t>
            </a:fld>
            <a:endParaRPr lang="en-IN"/>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CC791-71F5-4A40-83BC-2134A543FB20}"/>
              </a:ext>
            </a:extLst>
          </p:cNvPr>
          <p:cNvSpPr>
            <a:spLocks noGrp="1"/>
          </p:cNvSpPr>
          <p:nvPr>
            <p:ph type="title"/>
          </p:nvPr>
        </p:nvSpPr>
        <p:spPr>
          <a:xfrm>
            <a:off x="838200" y="365125"/>
            <a:ext cx="10515600" cy="661630"/>
          </a:xfrm>
        </p:spPr>
        <p:txBody>
          <a:bodyPr>
            <a:normAutofit fontScale="90000"/>
          </a:bodyPr>
          <a:lstStyle/>
          <a:p>
            <a:pPr algn="ctr"/>
            <a:r>
              <a:rPr lang="en-US" b="1" dirty="0">
                <a:ea typeface="+mj-lt"/>
                <a:cs typeface="+mj-lt"/>
              </a:rPr>
              <a:t>Entrepreneurial Sources of Finance</a:t>
            </a:r>
            <a:endParaRPr lang="en-GB" b="1" dirty="0">
              <a:ea typeface="+mj-lt"/>
              <a:cs typeface="+mj-lt"/>
            </a:endParaRPr>
          </a:p>
          <a:p>
            <a:endParaRPr lang="en-GB" b="1" dirty="0">
              <a:cs typeface="Calibri Light"/>
            </a:endParaRPr>
          </a:p>
        </p:txBody>
      </p:sp>
      <p:sp>
        <p:nvSpPr>
          <p:cNvPr id="5" name="Content Placeholder 4">
            <a:extLst>
              <a:ext uri="{FF2B5EF4-FFF2-40B4-BE49-F238E27FC236}">
                <a16:creationId xmlns:a16="http://schemas.microsoft.com/office/drawing/2014/main" id="{BFF00A38-E963-4707-B178-AD11DC035865}"/>
              </a:ext>
            </a:extLst>
          </p:cNvPr>
          <p:cNvSpPr>
            <a:spLocks noGrp="1"/>
          </p:cNvSpPr>
          <p:nvPr>
            <p:ph idx="1"/>
          </p:nvPr>
        </p:nvSpPr>
        <p:spPr>
          <a:xfrm>
            <a:off x="346588" y="1026755"/>
            <a:ext cx="11842953" cy="5666401"/>
          </a:xfrm>
        </p:spPr>
        <p:txBody>
          <a:bodyPr vert="horz" lIns="91440" tIns="45720" rIns="91440" bIns="45720" rtlCol="0" anchor="t">
            <a:normAutofit fontScale="40000" lnSpcReduction="20000"/>
          </a:bodyPr>
          <a:lstStyle/>
          <a:p>
            <a:pPr lvl="1">
              <a:lnSpc>
                <a:spcPct val="170000"/>
              </a:lnSpc>
              <a:spcBef>
                <a:spcPct val="0"/>
              </a:spcBef>
              <a:spcAft>
                <a:spcPct val="0"/>
              </a:spcAft>
            </a:pPr>
            <a:endParaRPr lang="en-GB" dirty="0">
              <a:cs typeface="Calibri" panose="020F0502020204030204"/>
            </a:endParaRPr>
          </a:p>
          <a:p>
            <a:pPr>
              <a:spcBef>
                <a:spcPct val="0"/>
              </a:spcBef>
              <a:spcAft>
                <a:spcPct val="0"/>
              </a:spcAft>
              <a:buFont typeface="Wingdings 3" charset="2"/>
              <a:buChar char="•"/>
            </a:pPr>
            <a:r>
              <a:rPr lang="en-US" sz="5100" dirty="0">
                <a:latin typeface="Times New Roman" panose="02020603050405020304" pitchFamily="18" charset="0"/>
                <a:ea typeface="+mn-lt"/>
                <a:cs typeface="Times New Roman" panose="02020603050405020304" pitchFamily="18" charset="0"/>
              </a:rPr>
              <a:t>Donation: Donation-based crowdfunding is when people give a campaign, company or person money for nothing in return. Let's say you create a crowdfunding campaign to purchase new equipment for your company. The individuals who give you money do it out of support for the growth of your business and nothing else.</a:t>
            </a:r>
            <a:br>
              <a:rPr lang="en-US" sz="5100" dirty="0">
                <a:latin typeface="Times New Roman" panose="02020603050405020304" pitchFamily="18" charset="0"/>
                <a:ea typeface="+mn-lt"/>
                <a:cs typeface="Times New Roman" panose="02020603050405020304" pitchFamily="18" charset="0"/>
              </a:rPr>
            </a:br>
            <a:br>
              <a:rPr lang="en-US" sz="5100" dirty="0">
                <a:latin typeface="Times New Roman" panose="02020603050405020304" pitchFamily="18" charset="0"/>
                <a:ea typeface="+mn-lt"/>
                <a:cs typeface="Times New Roman" panose="02020603050405020304" pitchFamily="18" charset="0"/>
              </a:rPr>
            </a:br>
            <a:endParaRPr lang="en-US" sz="5100" dirty="0">
              <a:latin typeface="Times New Roman" panose="02020603050405020304" pitchFamily="18" charset="0"/>
              <a:ea typeface="+mn-lt"/>
              <a:cs typeface="Times New Roman" panose="02020603050405020304" pitchFamily="18" charset="0"/>
            </a:endParaRPr>
          </a:p>
          <a:p>
            <a:pPr>
              <a:spcBef>
                <a:spcPct val="0"/>
              </a:spcBef>
              <a:spcAft>
                <a:spcPct val="0"/>
              </a:spcAft>
              <a:buFont typeface="Wingdings 3" charset="2"/>
              <a:buChar char="•"/>
            </a:pPr>
            <a:r>
              <a:rPr lang="en-US" sz="5100" dirty="0">
                <a:latin typeface="Times New Roman" panose="02020603050405020304" pitchFamily="18" charset="0"/>
                <a:ea typeface="+mn-lt"/>
                <a:cs typeface="Times New Roman" panose="02020603050405020304" pitchFamily="18" charset="0"/>
              </a:rPr>
              <a:t>Debt: Debt-based donations are peer-to-peer (P2P) lending, which is a form of crowdfunding. In debt-based donations, the money pledged by backers is a loan and must be repaid with interest by a certain deadline.</a:t>
            </a:r>
            <a:br>
              <a:rPr lang="en-US" sz="5100" dirty="0">
                <a:latin typeface="Times New Roman" panose="02020603050405020304" pitchFamily="18" charset="0"/>
                <a:ea typeface="+mn-lt"/>
                <a:cs typeface="Times New Roman" panose="02020603050405020304" pitchFamily="18" charset="0"/>
              </a:rPr>
            </a:br>
            <a:br>
              <a:rPr lang="en-US" sz="5100" dirty="0">
                <a:latin typeface="Times New Roman" panose="02020603050405020304" pitchFamily="18" charset="0"/>
                <a:ea typeface="+mn-lt"/>
                <a:cs typeface="Times New Roman" panose="02020603050405020304" pitchFamily="18" charset="0"/>
              </a:rPr>
            </a:br>
            <a:endParaRPr lang="en-US" sz="5100" dirty="0">
              <a:latin typeface="Times New Roman" panose="02020603050405020304" pitchFamily="18" charset="0"/>
              <a:ea typeface="+mn-lt"/>
              <a:cs typeface="Times New Roman" panose="02020603050405020304" pitchFamily="18" charset="0"/>
            </a:endParaRPr>
          </a:p>
          <a:p>
            <a:pPr>
              <a:spcBef>
                <a:spcPct val="0"/>
              </a:spcBef>
              <a:spcAft>
                <a:spcPct val="0"/>
              </a:spcAft>
              <a:buFont typeface="Wingdings 3" charset="2"/>
              <a:buChar char="•"/>
            </a:pPr>
            <a:r>
              <a:rPr lang="en-US" sz="5100" dirty="0">
                <a:latin typeface="Times New Roman" panose="02020603050405020304" pitchFamily="18" charset="0"/>
                <a:ea typeface="+mn-lt"/>
                <a:cs typeface="Times New Roman" panose="02020603050405020304" pitchFamily="18" charset="0"/>
              </a:rPr>
              <a:t>Rewards: This is when donors receive something in return for their donations. The rewards vary by the size of the donation, which incentivizes higher contributions. Based on how much money participants give to a campaign, they may receive a T-shirt, the product or service – often at a discounted rate.</a:t>
            </a:r>
            <a:br>
              <a:rPr lang="en-US" sz="5100" dirty="0">
                <a:latin typeface="Times New Roman" panose="02020603050405020304" pitchFamily="18" charset="0"/>
                <a:ea typeface="+mn-lt"/>
                <a:cs typeface="Times New Roman" panose="02020603050405020304" pitchFamily="18" charset="0"/>
              </a:rPr>
            </a:br>
            <a:br>
              <a:rPr lang="en-US" sz="5100" dirty="0">
                <a:latin typeface="Times New Roman" panose="02020603050405020304" pitchFamily="18" charset="0"/>
                <a:ea typeface="+mn-lt"/>
                <a:cs typeface="Times New Roman" panose="02020603050405020304" pitchFamily="18" charset="0"/>
              </a:rPr>
            </a:br>
            <a:endParaRPr lang="en-US" sz="5100" dirty="0">
              <a:latin typeface="Times New Roman" panose="02020603050405020304" pitchFamily="18" charset="0"/>
              <a:ea typeface="+mn-lt"/>
              <a:cs typeface="Times New Roman" panose="02020603050405020304" pitchFamily="18" charset="0"/>
            </a:endParaRPr>
          </a:p>
          <a:p>
            <a:pPr>
              <a:spcBef>
                <a:spcPct val="0"/>
              </a:spcBef>
              <a:spcAft>
                <a:spcPct val="0"/>
              </a:spcAft>
              <a:buFont typeface="Wingdings 3" charset="2"/>
              <a:buChar char="•"/>
            </a:pPr>
            <a:r>
              <a:rPr lang="en-US" sz="5100" dirty="0">
                <a:latin typeface="Times New Roman" panose="02020603050405020304" pitchFamily="18" charset="0"/>
                <a:ea typeface="+mn-lt"/>
                <a:cs typeface="Times New Roman" panose="02020603050405020304" pitchFamily="18" charset="0"/>
              </a:rPr>
              <a:t>Equity based or Investment Based: While some crowdfunding campaigns don't allow backers to own a portion of the company they're supporting, </a:t>
            </a:r>
            <a:r>
              <a:rPr lang="en-US" sz="5100" dirty="0">
                <a:latin typeface="Times New Roman" panose="02020603050405020304" pitchFamily="18" charset="0"/>
                <a:ea typeface="+mn-lt"/>
                <a:cs typeface="Times New Roman" panose="02020603050405020304" pitchFamily="18" charset="0"/>
                <a:hlinkClick r:id="rId2">
                  <a:extLst>
                    <a:ext uri="{A12FA001-AC4F-418D-AE19-62706E023703}">
                      <ahyp:hlinkClr xmlns:ahyp="http://schemas.microsoft.com/office/drawing/2018/hyperlinkcolor" val="tx"/>
                    </a:ext>
                  </a:extLst>
                </a:hlinkClick>
              </a:rPr>
              <a:t>equity-based crowdfunding</a:t>
            </a:r>
            <a:r>
              <a:rPr lang="en-US" sz="5100" dirty="0">
                <a:latin typeface="Times New Roman" panose="02020603050405020304" pitchFamily="18" charset="0"/>
                <a:ea typeface="+mn-lt"/>
                <a:cs typeface="Times New Roman" panose="02020603050405020304" pitchFamily="18" charset="0"/>
              </a:rPr>
              <a:t> allows small businesses and startups to give away a portion of their business in exchange for funding. These donations are a type of investment, where participants receive shares in the business based on how much money they contribute.</a:t>
            </a:r>
          </a:p>
          <a:p>
            <a:pPr>
              <a:spcBef>
                <a:spcPct val="0"/>
              </a:spcBef>
              <a:spcAft>
                <a:spcPct val="0"/>
              </a:spcAft>
            </a:pPr>
            <a:br>
              <a:rPr lang="en-US" sz="3600" b="1" dirty="0">
                <a:ea typeface="+mn-lt"/>
                <a:cs typeface="+mn-lt"/>
              </a:rPr>
            </a:br>
            <a:endParaRPr lang="en-GB" sz="3600" b="1" dirty="0">
              <a:ea typeface="+mn-lt"/>
              <a:cs typeface="+mn-lt"/>
            </a:endParaRPr>
          </a:p>
        </p:txBody>
      </p:sp>
      <p:sp>
        <p:nvSpPr>
          <p:cNvPr id="3" name="Slide Number Placeholder 2">
            <a:extLst>
              <a:ext uri="{FF2B5EF4-FFF2-40B4-BE49-F238E27FC236}">
                <a16:creationId xmlns:a16="http://schemas.microsoft.com/office/drawing/2014/main" id="{29B973D5-F5F7-1F13-DCF1-3B2DD1CEBB34}"/>
              </a:ext>
            </a:extLst>
          </p:cNvPr>
          <p:cNvSpPr>
            <a:spLocks noGrp="1"/>
          </p:cNvSpPr>
          <p:nvPr>
            <p:ph type="sldNum" sz="quarter" idx="12"/>
          </p:nvPr>
        </p:nvSpPr>
        <p:spPr/>
        <p:txBody>
          <a:bodyPr/>
          <a:lstStyle/>
          <a:p>
            <a:fld id="{E94B78F3-87BC-451C-A202-F318C4D79F4A}" type="slidenum">
              <a:rPr lang="en-IN" smtClean="0"/>
              <a:pPr/>
              <a:t>28</a:t>
            </a:fld>
            <a:endParaRPr lang="en-IN"/>
          </a:p>
        </p:txBody>
      </p:sp>
    </p:spTree>
    <p:extLst>
      <p:ext uri="{BB962C8B-B14F-4D97-AF65-F5344CB8AC3E}">
        <p14:creationId xmlns:p14="http://schemas.microsoft.com/office/powerpoint/2010/main" val="22038180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75777-8B02-478B-9470-97BE1B4B8ABE}"/>
              </a:ext>
            </a:extLst>
          </p:cNvPr>
          <p:cNvSpPr>
            <a:spLocks noGrp="1"/>
          </p:cNvSpPr>
          <p:nvPr>
            <p:ph type="title"/>
          </p:nvPr>
        </p:nvSpPr>
        <p:spPr>
          <a:xfrm>
            <a:off x="0" y="1"/>
            <a:ext cx="12192000" cy="804333"/>
          </a:xfrm>
        </p:spPr>
        <p:txBody>
          <a:bodyPr/>
          <a:lstStyle/>
          <a:p>
            <a:pPr algn="ctr"/>
            <a:r>
              <a:rPr lang="en-US" b="1" dirty="0">
                <a:latin typeface="Times New Roman" panose="02020603050405020304" pitchFamily="18" charset="0"/>
                <a:cs typeface="Times New Roman" panose="02020603050405020304" pitchFamily="18" charset="0"/>
              </a:rPr>
              <a:t>Entrepreneurial Sources of Finance</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639156C-F486-4469-B282-0513EC7A0194}"/>
              </a:ext>
            </a:extLst>
          </p:cNvPr>
          <p:cNvSpPr>
            <a:spLocks noGrp="1"/>
          </p:cNvSpPr>
          <p:nvPr>
            <p:ph idx="1"/>
          </p:nvPr>
        </p:nvSpPr>
        <p:spPr>
          <a:xfrm>
            <a:off x="-1" y="752523"/>
            <a:ext cx="12191999" cy="6105476"/>
          </a:xfrm>
        </p:spPr>
        <p:txBody>
          <a:bodyPr vert="horz" lIns="91440" tIns="45720" rIns="91440" bIns="45720" rtlCol="0" anchor="t">
            <a:noAutofit/>
          </a:bodyPr>
          <a:lstStyle/>
          <a:p>
            <a:pPr marL="342900" indent="-342900">
              <a:lnSpc>
                <a:spcPct val="170000"/>
              </a:lnSpc>
              <a:spcBef>
                <a:spcPct val="0"/>
              </a:spcBef>
              <a:spcAft>
                <a:spcPct val="0"/>
              </a:spcAft>
            </a:pPr>
            <a:r>
              <a:rPr lang="en-US" sz="2400" dirty="0">
                <a:solidFill>
                  <a:srgbClr val="222222"/>
                </a:solidFill>
                <a:latin typeface="Times New Roman" panose="02020603050405020304" pitchFamily="18" charset="0"/>
                <a:ea typeface="+mn-lt"/>
                <a:cs typeface="Times New Roman" panose="02020603050405020304" pitchFamily="18" charset="0"/>
              </a:rPr>
              <a:t> </a:t>
            </a:r>
            <a:r>
              <a:rPr lang="en-US" sz="2400" dirty="0">
                <a:latin typeface="Times New Roman" panose="02020603050405020304" pitchFamily="18" charset="0"/>
                <a:ea typeface="+mn-lt"/>
                <a:cs typeface="Times New Roman" panose="02020603050405020304" pitchFamily="18" charset="0"/>
              </a:rPr>
              <a:t>IP based investment funds</a:t>
            </a:r>
          </a:p>
          <a:p>
            <a:pPr lvl="1">
              <a:spcBef>
                <a:spcPct val="0"/>
              </a:spcBef>
              <a:spcAft>
                <a:spcPct val="0"/>
              </a:spcAft>
            </a:pPr>
            <a:r>
              <a:rPr lang="en-US" sz="2400" dirty="0">
                <a:latin typeface="Times New Roman" panose="02020603050405020304" pitchFamily="18" charset="0"/>
                <a:ea typeface="+mn-lt"/>
                <a:cs typeface="Times New Roman" panose="02020603050405020304" pitchFamily="18" charset="0"/>
              </a:rPr>
              <a:t>These investment funds invest in intellectual properties. They primarily look into patents. When they invest in intellectual property, they can monetize it and use those funds to grow their venture.</a:t>
            </a:r>
          </a:p>
          <a:p>
            <a:pPr lvl="1">
              <a:spcBef>
                <a:spcPct val="0"/>
              </a:spcBef>
              <a:spcAft>
                <a:spcPct val="0"/>
              </a:spcAft>
            </a:pPr>
            <a:r>
              <a:rPr lang="en-US" sz="2400" dirty="0">
                <a:latin typeface="Times New Roman" panose="02020603050405020304" pitchFamily="18" charset="0"/>
                <a:ea typeface="+mn-lt"/>
                <a:cs typeface="Times New Roman" panose="02020603050405020304" pitchFamily="18" charset="0"/>
              </a:rPr>
              <a:t>Therefore IP-based investment funds do not provide debt or equity.</a:t>
            </a:r>
          </a:p>
          <a:p>
            <a:pPr>
              <a:lnSpc>
                <a:spcPct val="170000"/>
              </a:lnSpc>
              <a:spcBef>
                <a:spcPct val="0"/>
              </a:spcBef>
              <a:spcAft>
                <a:spcPct val="0"/>
              </a:spcAft>
            </a:pPr>
            <a:r>
              <a:rPr lang="en-US" sz="2400" dirty="0">
                <a:latin typeface="Times New Roman" panose="02020603050405020304" pitchFamily="18" charset="0"/>
                <a:ea typeface="+mn-lt"/>
                <a:cs typeface="Times New Roman" panose="02020603050405020304" pitchFamily="18" charset="0"/>
              </a:rPr>
              <a:t>IP backed debt funding</a:t>
            </a:r>
          </a:p>
          <a:p>
            <a:pPr lvl="1">
              <a:spcBef>
                <a:spcPct val="0"/>
              </a:spcBef>
              <a:spcAft>
                <a:spcPct val="0"/>
              </a:spcAft>
            </a:pPr>
            <a:r>
              <a:rPr lang="en-US" sz="2400" dirty="0">
                <a:latin typeface="Times New Roman" panose="02020603050405020304" pitchFamily="18" charset="0"/>
                <a:ea typeface="+mn-lt"/>
                <a:cs typeface="Times New Roman" panose="02020603050405020304" pitchFamily="18" charset="0"/>
              </a:rPr>
              <a:t>IP backed debt funding are those companies which exploit the economic value of their intellectual property.</a:t>
            </a:r>
          </a:p>
          <a:p>
            <a:pPr lvl="1">
              <a:spcBef>
                <a:spcPct val="0"/>
              </a:spcBef>
              <a:spcAft>
                <a:spcPct val="0"/>
              </a:spcAft>
            </a:pPr>
            <a:r>
              <a:rPr lang="en-US" sz="2400" dirty="0">
                <a:latin typeface="Times New Roman" panose="02020603050405020304" pitchFamily="18" charset="0"/>
                <a:ea typeface="+mn-lt"/>
                <a:cs typeface="Times New Roman" panose="02020603050405020304" pitchFamily="18" charset="0"/>
              </a:rPr>
              <a:t>The primary purpose is to obtain loans from banks.</a:t>
            </a:r>
          </a:p>
          <a:p>
            <a:pPr lvl="1">
              <a:spcBef>
                <a:spcPct val="0"/>
              </a:spcBef>
              <a:spcAft>
                <a:spcPct val="0"/>
              </a:spcAft>
            </a:pPr>
            <a:r>
              <a:rPr lang="en-US" sz="2400" dirty="0">
                <a:latin typeface="Times New Roman" panose="02020603050405020304" pitchFamily="18" charset="0"/>
                <a:ea typeface="+mn-lt"/>
                <a:cs typeface="Times New Roman" panose="02020603050405020304" pitchFamily="18" charset="0"/>
              </a:rPr>
              <a:t>They try to get those from financial institutions where IP rights can be used as collateral. </a:t>
            </a:r>
          </a:p>
          <a:p>
            <a:pPr lvl="1">
              <a:spcBef>
                <a:spcPct val="0"/>
              </a:spcBef>
              <a:spcAft>
                <a:spcPct val="0"/>
              </a:spcAft>
            </a:pPr>
            <a:r>
              <a:rPr lang="en-US" sz="2400" dirty="0">
                <a:latin typeface="Times New Roman" panose="02020603050405020304" pitchFamily="18" charset="0"/>
                <a:ea typeface="+mn-lt"/>
                <a:cs typeface="Times New Roman" panose="02020603050405020304" pitchFamily="18" charset="0"/>
              </a:rPr>
              <a:t>These instruments usually involve a very high structuring cost and other crucial components when it comes to funding of startups.</a:t>
            </a:r>
          </a:p>
        </p:txBody>
      </p:sp>
      <p:sp>
        <p:nvSpPr>
          <p:cNvPr id="4" name="Slide Number Placeholder 3">
            <a:extLst>
              <a:ext uri="{FF2B5EF4-FFF2-40B4-BE49-F238E27FC236}">
                <a16:creationId xmlns:a16="http://schemas.microsoft.com/office/drawing/2014/main" id="{19F25673-57E3-50A7-F1F9-7121A0453F7D}"/>
              </a:ext>
            </a:extLst>
          </p:cNvPr>
          <p:cNvSpPr>
            <a:spLocks noGrp="1"/>
          </p:cNvSpPr>
          <p:nvPr>
            <p:ph type="sldNum" sz="quarter" idx="12"/>
          </p:nvPr>
        </p:nvSpPr>
        <p:spPr/>
        <p:txBody>
          <a:bodyPr/>
          <a:lstStyle/>
          <a:p>
            <a:fld id="{E94B78F3-87BC-451C-A202-F318C4D79F4A}" type="slidenum">
              <a:rPr lang="en-IN" smtClean="0"/>
              <a:pPr/>
              <a:t>29</a:t>
            </a:fld>
            <a:endParaRPr lang="en-IN"/>
          </a:p>
        </p:txBody>
      </p:sp>
    </p:spTree>
    <p:extLst>
      <p:ext uri="{BB962C8B-B14F-4D97-AF65-F5344CB8AC3E}">
        <p14:creationId xmlns:p14="http://schemas.microsoft.com/office/powerpoint/2010/main" val="25275796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75777-8B02-478B-9470-97BE1B4B8ABE}"/>
              </a:ext>
            </a:extLst>
          </p:cNvPr>
          <p:cNvSpPr>
            <a:spLocks noGrp="1"/>
          </p:cNvSpPr>
          <p:nvPr>
            <p:ph type="title"/>
          </p:nvPr>
        </p:nvSpPr>
        <p:spPr>
          <a:xfrm>
            <a:off x="0" y="1"/>
            <a:ext cx="12192000" cy="973666"/>
          </a:xfrm>
        </p:spPr>
        <p:txBody>
          <a:bodyPr/>
          <a:lstStyle/>
          <a:p>
            <a:pPr algn="ctr"/>
            <a:r>
              <a:rPr lang="en-US" b="1" dirty="0"/>
              <a:t>Entrepreneurial Sources of Finance</a:t>
            </a:r>
            <a:endParaRPr lang="en-IN" b="1">
              <a:cs typeface="Calibri Light" panose="020F0302020204030204"/>
            </a:endParaRPr>
          </a:p>
        </p:txBody>
      </p:sp>
      <p:sp>
        <p:nvSpPr>
          <p:cNvPr id="3" name="Content Placeholder 2">
            <a:extLst>
              <a:ext uri="{FF2B5EF4-FFF2-40B4-BE49-F238E27FC236}">
                <a16:creationId xmlns:a16="http://schemas.microsoft.com/office/drawing/2014/main" id="{6639156C-F486-4469-B282-0513EC7A0194}"/>
              </a:ext>
            </a:extLst>
          </p:cNvPr>
          <p:cNvSpPr>
            <a:spLocks noGrp="1"/>
          </p:cNvSpPr>
          <p:nvPr>
            <p:ph idx="1"/>
          </p:nvPr>
        </p:nvSpPr>
        <p:spPr>
          <a:xfrm>
            <a:off x="-1" y="976668"/>
            <a:ext cx="12191999" cy="5881331"/>
          </a:xfrm>
        </p:spPr>
        <p:txBody>
          <a:bodyPr vert="horz" lIns="91440" tIns="45720" rIns="91440" bIns="45720" rtlCol="0" anchor="t">
            <a:normAutofit/>
          </a:bodyPr>
          <a:lstStyle/>
          <a:p>
            <a:pPr>
              <a:lnSpc>
                <a:spcPct val="170000"/>
              </a:lnSpc>
              <a:spcBef>
                <a:spcPct val="0"/>
              </a:spcBef>
              <a:spcAft>
                <a:spcPct val="0"/>
              </a:spcAft>
            </a:pPr>
            <a:r>
              <a:rPr lang="en-US" b="1" dirty="0">
                <a:ea typeface="+mn-lt"/>
                <a:cs typeface="+mn-lt"/>
              </a:rPr>
              <a:t>Mini-bonds</a:t>
            </a:r>
          </a:p>
          <a:p>
            <a:pPr lvl="1">
              <a:lnSpc>
                <a:spcPct val="170000"/>
              </a:lnSpc>
              <a:spcBef>
                <a:spcPct val="0"/>
              </a:spcBef>
              <a:spcAft>
                <a:spcPct val="0"/>
              </a:spcAft>
            </a:pPr>
            <a:r>
              <a:rPr lang="en-US" sz="2000" b="1" dirty="0">
                <a:ea typeface="+mn-lt"/>
                <a:cs typeface="+mn-lt"/>
              </a:rPr>
              <a:t>Are the public bonds that are issued in the segment of special bonds. </a:t>
            </a:r>
          </a:p>
          <a:p>
            <a:pPr lvl="1">
              <a:lnSpc>
                <a:spcPct val="170000"/>
              </a:lnSpc>
              <a:spcBef>
                <a:spcPct val="0"/>
              </a:spcBef>
              <a:spcAft>
                <a:spcPct val="0"/>
              </a:spcAft>
            </a:pPr>
            <a:r>
              <a:rPr lang="en-US" sz="2000" b="1" dirty="0">
                <a:ea typeface="+mn-lt"/>
                <a:cs typeface="+mn-lt"/>
              </a:rPr>
              <a:t>Reflects  the desire of the firm to reduce their dependence on banks for financing activities.</a:t>
            </a:r>
          </a:p>
          <a:p>
            <a:pPr>
              <a:lnSpc>
                <a:spcPct val="170000"/>
              </a:lnSpc>
              <a:spcBef>
                <a:spcPct val="0"/>
              </a:spcBef>
              <a:spcAft>
                <a:spcPct val="0"/>
              </a:spcAft>
            </a:pPr>
            <a:r>
              <a:rPr lang="en-US" b="1" dirty="0">
                <a:ea typeface="+mn-lt"/>
                <a:cs typeface="+mn-lt"/>
              </a:rPr>
              <a:t> University-managed fund</a:t>
            </a:r>
          </a:p>
          <a:p>
            <a:pPr lvl="1">
              <a:lnSpc>
                <a:spcPct val="170000"/>
              </a:lnSpc>
              <a:spcBef>
                <a:spcPct val="0"/>
              </a:spcBef>
              <a:spcAft>
                <a:spcPct val="0"/>
              </a:spcAft>
            </a:pPr>
            <a:r>
              <a:rPr lang="en-US" sz="2000" b="1" dirty="0">
                <a:ea typeface="+mn-lt"/>
                <a:cs typeface="+mn-lt"/>
              </a:rPr>
              <a:t>Are  launched very recently to support the ideas of university alumni, faculty, or staff. </a:t>
            </a:r>
          </a:p>
          <a:p>
            <a:pPr lvl="1">
              <a:lnSpc>
                <a:spcPct val="170000"/>
              </a:lnSpc>
              <a:spcBef>
                <a:spcPct val="0"/>
              </a:spcBef>
              <a:spcAft>
                <a:spcPct val="0"/>
              </a:spcAft>
            </a:pPr>
            <a:r>
              <a:rPr lang="en-US" sz="2000" b="1" dirty="0">
                <a:ea typeface="+mn-lt"/>
                <a:cs typeface="+mn-lt"/>
              </a:rPr>
              <a:t>These funds are essential to get the technology ready and to hand it over to the private sector or a development partner.</a:t>
            </a:r>
          </a:p>
          <a:p>
            <a:pPr marL="0" indent="0">
              <a:lnSpc>
                <a:spcPct val="170000"/>
              </a:lnSpc>
              <a:spcBef>
                <a:spcPct val="0"/>
              </a:spcBef>
              <a:spcAft>
                <a:spcPct val="0"/>
              </a:spcAft>
              <a:buFont typeface="Wingdings 3" charset="2"/>
              <a:buNone/>
            </a:pPr>
            <a:r>
              <a:rPr lang="en-US" b="1" dirty="0">
                <a:ea typeface="+mn-lt"/>
                <a:cs typeface="+mn-lt"/>
              </a:rPr>
              <a:t>. Venture debt lenders</a:t>
            </a:r>
          </a:p>
          <a:p>
            <a:pPr lvl="1">
              <a:lnSpc>
                <a:spcPct val="170000"/>
              </a:lnSpc>
              <a:spcBef>
                <a:spcPct val="0"/>
              </a:spcBef>
              <a:spcAft>
                <a:spcPct val="0"/>
              </a:spcAft>
            </a:pPr>
            <a:r>
              <a:rPr lang="en-US" sz="2000" b="1" dirty="0">
                <a:ea typeface="+mn-lt"/>
                <a:cs typeface="+mn-lt"/>
              </a:rPr>
              <a:t>Venture debt funds or lenders or financial institutions that specialize in providing loans to startups only. </a:t>
            </a:r>
          </a:p>
        </p:txBody>
      </p:sp>
      <p:sp>
        <p:nvSpPr>
          <p:cNvPr id="4" name="Slide Number Placeholder 3">
            <a:extLst>
              <a:ext uri="{FF2B5EF4-FFF2-40B4-BE49-F238E27FC236}">
                <a16:creationId xmlns:a16="http://schemas.microsoft.com/office/drawing/2014/main" id="{71EE6E75-3F1E-69C8-6DE4-D56785B31765}"/>
              </a:ext>
            </a:extLst>
          </p:cNvPr>
          <p:cNvSpPr>
            <a:spLocks noGrp="1"/>
          </p:cNvSpPr>
          <p:nvPr>
            <p:ph type="sldNum" sz="quarter" idx="12"/>
          </p:nvPr>
        </p:nvSpPr>
        <p:spPr/>
        <p:txBody>
          <a:bodyPr/>
          <a:lstStyle/>
          <a:p>
            <a:fld id="{E94B78F3-87BC-451C-A202-F318C4D79F4A}" type="slidenum">
              <a:rPr lang="en-IN" smtClean="0"/>
              <a:pPr/>
              <a:t>30</a:t>
            </a:fld>
            <a:endParaRPr lang="en-IN"/>
          </a:p>
        </p:txBody>
      </p:sp>
    </p:spTree>
    <p:extLst>
      <p:ext uri="{BB962C8B-B14F-4D97-AF65-F5344CB8AC3E}">
        <p14:creationId xmlns:p14="http://schemas.microsoft.com/office/powerpoint/2010/main" val="9000285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2">
            <a:extLst>
              <a:ext uri="{FF2B5EF4-FFF2-40B4-BE49-F238E27FC236}">
                <a16:creationId xmlns:a16="http://schemas.microsoft.com/office/drawing/2014/main" id="{712C706B-7090-44C9-A253-A863B047D1BA}"/>
              </a:ext>
            </a:extLst>
          </p:cNvPr>
          <p:cNvGraphicFramePr/>
          <p:nvPr>
            <p:extLst>
              <p:ext uri="{D42A27DB-BD31-4B8C-83A1-F6EECF244321}">
                <p14:modId xmlns:p14="http://schemas.microsoft.com/office/powerpoint/2010/main" val="351416841"/>
              </p:ext>
            </p:extLst>
          </p:nvPr>
        </p:nvGraphicFramePr>
        <p:xfrm>
          <a:off x="125106" y="7961"/>
          <a:ext cx="12066893" cy="686482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ide Number Placeholder 2">
            <a:extLst>
              <a:ext uri="{FF2B5EF4-FFF2-40B4-BE49-F238E27FC236}">
                <a16:creationId xmlns:a16="http://schemas.microsoft.com/office/drawing/2014/main" id="{86C959D5-12BD-943C-E5F8-920222EF9107}"/>
              </a:ext>
            </a:extLst>
          </p:cNvPr>
          <p:cNvSpPr>
            <a:spLocks noGrp="1"/>
          </p:cNvSpPr>
          <p:nvPr>
            <p:ph type="sldNum" sz="quarter" idx="12"/>
          </p:nvPr>
        </p:nvSpPr>
        <p:spPr/>
        <p:txBody>
          <a:bodyPr/>
          <a:lstStyle/>
          <a:p>
            <a:fld id="{E94B78F3-87BC-451C-A202-F318C4D79F4A}" type="slidenum">
              <a:rPr lang="en-IN" smtClean="0"/>
              <a:pPr/>
              <a:t>31</a:t>
            </a:fld>
            <a:endParaRPr lang="en-IN"/>
          </a:p>
        </p:txBody>
      </p:sp>
    </p:spTree>
    <p:extLst>
      <p:ext uri="{BB962C8B-B14F-4D97-AF65-F5344CB8AC3E}">
        <p14:creationId xmlns:p14="http://schemas.microsoft.com/office/powerpoint/2010/main" val="6724968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75777-8B02-478B-9470-97BE1B4B8ABE}"/>
              </a:ext>
            </a:extLst>
          </p:cNvPr>
          <p:cNvSpPr>
            <a:spLocks noGrp="1"/>
          </p:cNvSpPr>
          <p:nvPr>
            <p:ph type="title"/>
          </p:nvPr>
        </p:nvSpPr>
        <p:spPr>
          <a:xfrm>
            <a:off x="0" y="1"/>
            <a:ext cx="12192000" cy="837189"/>
          </a:xfrm>
        </p:spPr>
        <p:txBody>
          <a:bodyPr/>
          <a:lstStyle/>
          <a:p>
            <a:pPr algn="ctr"/>
            <a:r>
              <a:rPr lang="en-US" b="1"/>
              <a:t>Non Institutional Sources </a:t>
            </a:r>
            <a:r>
              <a:rPr lang="en-US" b="1" dirty="0"/>
              <a:t>of Finance</a:t>
            </a:r>
            <a:endParaRPr lang="en-IN" b="1" dirty="0">
              <a:cs typeface="Calibri Light" panose="020F0302020204030204"/>
            </a:endParaRPr>
          </a:p>
        </p:txBody>
      </p:sp>
      <p:graphicFrame>
        <p:nvGraphicFramePr>
          <p:cNvPr id="4" name="Diagram 4">
            <a:extLst>
              <a:ext uri="{FF2B5EF4-FFF2-40B4-BE49-F238E27FC236}">
                <a16:creationId xmlns:a16="http://schemas.microsoft.com/office/drawing/2014/main" id="{2C47A2C5-5D90-421F-BA22-5BF9A7AD35C9}"/>
              </a:ext>
            </a:extLst>
          </p:cNvPr>
          <p:cNvGraphicFramePr>
            <a:graphicFrameLocks noGrp="1"/>
          </p:cNvGraphicFramePr>
          <p:nvPr>
            <p:ph idx="1"/>
            <p:extLst>
              <p:ext uri="{D42A27DB-BD31-4B8C-83A1-F6EECF244321}">
                <p14:modId xmlns:p14="http://schemas.microsoft.com/office/powerpoint/2010/main" val="1797451296"/>
              </p:ext>
            </p:extLst>
          </p:nvPr>
        </p:nvGraphicFramePr>
        <p:xfrm>
          <a:off x="7962" y="927148"/>
          <a:ext cx="12198823" cy="59435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ide Number Placeholder 2">
            <a:extLst>
              <a:ext uri="{FF2B5EF4-FFF2-40B4-BE49-F238E27FC236}">
                <a16:creationId xmlns:a16="http://schemas.microsoft.com/office/drawing/2014/main" id="{1F5F34B9-D846-6EFD-4C34-76F7AE3EBD14}"/>
              </a:ext>
            </a:extLst>
          </p:cNvPr>
          <p:cNvSpPr>
            <a:spLocks noGrp="1"/>
          </p:cNvSpPr>
          <p:nvPr>
            <p:ph type="sldNum" sz="quarter" idx="12"/>
          </p:nvPr>
        </p:nvSpPr>
        <p:spPr/>
        <p:txBody>
          <a:bodyPr/>
          <a:lstStyle/>
          <a:p>
            <a:fld id="{E94B78F3-87BC-451C-A202-F318C4D79F4A}" type="slidenum">
              <a:rPr lang="en-IN" smtClean="0"/>
              <a:pPr/>
              <a:t>32</a:t>
            </a:fld>
            <a:endParaRPr lang="en-IN"/>
          </a:p>
        </p:txBody>
      </p:sp>
    </p:spTree>
    <p:extLst>
      <p:ext uri="{BB962C8B-B14F-4D97-AF65-F5344CB8AC3E}">
        <p14:creationId xmlns:p14="http://schemas.microsoft.com/office/powerpoint/2010/main" val="36166657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75777-8B02-478B-9470-97BE1B4B8ABE}"/>
              </a:ext>
            </a:extLst>
          </p:cNvPr>
          <p:cNvSpPr>
            <a:spLocks noGrp="1"/>
          </p:cNvSpPr>
          <p:nvPr>
            <p:ph type="title"/>
          </p:nvPr>
        </p:nvSpPr>
        <p:spPr>
          <a:xfrm>
            <a:off x="0" y="1"/>
            <a:ext cx="12192000" cy="793749"/>
          </a:xfrm>
        </p:spPr>
        <p:txBody>
          <a:bodyPr/>
          <a:lstStyle/>
          <a:p>
            <a:pPr algn="ctr"/>
            <a:r>
              <a:rPr lang="en-US" b="1" dirty="0">
                <a:cs typeface="Calibri Light"/>
              </a:rPr>
              <a:t>Loans from Financial Institutions</a:t>
            </a:r>
          </a:p>
        </p:txBody>
      </p:sp>
      <p:sp>
        <p:nvSpPr>
          <p:cNvPr id="3" name="Content Placeholder 2">
            <a:extLst>
              <a:ext uri="{FF2B5EF4-FFF2-40B4-BE49-F238E27FC236}">
                <a16:creationId xmlns:a16="http://schemas.microsoft.com/office/drawing/2014/main" id="{6639156C-F486-4469-B282-0513EC7A0194}"/>
              </a:ext>
            </a:extLst>
          </p:cNvPr>
          <p:cNvSpPr>
            <a:spLocks noGrp="1"/>
          </p:cNvSpPr>
          <p:nvPr>
            <p:ph idx="1"/>
          </p:nvPr>
        </p:nvSpPr>
        <p:spPr>
          <a:xfrm>
            <a:off x="-1" y="635000"/>
            <a:ext cx="7196665" cy="6222999"/>
          </a:xfrm>
        </p:spPr>
        <p:txBody>
          <a:bodyPr vert="horz" lIns="91440" tIns="45720" rIns="91440" bIns="45720" rtlCol="0" anchor="t">
            <a:normAutofit fontScale="85000" lnSpcReduction="10000"/>
          </a:bodyPr>
          <a:lstStyle/>
          <a:p>
            <a:pPr algn="just">
              <a:lnSpc>
                <a:spcPct val="160000"/>
              </a:lnSpc>
            </a:pPr>
            <a:r>
              <a:rPr lang="en-IN" b="1" dirty="0">
                <a:ea typeface="+mn-lt"/>
                <a:cs typeface="+mn-lt"/>
              </a:rPr>
              <a:t>Financial Institutions </a:t>
            </a:r>
            <a:endParaRPr lang="en-IN" dirty="0">
              <a:ea typeface="+mn-lt"/>
              <a:cs typeface="+mn-lt"/>
            </a:endParaRPr>
          </a:p>
          <a:p>
            <a:pPr lvl="1" algn="just">
              <a:lnSpc>
                <a:spcPct val="160000"/>
              </a:lnSpc>
            </a:pPr>
            <a:r>
              <a:rPr lang="en-IN" dirty="0">
                <a:ea typeface="+mn-lt"/>
                <a:cs typeface="+mn-lt"/>
              </a:rPr>
              <a:t>Industrial Development Bank of India (IDBI)</a:t>
            </a:r>
            <a:endParaRPr lang="en-IN" dirty="0">
              <a:cs typeface="Calibri" panose="020F0502020204030204"/>
            </a:endParaRPr>
          </a:p>
          <a:p>
            <a:pPr lvl="1" algn="just">
              <a:lnSpc>
                <a:spcPct val="160000"/>
              </a:lnSpc>
            </a:pPr>
            <a:r>
              <a:rPr lang="en-IN" dirty="0">
                <a:ea typeface="+mn-lt"/>
                <a:cs typeface="+mn-lt"/>
              </a:rPr>
              <a:t>Industrial Credit and Investment Corporations of India Ltd (ICICI)</a:t>
            </a:r>
          </a:p>
          <a:p>
            <a:pPr lvl="1" algn="just">
              <a:lnSpc>
                <a:spcPct val="160000"/>
              </a:lnSpc>
            </a:pPr>
            <a:r>
              <a:rPr lang="en-IN" dirty="0">
                <a:ea typeface="+mn-lt"/>
                <a:cs typeface="+mn-lt"/>
              </a:rPr>
              <a:t>Industrial Finance Corporation of India (IFCI)</a:t>
            </a:r>
          </a:p>
          <a:p>
            <a:pPr lvl="1" algn="just">
              <a:lnSpc>
                <a:spcPct val="160000"/>
              </a:lnSpc>
            </a:pPr>
            <a:r>
              <a:rPr lang="en-IN" dirty="0">
                <a:ea typeface="+mn-lt"/>
                <a:cs typeface="+mn-lt"/>
              </a:rPr>
              <a:t>Industrial Investment Bank of India(IIBI)</a:t>
            </a:r>
            <a:endParaRPr lang="en-IN" dirty="0">
              <a:cs typeface="Calibri"/>
            </a:endParaRPr>
          </a:p>
          <a:p>
            <a:pPr lvl="1" algn="just">
              <a:lnSpc>
                <a:spcPct val="160000"/>
              </a:lnSpc>
            </a:pPr>
            <a:r>
              <a:rPr lang="en-IN" dirty="0">
                <a:ea typeface="+mn-lt"/>
                <a:cs typeface="+mn-lt"/>
              </a:rPr>
              <a:t>Small Industries Development Bank of India (SIDBI)</a:t>
            </a:r>
            <a:endParaRPr lang="en-IN" dirty="0">
              <a:cs typeface="Calibri"/>
            </a:endParaRPr>
          </a:p>
          <a:p>
            <a:pPr lvl="1" algn="just">
              <a:lnSpc>
                <a:spcPct val="160000"/>
              </a:lnSpc>
            </a:pPr>
            <a:r>
              <a:rPr lang="en-IN" dirty="0">
                <a:ea typeface="+mn-lt"/>
                <a:cs typeface="+mn-lt"/>
              </a:rPr>
              <a:t>National Small Industries Corporation Ltd (NSIC)</a:t>
            </a:r>
            <a:endParaRPr lang="en-IN" dirty="0">
              <a:cs typeface="Calibri"/>
            </a:endParaRPr>
          </a:p>
          <a:p>
            <a:pPr lvl="1" algn="just">
              <a:lnSpc>
                <a:spcPct val="160000"/>
              </a:lnSpc>
            </a:pPr>
            <a:r>
              <a:rPr lang="en-IN" dirty="0">
                <a:ea typeface="+mn-lt"/>
                <a:cs typeface="+mn-lt"/>
              </a:rPr>
              <a:t>State Small Industries Corporation (SSIC)</a:t>
            </a:r>
            <a:endParaRPr lang="en-IN" dirty="0">
              <a:cs typeface="Calibri"/>
            </a:endParaRPr>
          </a:p>
          <a:p>
            <a:pPr lvl="1" algn="just">
              <a:lnSpc>
                <a:spcPct val="160000"/>
              </a:lnSpc>
            </a:pPr>
            <a:r>
              <a:rPr lang="en-IN" dirty="0">
                <a:ea typeface="+mn-lt"/>
                <a:cs typeface="+mn-lt"/>
              </a:rPr>
              <a:t>Regional Rural Banks (RRBs)</a:t>
            </a:r>
            <a:endParaRPr lang="en-IN" dirty="0">
              <a:cs typeface="Calibri"/>
            </a:endParaRPr>
          </a:p>
          <a:p>
            <a:pPr lvl="1" algn="just">
              <a:lnSpc>
                <a:spcPct val="160000"/>
              </a:lnSpc>
            </a:pPr>
            <a:r>
              <a:rPr lang="en-IN" dirty="0">
                <a:ea typeface="+mn-lt"/>
                <a:cs typeface="+mn-lt"/>
              </a:rPr>
              <a:t>State Financial Corporations (SFCs)</a:t>
            </a:r>
            <a:endParaRPr lang="en-IN" dirty="0">
              <a:cs typeface="Calibri"/>
            </a:endParaRPr>
          </a:p>
          <a:p>
            <a:pPr lvl="1" algn="just">
              <a:lnSpc>
                <a:spcPct val="160000"/>
              </a:lnSpc>
            </a:pPr>
            <a:r>
              <a:rPr lang="en-IN" dirty="0">
                <a:ea typeface="+mn-lt"/>
                <a:cs typeface="+mn-lt"/>
              </a:rPr>
              <a:t>State Industrial Development Corporations (SIDCs)</a:t>
            </a:r>
            <a:endParaRPr lang="en-IN" dirty="0">
              <a:cs typeface="Calibri"/>
            </a:endParaRPr>
          </a:p>
          <a:p>
            <a:pPr lvl="1" algn="just">
              <a:lnSpc>
                <a:spcPct val="160000"/>
              </a:lnSpc>
            </a:pPr>
            <a:r>
              <a:rPr lang="en-IN" dirty="0">
                <a:ea typeface="+mn-lt"/>
                <a:cs typeface="+mn-lt"/>
              </a:rPr>
              <a:t>Cooperative Banks and </a:t>
            </a:r>
            <a:r>
              <a:rPr lang="en-IN" dirty="0" err="1">
                <a:ea typeface="+mn-lt"/>
                <a:cs typeface="+mn-lt"/>
              </a:rPr>
              <a:t>Gramin</a:t>
            </a:r>
            <a:r>
              <a:rPr lang="en-IN" dirty="0">
                <a:ea typeface="+mn-lt"/>
                <a:cs typeface="+mn-lt"/>
              </a:rPr>
              <a:t> Banks</a:t>
            </a:r>
            <a:endParaRPr lang="en-IN" dirty="0">
              <a:cs typeface="Calibri"/>
            </a:endParaRPr>
          </a:p>
          <a:p>
            <a:pPr lvl="1" algn="just">
              <a:lnSpc>
                <a:spcPct val="160000"/>
              </a:lnSpc>
            </a:pPr>
            <a:r>
              <a:rPr lang="en-IN" dirty="0">
                <a:ea typeface="+mn-lt"/>
                <a:cs typeface="+mn-lt"/>
              </a:rPr>
              <a:t>Micro, Small, and Medium Enterprises (MSME's)</a:t>
            </a:r>
            <a:endParaRPr lang="en-IN" dirty="0">
              <a:cs typeface="Calibri" panose="020F0502020204030204"/>
            </a:endParaRPr>
          </a:p>
        </p:txBody>
      </p:sp>
      <p:sp>
        <p:nvSpPr>
          <p:cNvPr id="6" name="Content Placeholder 2">
            <a:extLst>
              <a:ext uri="{FF2B5EF4-FFF2-40B4-BE49-F238E27FC236}">
                <a16:creationId xmlns:a16="http://schemas.microsoft.com/office/drawing/2014/main" id="{B3541E4B-7925-45C3-91E3-7F13983A6A71}"/>
              </a:ext>
            </a:extLst>
          </p:cNvPr>
          <p:cNvSpPr txBox="1">
            <a:spLocks/>
          </p:cNvSpPr>
          <p:nvPr/>
        </p:nvSpPr>
        <p:spPr>
          <a:xfrm>
            <a:off x="7243233" y="692150"/>
            <a:ext cx="4804832" cy="6222999"/>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pPr>
            <a:r>
              <a:rPr lang="en-IN" b="1" dirty="0">
                <a:ea typeface="+mn-lt"/>
                <a:cs typeface="+mn-lt"/>
              </a:rPr>
              <a:t>Institutions for technical guidance</a:t>
            </a:r>
            <a:endParaRPr lang="en-IN" dirty="0">
              <a:cs typeface="Calibri" panose="020F0502020204030204"/>
            </a:endParaRPr>
          </a:p>
          <a:p>
            <a:pPr lvl="1">
              <a:lnSpc>
                <a:spcPct val="100000"/>
              </a:lnSpc>
            </a:pPr>
            <a:r>
              <a:rPr lang="en-IN" dirty="0">
                <a:ea typeface="+mn-lt"/>
                <a:cs typeface="+mn-lt"/>
              </a:rPr>
              <a:t>Small Industries Development Organisation (SIDO)</a:t>
            </a:r>
            <a:endParaRPr lang="en-IN" dirty="0">
              <a:cs typeface="Calibri"/>
            </a:endParaRPr>
          </a:p>
          <a:p>
            <a:pPr lvl="1">
              <a:lnSpc>
                <a:spcPct val="100000"/>
              </a:lnSpc>
            </a:pPr>
            <a:r>
              <a:rPr lang="en-IN" dirty="0">
                <a:ea typeface="+mn-lt"/>
                <a:cs typeface="+mn-lt"/>
              </a:rPr>
              <a:t> District Industries Centres (DICs)</a:t>
            </a:r>
            <a:endParaRPr lang="en-IN" dirty="0">
              <a:cs typeface="Calibri"/>
            </a:endParaRPr>
          </a:p>
          <a:p>
            <a:pPr lvl="1">
              <a:lnSpc>
                <a:spcPct val="100000"/>
              </a:lnSpc>
            </a:pPr>
            <a:r>
              <a:rPr lang="en-IN" dirty="0">
                <a:ea typeface="+mn-lt"/>
                <a:cs typeface="+mn-lt"/>
              </a:rPr>
              <a:t>Technical Consultancy Organisations (TCOs)</a:t>
            </a:r>
            <a:endParaRPr lang="en-IN" dirty="0">
              <a:cs typeface="Calibri"/>
            </a:endParaRPr>
          </a:p>
        </p:txBody>
      </p:sp>
      <p:sp>
        <p:nvSpPr>
          <p:cNvPr id="4" name="Slide Number Placeholder 3">
            <a:extLst>
              <a:ext uri="{FF2B5EF4-FFF2-40B4-BE49-F238E27FC236}">
                <a16:creationId xmlns:a16="http://schemas.microsoft.com/office/drawing/2014/main" id="{B4613CA9-E12A-BB4B-13EB-FB0C916451EB}"/>
              </a:ext>
            </a:extLst>
          </p:cNvPr>
          <p:cNvSpPr>
            <a:spLocks noGrp="1"/>
          </p:cNvSpPr>
          <p:nvPr>
            <p:ph type="sldNum" sz="quarter" idx="12"/>
          </p:nvPr>
        </p:nvSpPr>
        <p:spPr/>
        <p:txBody>
          <a:bodyPr/>
          <a:lstStyle/>
          <a:p>
            <a:fld id="{E94B78F3-87BC-451C-A202-F318C4D79F4A}" type="slidenum">
              <a:rPr lang="en-IN" smtClean="0"/>
              <a:pPr/>
              <a:t>33</a:t>
            </a:fld>
            <a:endParaRPr lang="en-IN"/>
          </a:p>
        </p:txBody>
      </p:sp>
    </p:spTree>
    <p:extLst>
      <p:ext uri="{BB962C8B-B14F-4D97-AF65-F5344CB8AC3E}">
        <p14:creationId xmlns:p14="http://schemas.microsoft.com/office/powerpoint/2010/main" val="5293312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767687"/>
          </a:xfrm>
        </p:spPr>
        <p:txBody>
          <a:bodyPr/>
          <a:lstStyle/>
          <a:p>
            <a:r>
              <a:rPr lang="en-US" sz="2800" b="1" dirty="0"/>
              <a:t>Industrial Development Bank of India(IDBI)</a:t>
            </a:r>
          </a:p>
        </p:txBody>
      </p:sp>
      <p:sp>
        <p:nvSpPr>
          <p:cNvPr id="3" name="Content Placeholder 2"/>
          <p:cNvSpPr>
            <a:spLocks noGrp="1"/>
          </p:cNvSpPr>
          <p:nvPr>
            <p:ph idx="1"/>
          </p:nvPr>
        </p:nvSpPr>
        <p:spPr>
          <a:xfrm>
            <a:off x="451945" y="1513490"/>
            <a:ext cx="11161986" cy="5108027"/>
          </a:xfrm>
        </p:spPr>
        <p:txBody>
          <a:bodyPr>
            <a:normAutofit fontScale="92500" lnSpcReduction="20000"/>
          </a:bodyPr>
          <a:lstStyle/>
          <a:p>
            <a:r>
              <a:rPr lang="en-US" sz="3200" dirty="0"/>
              <a:t>1</a:t>
            </a:r>
            <a:r>
              <a:rPr lang="en-US" sz="3200" baseline="30000" dirty="0"/>
              <a:t>st</a:t>
            </a:r>
            <a:r>
              <a:rPr lang="en-US" sz="3200" dirty="0"/>
              <a:t> July,1964</a:t>
            </a:r>
          </a:p>
          <a:p>
            <a:r>
              <a:rPr lang="en-US" sz="3200" dirty="0"/>
              <a:t>Large and Small scale Industries</a:t>
            </a:r>
          </a:p>
          <a:p>
            <a:r>
              <a:rPr lang="en-US" sz="3200" dirty="0"/>
              <a:t>Subsidiary of the RBI</a:t>
            </a:r>
          </a:p>
          <a:p>
            <a:pPr algn="just"/>
            <a:r>
              <a:rPr lang="en-US" sz="3200" dirty="0"/>
              <a:t>It provides technical and administrative assistance to any firm in order to promote, manage or expand it.</a:t>
            </a:r>
          </a:p>
          <a:p>
            <a:pPr algn="just"/>
            <a:r>
              <a:rPr lang="en-US" sz="3200" dirty="0"/>
              <a:t>Manufacturing, processing or preservation of goods or mining, shipping, transport, hotel shore fishing or maintenance, repairs, testing or servicing of machinery or vehicles etc., Besides this IDBI also provides financial assistance or the export of Engineering goods and services on deferred payment basis.</a:t>
            </a:r>
          </a:p>
        </p:txBody>
      </p:sp>
      <p:sp>
        <p:nvSpPr>
          <p:cNvPr id="4" name="Slide Number Placeholder 3">
            <a:extLst>
              <a:ext uri="{FF2B5EF4-FFF2-40B4-BE49-F238E27FC236}">
                <a16:creationId xmlns:a16="http://schemas.microsoft.com/office/drawing/2014/main" id="{3A8F834A-13C1-30CC-9994-2213F636A6AF}"/>
              </a:ext>
            </a:extLst>
          </p:cNvPr>
          <p:cNvSpPr>
            <a:spLocks noGrp="1"/>
          </p:cNvSpPr>
          <p:nvPr>
            <p:ph type="sldNum" sz="quarter" idx="12"/>
          </p:nvPr>
        </p:nvSpPr>
        <p:spPr/>
        <p:txBody>
          <a:bodyPr/>
          <a:lstStyle/>
          <a:p>
            <a:fld id="{E94B78F3-87BC-451C-A202-F318C4D79F4A}" type="slidenum">
              <a:rPr lang="en-IN" smtClean="0"/>
              <a:pPr/>
              <a:t>34</a:t>
            </a:fld>
            <a:endParaRPr lang="en-IN"/>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9697" y="365125"/>
            <a:ext cx="11792605" cy="1325563"/>
          </a:xfrm>
        </p:spPr>
        <p:txBody>
          <a:bodyPr>
            <a:noAutofit/>
          </a:bodyPr>
          <a:lstStyle/>
          <a:p>
            <a:pPr lvl="1" algn="l" rtl="0">
              <a:lnSpc>
                <a:spcPct val="90000"/>
              </a:lnSpc>
              <a:spcBef>
                <a:spcPct val="0"/>
              </a:spcBef>
            </a:pPr>
            <a:r>
              <a:rPr lang="en-IN" sz="3600" dirty="0">
                <a:ea typeface="+mn-lt"/>
                <a:cs typeface="+mn-lt"/>
              </a:rPr>
              <a:t>Industrial Credit and Investment Corporations of India Ltd (ICICI)</a:t>
            </a:r>
            <a:br>
              <a:rPr lang="en-IN" sz="3600" dirty="0">
                <a:ea typeface="+mn-lt"/>
                <a:cs typeface="+mn-lt"/>
              </a:rPr>
            </a:br>
            <a:endParaRPr lang="en-US" sz="3600" dirty="0"/>
          </a:p>
        </p:txBody>
      </p:sp>
      <p:sp>
        <p:nvSpPr>
          <p:cNvPr id="3" name="Content Placeholder 2"/>
          <p:cNvSpPr>
            <a:spLocks noGrp="1"/>
          </p:cNvSpPr>
          <p:nvPr>
            <p:ph idx="1"/>
          </p:nvPr>
        </p:nvSpPr>
        <p:spPr>
          <a:xfrm>
            <a:off x="262759" y="1502979"/>
            <a:ext cx="11498317" cy="5118538"/>
          </a:xfrm>
        </p:spPr>
        <p:txBody>
          <a:bodyPr>
            <a:normAutofit lnSpcReduction="10000"/>
          </a:bodyPr>
          <a:lstStyle/>
          <a:p>
            <a:pPr algn="just"/>
            <a:r>
              <a:rPr lang="en-US" sz="3200" dirty="0"/>
              <a:t>Private sector development bank and Financial Institution Established in 1955</a:t>
            </a:r>
          </a:p>
          <a:p>
            <a:pPr algn="just"/>
            <a:r>
              <a:rPr lang="en-US" sz="3200" dirty="0"/>
              <a:t>ICICI grants Medium and Long term loans</a:t>
            </a:r>
          </a:p>
          <a:p>
            <a:pPr algn="just"/>
            <a:r>
              <a:rPr lang="en-US" sz="3200" dirty="0"/>
              <a:t>Provide assistance in the establishment, expansion and up gradation, modernization of private sector units</a:t>
            </a:r>
          </a:p>
          <a:p>
            <a:pPr algn="just"/>
            <a:r>
              <a:rPr lang="en-US" sz="3200" dirty="0"/>
              <a:t>Considers only those projects whose budget/project cost is Rs.300 </a:t>
            </a:r>
            <a:r>
              <a:rPr lang="en-US" sz="3200" dirty="0" err="1"/>
              <a:t>lakhs</a:t>
            </a:r>
            <a:r>
              <a:rPr lang="en-US" sz="3200" dirty="0"/>
              <a:t> or above</a:t>
            </a:r>
          </a:p>
          <a:p>
            <a:pPr algn="just"/>
            <a:r>
              <a:rPr lang="en-US" sz="3200" dirty="0"/>
              <a:t>Companies with Limited liability. Sole proprietorship, Partnership firm or any Cooperative Society can take help for assistance in finance. </a:t>
            </a:r>
          </a:p>
          <a:p>
            <a:pPr algn="just"/>
            <a:endParaRPr lang="en-US" sz="3200" dirty="0"/>
          </a:p>
        </p:txBody>
      </p:sp>
      <p:sp>
        <p:nvSpPr>
          <p:cNvPr id="4" name="Slide Number Placeholder 3">
            <a:extLst>
              <a:ext uri="{FF2B5EF4-FFF2-40B4-BE49-F238E27FC236}">
                <a16:creationId xmlns:a16="http://schemas.microsoft.com/office/drawing/2014/main" id="{BDC94189-67BA-333A-E6E2-83692F252DFA}"/>
              </a:ext>
            </a:extLst>
          </p:cNvPr>
          <p:cNvSpPr>
            <a:spLocks noGrp="1"/>
          </p:cNvSpPr>
          <p:nvPr>
            <p:ph type="sldNum" sz="quarter" idx="12"/>
          </p:nvPr>
        </p:nvSpPr>
        <p:spPr/>
        <p:txBody>
          <a:bodyPr/>
          <a:lstStyle/>
          <a:p>
            <a:fld id="{E94B78F3-87BC-451C-A202-F318C4D79F4A}" type="slidenum">
              <a:rPr lang="en-IN" smtClean="0"/>
              <a:pPr/>
              <a:t>35</a:t>
            </a:fld>
            <a:endParaRPr lang="en-IN"/>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1" algn="l" rtl="0">
              <a:lnSpc>
                <a:spcPct val="90000"/>
              </a:lnSpc>
              <a:spcBef>
                <a:spcPct val="0"/>
              </a:spcBef>
            </a:pPr>
            <a:r>
              <a:rPr lang="en-IN" sz="4000" dirty="0">
                <a:ea typeface="+mn-lt"/>
                <a:cs typeface="+mn-lt"/>
              </a:rPr>
              <a:t>Industrial Finance Corporation of India (IFCI)</a:t>
            </a:r>
            <a:br>
              <a:rPr lang="en-IN" sz="4000" dirty="0">
                <a:cs typeface="Calibri"/>
              </a:rPr>
            </a:br>
            <a:endParaRPr lang="en-US" sz="4000" dirty="0"/>
          </a:p>
        </p:txBody>
      </p:sp>
      <p:sp>
        <p:nvSpPr>
          <p:cNvPr id="3" name="Content Placeholder 2"/>
          <p:cNvSpPr>
            <a:spLocks noGrp="1"/>
          </p:cNvSpPr>
          <p:nvPr>
            <p:ph idx="1"/>
          </p:nvPr>
        </p:nvSpPr>
        <p:spPr>
          <a:xfrm>
            <a:off x="451945" y="1103586"/>
            <a:ext cx="11214538" cy="5370786"/>
          </a:xfrm>
        </p:spPr>
        <p:txBody>
          <a:bodyPr>
            <a:normAutofit/>
          </a:bodyPr>
          <a:lstStyle/>
          <a:p>
            <a:pPr algn="just"/>
            <a:r>
              <a:rPr lang="en-US" dirty="0"/>
              <a:t>Established  under IFCI Act in July,1948. Since July 1, 1993 it has been included under the Companies Act</a:t>
            </a:r>
          </a:p>
          <a:p>
            <a:pPr algn="just"/>
            <a:r>
              <a:rPr lang="en-US" dirty="0"/>
              <a:t>Provides financial assistance to the Industrial sector in the form of rupee and foreign currency loans, underwriting, subscription to shares and debentures and purchase of equipment procurement, leasing, merchant banking facilities, etc.,</a:t>
            </a:r>
          </a:p>
          <a:p>
            <a:pPr algn="just"/>
            <a:r>
              <a:rPr lang="en-US" dirty="0"/>
              <a:t>Financial assistance to companies and cooperative societies which are </a:t>
            </a:r>
          </a:p>
          <a:p>
            <a:pPr algn="just">
              <a:buNone/>
            </a:pPr>
            <a:r>
              <a:rPr lang="en-US" dirty="0"/>
              <a:t>   incorporated in India</a:t>
            </a:r>
          </a:p>
          <a:p>
            <a:pPr algn="just"/>
            <a:r>
              <a:rPr lang="en-US" dirty="0"/>
              <a:t>Manufacturing, preservation or processing of goods, shipping, mining or hotel industry or in the generation or distribution of power and electricity in industrial project either in the private or joint sectors.</a:t>
            </a:r>
          </a:p>
        </p:txBody>
      </p:sp>
      <p:sp>
        <p:nvSpPr>
          <p:cNvPr id="4" name="Slide Number Placeholder 3">
            <a:extLst>
              <a:ext uri="{FF2B5EF4-FFF2-40B4-BE49-F238E27FC236}">
                <a16:creationId xmlns:a16="http://schemas.microsoft.com/office/drawing/2014/main" id="{67D05ED0-5311-0FF7-6E4E-B954675AE3F4}"/>
              </a:ext>
            </a:extLst>
          </p:cNvPr>
          <p:cNvSpPr>
            <a:spLocks noGrp="1"/>
          </p:cNvSpPr>
          <p:nvPr>
            <p:ph type="sldNum" sz="quarter" idx="12"/>
          </p:nvPr>
        </p:nvSpPr>
        <p:spPr/>
        <p:txBody>
          <a:bodyPr/>
          <a:lstStyle/>
          <a:p>
            <a:fld id="{E94B78F3-87BC-451C-A202-F318C4D79F4A}" type="slidenum">
              <a:rPr lang="en-IN" smtClean="0"/>
              <a:pPr/>
              <a:t>36</a:t>
            </a:fld>
            <a:endParaRPr lang="en-IN"/>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sz="4800" b="1" dirty="0">
                <a:ea typeface="+mn-lt"/>
                <a:cs typeface="+mn-lt"/>
              </a:rPr>
              <a:t>Industrial Investment Bank of India(IIBI)</a:t>
            </a:r>
            <a:endParaRPr lang="en-US" sz="4800" b="1" dirty="0"/>
          </a:p>
        </p:txBody>
      </p:sp>
      <p:sp>
        <p:nvSpPr>
          <p:cNvPr id="3" name="Content Placeholder 2"/>
          <p:cNvSpPr>
            <a:spLocks noGrp="1"/>
          </p:cNvSpPr>
          <p:nvPr>
            <p:ph idx="1"/>
          </p:nvPr>
        </p:nvSpPr>
        <p:spPr/>
        <p:txBody>
          <a:bodyPr>
            <a:normAutofit/>
          </a:bodyPr>
          <a:lstStyle/>
          <a:p>
            <a:r>
              <a:rPr lang="en-US" dirty="0"/>
              <a:t>IRCI(</a:t>
            </a:r>
            <a:r>
              <a:rPr lang="en-US" b="0" i="0" dirty="0">
                <a:effectLst/>
                <a:latin typeface="arial" panose="020B0604020202020204" pitchFamily="34" charset="0"/>
              </a:rPr>
              <a:t>Industrial Reconstruction Corporation of India)</a:t>
            </a:r>
            <a:r>
              <a:rPr lang="en-US" dirty="0"/>
              <a:t> was established in April,1971</a:t>
            </a:r>
          </a:p>
          <a:p>
            <a:r>
              <a:rPr lang="en-US" b="1" dirty="0"/>
              <a:t>Aim and Objective</a:t>
            </a:r>
            <a:r>
              <a:rPr lang="en-US" dirty="0"/>
              <a:t>-Solve the problems and difficulties faced by the sick units and give proper and quick assistance for speedy reconstruction and development of those industries</a:t>
            </a:r>
          </a:p>
          <a:p>
            <a:r>
              <a:rPr lang="en-US" dirty="0"/>
              <a:t>IRCI was Renamed as IIBI</a:t>
            </a:r>
          </a:p>
          <a:p>
            <a:r>
              <a:rPr lang="en-US" dirty="0"/>
              <a:t>Provides technical and managerial assistance to the sick industrial units</a:t>
            </a:r>
          </a:p>
          <a:p>
            <a:r>
              <a:rPr lang="en-US" dirty="0"/>
              <a:t>Provide the merchant banking services while dealing with corporate restructuring such as merges, amalgamations and so on</a:t>
            </a:r>
          </a:p>
          <a:p>
            <a:endParaRPr lang="en-US" dirty="0"/>
          </a:p>
        </p:txBody>
      </p:sp>
      <p:sp>
        <p:nvSpPr>
          <p:cNvPr id="4" name="Slide Number Placeholder 3">
            <a:extLst>
              <a:ext uri="{FF2B5EF4-FFF2-40B4-BE49-F238E27FC236}">
                <a16:creationId xmlns:a16="http://schemas.microsoft.com/office/drawing/2014/main" id="{B775C8D5-32D0-70BE-EA67-E4BC159FE68D}"/>
              </a:ext>
            </a:extLst>
          </p:cNvPr>
          <p:cNvSpPr>
            <a:spLocks noGrp="1"/>
          </p:cNvSpPr>
          <p:nvPr>
            <p:ph type="sldNum" sz="quarter" idx="12"/>
          </p:nvPr>
        </p:nvSpPr>
        <p:spPr/>
        <p:txBody>
          <a:bodyPr/>
          <a:lstStyle/>
          <a:p>
            <a:fld id="{E94B78F3-87BC-451C-A202-F318C4D79F4A}" type="slidenum">
              <a:rPr lang="en-IN" smtClean="0"/>
              <a:pPr/>
              <a:t>37</a:t>
            </a:fld>
            <a:endParaRPr lang="en-IN"/>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lvl="1" algn="l" rtl="0">
              <a:lnSpc>
                <a:spcPct val="90000"/>
              </a:lnSpc>
              <a:spcBef>
                <a:spcPct val="0"/>
              </a:spcBef>
            </a:pPr>
            <a:r>
              <a:rPr lang="en-IN" sz="3200" b="1" dirty="0">
                <a:ea typeface="+mn-lt"/>
                <a:cs typeface="+mn-lt"/>
              </a:rPr>
              <a:t>Small Industries Development Bank of India (SIDBI)</a:t>
            </a:r>
            <a:br>
              <a:rPr lang="en-IN" sz="3200" b="1" dirty="0">
                <a:cs typeface="Calibri"/>
              </a:rPr>
            </a:br>
            <a:endParaRPr lang="en-US" sz="3200" b="1" dirty="0"/>
          </a:p>
        </p:txBody>
      </p:sp>
      <p:sp>
        <p:nvSpPr>
          <p:cNvPr id="3" name="Content Placeholder 2"/>
          <p:cNvSpPr>
            <a:spLocks noGrp="1"/>
          </p:cNvSpPr>
          <p:nvPr>
            <p:ph idx="1"/>
          </p:nvPr>
        </p:nvSpPr>
        <p:spPr>
          <a:xfrm>
            <a:off x="409903" y="1576552"/>
            <a:ext cx="11340663" cy="4971393"/>
          </a:xfrm>
        </p:spPr>
        <p:txBody>
          <a:bodyPr>
            <a:normAutofit/>
          </a:bodyPr>
          <a:lstStyle/>
          <a:p>
            <a:pPr algn="just"/>
            <a:r>
              <a:rPr lang="en-US" dirty="0"/>
              <a:t>Started by Government of India under the Parliament’s act in October,1989 as wholly owned IDBI subsidiary</a:t>
            </a:r>
          </a:p>
          <a:p>
            <a:pPr algn="just"/>
            <a:r>
              <a:rPr lang="en-US" dirty="0"/>
              <a:t>Basically set up as an apex institution for providing financial and non-financial assistance to </a:t>
            </a:r>
            <a:r>
              <a:rPr lang="en-US" dirty="0">
                <a:solidFill>
                  <a:srgbClr val="FF0000"/>
                </a:solidFill>
              </a:rPr>
              <a:t>tiny and small scale industries</a:t>
            </a:r>
          </a:p>
          <a:p>
            <a:pPr algn="just"/>
            <a:r>
              <a:rPr lang="en-US" dirty="0"/>
              <a:t>Coordinates the work of other development financial institutions</a:t>
            </a:r>
          </a:p>
          <a:p>
            <a:pPr algn="just"/>
            <a:r>
              <a:rPr lang="en-US" dirty="0"/>
              <a:t>Taking initiative in developing and updating the existing  technology and improving the sick units</a:t>
            </a:r>
          </a:p>
          <a:p>
            <a:pPr algn="just"/>
            <a:r>
              <a:rPr lang="en-US" dirty="0"/>
              <a:t>Initiating and taking up new projects</a:t>
            </a:r>
          </a:p>
          <a:p>
            <a:pPr algn="just"/>
            <a:r>
              <a:rPr lang="en-US" dirty="0"/>
              <a:t>Improving the infrastructure for SSI(Small Scale Industries)</a:t>
            </a:r>
          </a:p>
          <a:p>
            <a:pPr algn="just"/>
            <a:r>
              <a:rPr lang="en-US" dirty="0"/>
              <a:t>Agencies to </a:t>
            </a:r>
            <a:r>
              <a:rPr lang="en-US" dirty="0" err="1"/>
              <a:t>organise</a:t>
            </a:r>
            <a:r>
              <a:rPr lang="en-US" dirty="0"/>
              <a:t> EDP</a:t>
            </a:r>
          </a:p>
          <a:p>
            <a:pPr algn="just"/>
            <a:r>
              <a:rPr lang="en-US" dirty="0"/>
              <a:t>Micro Credit Schemes</a:t>
            </a:r>
          </a:p>
          <a:p>
            <a:endParaRPr lang="en-US" dirty="0"/>
          </a:p>
        </p:txBody>
      </p:sp>
      <p:sp>
        <p:nvSpPr>
          <p:cNvPr id="4" name="Slide Number Placeholder 3">
            <a:extLst>
              <a:ext uri="{FF2B5EF4-FFF2-40B4-BE49-F238E27FC236}">
                <a16:creationId xmlns:a16="http://schemas.microsoft.com/office/drawing/2014/main" id="{55E35F17-595A-D2D6-CF90-2D94B5038A0D}"/>
              </a:ext>
            </a:extLst>
          </p:cNvPr>
          <p:cNvSpPr>
            <a:spLocks noGrp="1"/>
          </p:cNvSpPr>
          <p:nvPr>
            <p:ph type="sldNum" sz="quarter" idx="12"/>
          </p:nvPr>
        </p:nvSpPr>
        <p:spPr/>
        <p:txBody>
          <a:bodyPr/>
          <a:lstStyle/>
          <a:p>
            <a:fld id="{E94B78F3-87BC-451C-A202-F318C4D79F4A}" type="slidenum">
              <a:rPr lang="en-IN" smtClean="0"/>
              <a:pPr/>
              <a:t>38</a:t>
            </a:fld>
            <a:endParaRPr lang="en-IN"/>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lvl="1" algn="l" rtl="0">
              <a:lnSpc>
                <a:spcPct val="90000"/>
              </a:lnSpc>
              <a:spcBef>
                <a:spcPct val="0"/>
              </a:spcBef>
            </a:pPr>
            <a:br>
              <a:rPr lang="en-IN" sz="3600" b="1" dirty="0">
                <a:ea typeface="+mn-lt"/>
                <a:cs typeface="+mn-lt"/>
              </a:rPr>
            </a:br>
            <a:r>
              <a:rPr lang="en-IN" sz="2000" b="1" kern="1200" dirty="0">
                <a:solidFill>
                  <a:schemeClr val="tx1"/>
                </a:solidFill>
                <a:latin typeface="+mj-lt"/>
                <a:ea typeface="+mn-lt"/>
                <a:cs typeface="+mn-lt"/>
              </a:rPr>
              <a:t>State Small Industries Corporation (SSIDCs) and </a:t>
            </a:r>
            <a:br>
              <a:rPr lang="en-IN" sz="2000" b="1" kern="1200" dirty="0">
                <a:solidFill>
                  <a:schemeClr val="tx1"/>
                </a:solidFill>
                <a:latin typeface="+mj-lt"/>
                <a:ea typeface="+mn-lt"/>
                <a:cs typeface="+mn-lt"/>
              </a:rPr>
            </a:br>
            <a:r>
              <a:rPr lang="en-IN" sz="2000" b="1" kern="1200" dirty="0">
                <a:solidFill>
                  <a:schemeClr val="tx1"/>
                </a:solidFill>
                <a:latin typeface="+mj-lt"/>
                <a:ea typeface="+mn-lt"/>
                <a:cs typeface="+mn-lt"/>
              </a:rPr>
              <a:t>Small Industries Service Institutions(SISIs)</a:t>
            </a:r>
            <a:br>
              <a:rPr lang="en-IN" sz="4000" b="1" dirty="0">
                <a:cs typeface="Calibri"/>
              </a:rPr>
            </a:br>
            <a:endParaRPr lang="en-US" sz="4000" b="1" dirty="0"/>
          </a:p>
        </p:txBody>
      </p:sp>
      <p:sp>
        <p:nvSpPr>
          <p:cNvPr id="3" name="Content Placeholder 2"/>
          <p:cNvSpPr>
            <a:spLocks noGrp="1"/>
          </p:cNvSpPr>
          <p:nvPr>
            <p:ph idx="1"/>
          </p:nvPr>
        </p:nvSpPr>
        <p:spPr>
          <a:xfrm>
            <a:off x="838200" y="1825624"/>
            <a:ext cx="10515600" cy="4848445"/>
          </a:xfrm>
        </p:spPr>
        <p:txBody>
          <a:bodyPr/>
          <a:lstStyle/>
          <a:p>
            <a:pPr algn="just"/>
            <a:r>
              <a:rPr lang="en-US" dirty="0"/>
              <a:t>This bank was setup under the Companies Act,1956</a:t>
            </a:r>
          </a:p>
          <a:p>
            <a:pPr algn="just"/>
            <a:r>
              <a:rPr lang="en-US" dirty="0"/>
              <a:t>Its main objective is to take care of the needs of the small, tiny and cottage industries</a:t>
            </a:r>
          </a:p>
          <a:p>
            <a:pPr algn="just"/>
            <a:r>
              <a:rPr lang="en-US" dirty="0"/>
              <a:t>Acquiring and distributing the scarce raw material</a:t>
            </a:r>
          </a:p>
          <a:p>
            <a:pPr algn="just"/>
            <a:r>
              <a:rPr lang="en-US" dirty="0"/>
              <a:t>Supplying machines on hire purchase agreement</a:t>
            </a:r>
          </a:p>
          <a:p>
            <a:pPr algn="just"/>
            <a:r>
              <a:rPr lang="en-US" dirty="0"/>
              <a:t>Assisting in Marketing of goods manufactured  by small industries</a:t>
            </a:r>
          </a:p>
          <a:p>
            <a:pPr algn="just"/>
            <a:r>
              <a:rPr lang="en-US" dirty="0"/>
              <a:t>Providing Seed capital to the entrepreneurs</a:t>
            </a:r>
          </a:p>
          <a:p>
            <a:pPr algn="just"/>
            <a:r>
              <a:rPr lang="en-US" dirty="0"/>
              <a:t>Providing management assistance to manufacturing and production units</a:t>
            </a:r>
          </a:p>
        </p:txBody>
      </p:sp>
      <p:sp>
        <p:nvSpPr>
          <p:cNvPr id="4" name="Slide Number Placeholder 3">
            <a:extLst>
              <a:ext uri="{FF2B5EF4-FFF2-40B4-BE49-F238E27FC236}">
                <a16:creationId xmlns:a16="http://schemas.microsoft.com/office/drawing/2014/main" id="{D8559044-5343-D1FB-ECC5-ABCAD4D7AF5A}"/>
              </a:ext>
            </a:extLst>
          </p:cNvPr>
          <p:cNvSpPr>
            <a:spLocks noGrp="1"/>
          </p:cNvSpPr>
          <p:nvPr>
            <p:ph type="sldNum" sz="quarter" idx="12"/>
          </p:nvPr>
        </p:nvSpPr>
        <p:spPr/>
        <p:txBody>
          <a:bodyPr/>
          <a:lstStyle/>
          <a:p>
            <a:fld id="{E94B78F3-87BC-451C-A202-F318C4D79F4A}" type="slidenum">
              <a:rPr lang="en-IN" smtClean="0"/>
              <a:pPr/>
              <a:t>39</a:t>
            </a:fld>
            <a:endParaRPr lang="en-IN"/>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b="1" dirty="0">
                <a:ea typeface="+mn-lt"/>
                <a:cs typeface="+mn-lt"/>
              </a:rPr>
            </a:br>
            <a:r>
              <a:rPr lang="en-IN" sz="2700" b="1" dirty="0">
                <a:solidFill>
                  <a:schemeClr val="tx1"/>
                </a:solidFill>
                <a:ea typeface="+mn-lt"/>
                <a:cs typeface="+mn-lt"/>
              </a:rPr>
              <a:t>State Small Industries Corporation (SSIDCs) and </a:t>
            </a:r>
            <a:br>
              <a:rPr lang="en-IN" sz="2700" b="1" dirty="0">
                <a:solidFill>
                  <a:schemeClr val="tx1"/>
                </a:solidFill>
                <a:ea typeface="+mn-lt"/>
                <a:cs typeface="+mn-lt"/>
              </a:rPr>
            </a:br>
            <a:r>
              <a:rPr lang="en-IN" sz="2700" b="1" dirty="0">
                <a:solidFill>
                  <a:schemeClr val="tx1"/>
                </a:solidFill>
                <a:ea typeface="+mn-lt"/>
                <a:cs typeface="+mn-lt"/>
              </a:rPr>
              <a:t>Small Industries Service Institutions(SISIs)</a:t>
            </a:r>
            <a:br>
              <a:rPr lang="en-IN" sz="2700" b="1" dirty="0">
                <a:solidFill>
                  <a:schemeClr val="tx1"/>
                </a:solidFill>
                <a:ea typeface="+mn-lt"/>
                <a:cs typeface="+mn-lt"/>
              </a:rPr>
            </a:br>
            <a:endParaRPr lang="en-US" sz="2700" b="1" dirty="0">
              <a:solidFill>
                <a:schemeClr val="tx1"/>
              </a:solidFill>
              <a:ea typeface="+mn-lt"/>
              <a:cs typeface="+mn-lt"/>
            </a:endParaRPr>
          </a:p>
        </p:txBody>
      </p:sp>
      <p:sp>
        <p:nvSpPr>
          <p:cNvPr id="3" name="Content Placeholder 2"/>
          <p:cNvSpPr>
            <a:spLocks noGrp="1"/>
          </p:cNvSpPr>
          <p:nvPr>
            <p:ph idx="1"/>
          </p:nvPr>
        </p:nvSpPr>
        <p:spPr>
          <a:xfrm>
            <a:off x="557047" y="1825625"/>
            <a:ext cx="11130455" cy="4669768"/>
          </a:xfrm>
        </p:spPr>
        <p:txBody>
          <a:bodyPr>
            <a:normAutofit/>
          </a:bodyPr>
          <a:lstStyle/>
          <a:p>
            <a:endParaRPr lang="en-US" b="1" dirty="0">
              <a:ea typeface="+mn-lt"/>
              <a:cs typeface="+mn-lt"/>
            </a:endParaRPr>
          </a:p>
          <a:p>
            <a:r>
              <a:rPr lang="en-US" sz="2400" dirty="0">
                <a:latin typeface="Times New Roman" panose="02020603050405020304" pitchFamily="18" charset="0"/>
                <a:ea typeface="+mn-lt"/>
                <a:cs typeface="Times New Roman" panose="02020603050405020304" pitchFamily="18" charset="0"/>
              </a:rPr>
              <a:t>Role of </a:t>
            </a:r>
            <a:r>
              <a:rPr lang="en-IN" sz="2400" dirty="0">
                <a:latin typeface="Times New Roman" panose="02020603050405020304" pitchFamily="18" charset="0"/>
                <a:ea typeface="+mn-lt"/>
                <a:cs typeface="Times New Roman" panose="02020603050405020304" pitchFamily="18" charset="0"/>
              </a:rPr>
              <a:t>Small Industries Service Institutions(SISI)</a:t>
            </a:r>
          </a:p>
          <a:p>
            <a:r>
              <a:rPr lang="en-IN" sz="2400" dirty="0">
                <a:latin typeface="Times New Roman" panose="02020603050405020304" pitchFamily="18" charset="0"/>
                <a:ea typeface="+mn-lt"/>
                <a:cs typeface="Times New Roman" panose="02020603050405020304" pitchFamily="18" charset="0"/>
              </a:rPr>
              <a:t>The SISI is one of the extensive training service provider which is subsidiary of SIDO(small industrial development organization)</a:t>
            </a:r>
          </a:p>
          <a:p>
            <a:r>
              <a:rPr lang="en-IN" sz="2400" dirty="0">
                <a:latin typeface="Times New Roman" panose="02020603050405020304" pitchFamily="18" charset="0"/>
                <a:ea typeface="+mn-lt"/>
                <a:cs typeface="Times New Roman" panose="02020603050405020304" pitchFamily="18" charset="0"/>
              </a:rPr>
              <a:t>Develop the skills of employees and managerial personnel</a:t>
            </a:r>
          </a:p>
          <a:p>
            <a:r>
              <a:rPr lang="en-IN" sz="2400" dirty="0">
                <a:latin typeface="Times New Roman" panose="02020603050405020304" pitchFamily="18" charset="0"/>
                <a:ea typeface="+mn-lt"/>
                <a:cs typeface="Times New Roman" panose="02020603050405020304" pitchFamily="18" charset="0"/>
              </a:rPr>
              <a:t>Initiating the EDP programmes to transform the skilled and prospective individuals into entrepreneurs</a:t>
            </a:r>
          </a:p>
          <a:p>
            <a:r>
              <a:rPr lang="en-IN" sz="2400" dirty="0">
                <a:latin typeface="Times New Roman" panose="02020603050405020304" pitchFamily="18" charset="0"/>
                <a:ea typeface="+mn-lt"/>
                <a:cs typeface="Times New Roman" panose="02020603050405020304" pitchFamily="18" charset="0"/>
              </a:rPr>
              <a:t>Provide technical training and service to small scale entrepreneurs in specialised fields</a:t>
            </a:r>
            <a:br>
              <a:rPr lang="en-IN" sz="2400" dirty="0">
                <a:latin typeface="Times New Roman" panose="02020603050405020304" pitchFamily="18" charset="0"/>
                <a:ea typeface="+mn-lt"/>
                <a:cs typeface="Times New Roman" panose="02020603050405020304" pitchFamily="18" charset="0"/>
              </a:rPr>
            </a:br>
            <a:endParaRPr lang="en-US" sz="2400" dirty="0">
              <a:latin typeface="Times New Roman" panose="02020603050405020304" pitchFamily="18" charset="0"/>
              <a:ea typeface="+mn-lt"/>
              <a:cs typeface="Times New Roman" panose="02020603050405020304" pitchFamily="18" charset="0"/>
            </a:endParaRPr>
          </a:p>
        </p:txBody>
      </p:sp>
      <p:sp>
        <p:nvSpPr>
          <p:cNvPr id="4" name="Slide Number Placeholder 3">
            <a:extLst>
              <a:ext uri="{FF2B5EF4-FFF2-40B4-BE49-F238E27FC236}">
                <a16:creationId xmlns:a16="http://schemas.microsoft.com/office/drawing/2014/main" id="{29B1BFBD-21F0-7CE6-A92D-23069A6397D7}"/>
              </a:ext>
            </a:extLst>
          </p:cNvPr>
          <p:cNvSpPr>
            <a:spLocks noGrp="1"/>
          </p:cNvSpPr>
          <p:nvPr>
            <p:ph type="sldNum" sz="quarter" idx="12"/>
          </p:nvPr>
        </p:nvSpPr>
        <p:spPr/>
        <p:txBody>
          <a:bodyPr/>
          <a:lstStyle/>
          <a:p>
            <a:fld id="{E94B78F3-87BC-451C-A202-F318C4D79F4A}" type="slidenum">
              <a:rPr lang="en-IN" smtClean="0"/>
              <a:pPr/>
              <a:t>40</a:t>
            </a:fld>
            <a:endParaRPr lang="en-IN"/>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lvl="1">
              <a:lnSpc>
                <a:spcPct val="160000"/>
              </a:lnSpc>
            </a:pPr>
            <a:r>
              <a:rPr lang="en-IN" sz="3200" b="1" dirty="0">
                <a:latin typeface="+mn-lt"/>
                <a:ea typeface="+mn-lt"/>
                <a:cs typeface="+mn-lt"/>
              </a:rPr>
              <a:t>National Small Industries Corporation Ltd (NSIC)</a:t>
            </a:r>
            <a:br>
              <a:rPr lang="en-IN" sz="3200" b="1" dirty="0">
                <a:cs typeface="Calibri"/>
              </a:rPr>
            </a:br>
            <a:endParaRPr lang="en-US" sz="3200" b="1" dirty="0"/>
          </a:p>
        </p:txBody>
      </p:sp>
      <p:sp>
        <p:nvSpPr>
          <p:cNvPr id="3" name="Content Placeholder 2"/>
          <p:cNvSpPr>
            <a:spLocks noGrp="1"/>
          </p:cNvSpPr>
          <p:nvPr>
            <p:ph idx="1"/>
          </p:nvPr>
        </p:nvSpPr>
        <p:spPr/>
        <p:txBody>
          <a:bodyPr>
            <a:normAutofit/>
          </a:bodyPr>
          <a:lstStyle/>
          <a:p>
            <a:r>
              <a:rPr lang="en-US" dirty="0"/>
              <a:t>Established  by GOI in 1955</a:t>
            </a:r>
          </a:p>
          <a:p>
            <a:r>
              <a:rPr lang="en-US" dirty="0"/>
              <a:t>Promoting and developing SSIs in the country</a:t>
            </a:r>
          </a:p>
          <a:p>
            <a:r>
              <a:rPr lang="en-US" dirty="0"/>
              <a:t>Provides equipment on hire-purchase and leasing system to SSIs</a:t>
            </a:r>
          </a:p>
          <a:p>
            <a:r>
              <a:rPr lang="en-US" dirty="0"/>
              <a:t>Enable marketing of SSI’s products</a:t>
            </a:r>
          </a:p>
          <a:p>
            <a:r>
              <a:rPr lang="en-US" dirty="0"/>
              <a:t>Make a provision for special concessions to the Women entrepreneurs, weak entrepreneurs, ex-servicemen and SSI’s located in down trodden areas</a:t>
            </a:r>
          </a:p>
          <a:p>
            <a:r>
              <a:rPr lang="en-US" dirty="0"/>
              <a:t>Encourage export of SSIs products</a:t>
            </a:r>
          </a:p>
          <a:p>
            <a:r>
              <a:rPr lang="en-US" dirty="0"/>
              <a:t>Improving the prototypes of machines, equipments and tools</a:t>
            </a:r>
          </a:p>
          <a:p>
            <a:r>
              <a:rPr lang="en-US" dirty="0"/>
              <a:t>Providing technical training</a:t>
            </a:r>
          </a:p>
          <a:p>
            <a:endParaRPr lang="en-US" dirty="0"/>
          </a:p>
          <a:p>
            <a:endParaRPr lang="en-US" dirty="0"/>
          </a:p>
        </p:txBody>
      </p:sp>
      <p:sp>
        <p:nvSpPr>
          <p:cNvPr id="4" name="Slide Number Placeholder 3">
            <a:extLst>
              <a:ext uri="{FF2B5EF4-FFF2-40B4-BE49-F238E27FC236}">
                <a16:creationId xmlns:a16="http://schemas.microsoft.com/office/drawing/2014/main" id="{0EBAD985-7474-15C0-91CF-0902A2766953}"/>
              </a:ext>
            </a:extLst>
          </p:cNvPr>
          <p:cNvSpPr>
            <a:spLocks noGrp="1"/>
          </p:cNvSpPr>
          <p:nvPr>
            <p:ph type="sldNum" sz="quarter" idx="12"/>
          </p:nvPr>
        </p:nvSpPr>
        <p:spPr/>
        <p:txBody>
          <a:bodyPr/>
          <a:lstStyle/>
          <a:p>
            <a:fld id="{E94B78F3-87BC-451C-A202-F318C4D79F4A}" type="slidenum">
              <a:rPr lang="en-IN" smtClean="0"/>
              <a:pPr/>
              <a:t>41</a:t>
            </a:fld>
            <a:endParaRPr lang="en-IN"/>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lvl="1" algn="l" rtl="0">
              <a:lnSpc>
                <a:spcPct val="90000"/>
              </a:lnSpc>
              <a:spcBef>
                <a:spcPct val="0"/>
              </a:spcBef>
            </a:pPr>
            <a:r>
              <a:rPr lang="en-IN" sz="3600" b="1" dirty="0">
                <a:ea typeface="+mn-lt"/>
                <a:cs typeface="+mn-lt"/>
              </a:rPr>
              <a:t>State Industrial Development Corporations (SIDCs)</a:t>
            </a:r>
            <a:br>
              <a:rPr lang="en-IN" sz="3600" b="1" dirty="0">
                <a:cs typeface="Calibri"/>
              </a:rPr>
            </a:br>
            <a:endParaRPr lang="en-US" sz="3600" b="1" dirty="0"/>
          </a:p>
        </p:txBody>
      </p:sp>
      <p:sp>
        <p:nvSpPr>
          <p:cNvPr id="3" name="Content Placeholder 2"/>
          <p:cNvSpPr>
            <a:spLocks noGrp="1"/>
          </p:cNvSpPr>
          <p:nvPr>
            <p:ph idx="1"/>
          </p:nvPr>
        </p:nvSpPr>
        <p:spPr>
          <a:xfrm>
            <a:off x="441433" y="1450428"/>
            <a:ext cx="11414235" cy="5202620"/>
          </a:xfrm>
        </p:spPr>
        <p:txBody>
          <a:bodyPr>
            <a:normAutofit/>
          </a:bodyPr>
          <a:lstStyle/>
          <a:p>
            <a:pPr algn="just"/>
            <a:r>
              <a:rPr lang="en-US" dirty="0"/>
              <a:t>SIDC was set up under Companies Act,1956, in the 1960 and 1970 as a wholly owned undertaking of state government with an objective of promoting and developing </a:t>
            </a:r>
            <a:r>
              <a:rPr lang="en-US" b="1" dirty="0"/>
              <a:t>medium and large industries, </a:t>
            </a:r>
            <a:r>
              <a:rPr lang="en-US" dirty="0"/>
              <a:t>they play predominant role in industrial development</a:t>
            </a:r>
          </a:p>
          <a:p>
            <a:pPr algn="just"/>
            <a:r>
              <a:rPr lang="en-US" dirty="0"/>
              <a:t>The SIDCs are the agents of IDBI and SIDBI</a:t>
            </a:r>
          </a:p>
          <a:p>
            <a:pPr algn="just"/>
            <a:r>
              <a:rPr lang="en-US" dirty="0"/>
              <a:t>Extending risk capital to the entrepreneurs in the form of equity participation and seed capital assistance</a:t>
            </a:r>
          </a:p>
          <a:p>
            <a:pPr algn="just"/>
            <a:r>
              <a:rPr lang="en-US" dirty="0"/>
              <a:t>Granting loans, lease finance and guarantees to the industries</a:t>
            </a:r>
          </a:p>
          <a:p>
            <a:pPr algn="just"/>
            <a:r>
              <a:rPr lang="en-US" dirty="0"/>
              <a:t>Performing promotional activities such as generating project ideas, preparing feasibility reports, choosing and training of entrepreneurs</a:t>
            </a:r>
          </a:p>
          <a:p>
            <a:pPr algn="just"/>
            <a:r>
              <a:rPr lang="en-US" dirty="0"/>
              <a:t>Establishing industrial estates by providing infrastructural facilities</a:t>
            </a:r>
          </a:p>
        </p:txBody>
      </p:sp>
      <p:sp>
        <p:nvSpPr>
          <p:cNvPr id="4" name="Slide Number Placeholder 3">
            <a:extLst>
              <a:ext uri="{FF2B5EF4-FFF2-40B4-BE49-F238E27FC236}">
                <a16:creationId xmlns:a16="http://schemas.microsoft.com/office/drawing/2014/main" id="{6D1C7BE8-BB8B-F0EA-9831-C3EF9CD1D484}"/>
              </a:ext>
            </a:extLst>
          </p:cNvPr>
          <p:cNvSpPr>
            <a:spLocks noGrp="1"/>
          </p:cNvSpPr>
          <p:nvPr>
            <p:ph type="sldNum" sz="quarter" idx="12"/>
          </p:nvPr>
        </p:nvSpPr>
        <p:spPr/>
        <p:txBody>
          <a:bodyPr/>
          <a:lstStyle/>
          <a:p>
            <a:fld id="{E94B78F3-87BC-451C-A202-F318C4D79F4A}" type="slidenum">
              <a:rPr lang="en-IN" smtClean="0"/>
              <a:pPr/>
              <a:t>42</a:t>
            </a:fld>
            <a:endParaRPr lang="en-IN"/>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1" algn="l" rtl="0">
              <a:lnSpc>
                <a:spcPct val="90000"/>
              </a:lnSpc>
              <a:spcBef>
                <a:spcPct val="0"/>
              </a:spcBef>
            </a:pPr>
            <a:r>
              <a:rPr lang="en-IN" sz="4400" b="1" dirty="0">
                <a:ea typeface="+mn-lt"/>
                <a:cs typeface="+mn-lt"/>
              </a:rPr>
              <a:t>State Financial Corporations (SFCs)</a:t>
            </a:r>
            <a:br>
              <a:rPr lang="en-IN" sz="4400" b="1" dirty="0">
                <a:cs typeface="Calibri"/>
              </a:rPr>
            </a:br>
            <a:endParaRPr lang="en-US" sz="4400" b="1" dirty="0"/>
          </a:p>
        </p:txBody>
      </p:sp>
      <p:sp>
        <p:nvSpPr>
          <p:cNvPr id="3" name="Content Placeholder 2"/>
          <p:cNvSpPr>
            <a:spLocks noGrp="1"/>
          </p:cNvSpPr>
          <p:nvPr>
            <p:ph idx="1"/>
          </p:nvPr>
        </p:nvSpPr>
        <p:spPr>
          <a:xfrm>
            <a:off x="283779" y="1429406"/>
            <a:ext cx="11351173" cy="5160579"/>
          </a:xfrm>
        </p:spPr>
        <p:txBody>
          <a:bodyPr>
            <a:normAutofit/>
          </a:bodyPr>
          <a:lstStyle/>
          <a:p>
            <a:r>
              <a:rPr lang="en-US" dirty="0"/>
              <a:t>Initiated through SFC Act which was passed by the parliament on September 28</a:t>
            </a:r>
            <a:r>
              <a:rPr lang="en-US" baseline="30000" dirty="0"/>
              <a:t>th</a:t>
            </a:r>
            <a:r>
              <a:rPr lang="en-US" dirty="0"/>
              <a:t>, 1951</a:t>
            </a:r>
          </a:p>
          <a:p>
            <a:r>
              <a:rPr lang="en-US" dirty="0"/>
              <a:t>The first SFC was set up in 1953 in Punjab</a:t>
            </a:r>
          </a:p>
          <a:p>
            <a:r>
              <a:rPr lang="en-US" dirty="0"/>
              <a:t>Provide Financial assistance only  to medium and small size industries</a:t>
            </a:r>
          </a:p>
          <a:p>
            <a:r>
              <a:rPr lang="en-US" dirty="0"/>
              <a:t>At present there are about 18 SFCs which are operating since 40 years</a:t>
            </a:r>
          </a:p>
          <a:p>
            <a:r>
              <a:rPr lang="en-US" dirty="0"/>
              <a:t>Offer long term finance to small and medium scale industries in both Public and private sector companies</a:t>
            </a:r>
          </a:p>
          <a:p>
            <a:r>
              <a:rPr lang="en-US" dirty="0"/>
              <a:t>Term loans for the purchase of land, building, plant, machinery, prerequisites and other assets</a:t>
            </a:r>
          </a:p>
          <a:p>
            <a:r>
              <a:rPr lang="en-US" dirty="0"/>
              <a:t>Inculcating and promoting self employment</a:t>
            </a:r>
          </a:p>
          <a:p>
            <a:r>
              <a:rPr lang="en-US" dirty="0"/>
              <a:t>Extend seed capital assistance under the IDBI scheme</a:t>
            </a:r>
          </a:p>
          <a:p>
            <a:endParaRPr lang="en-US" dirty="0"/>
          </a:p>
        </p:txBody>
      </p:sp>
      <p:sp>
        <p:nvSpPr>
          <p:cNvPr id="4" name="Slide Number Placeholder 3">
            <a:extLst>
              <a:ext uri="{FF2B5EF4-FFF2-40B4-BE49-F238E27FC236}">
                <a16:creationId xmlns:a16="http://schemas.microsoft.com/office/drawing/2014/main" id="{EE1DA1EE-F3C9-DBC4-C79D-6FFC32322C60}"/>
              </a:ext>
            </a:extLst>
          </p:cNvPr>
          <p:cNvSpPr>
            <a:spLocks noGrp="1"/>
          </p:cNvSpPr>
          <p:nvPr>
            <p:ph type="sldNum" sz="quarter" idx="12"/>
          </p:nvPr>
        </p:nvSpPr>
        <p:spPr/>
        <p:txBody>
          <a:bodyPr/>
          <a:lstStyle/>
          <a:p>
            <a:fld id="{E94B78F3-87BC-451C-A202-F318C4D79F4A}" type="slidenum">
              <a:rPr lang="en-IN" smtClean="0"/>
              <a:pPr/>
              <a:t>43</a:t>
            </a:fld>
            <a:endParaRPr lang="en-IN"/>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lvl="1" algn="l" rtl="0">
              <a:lnSpc>
                <a:spcPct val="90000"/>
              </a:lnSpc>
              <a:spcBef>
                <a:spcPct val="0"/>
              </a:spcBef>
            </a:pPr>
            <a:r>
              <a:rPr lang="en-IN" sz="3600" b="1" dirty="0">
                <a:ea typeface="+mn-lt"/>
                <a:cs typeface="+mn-lt"/>
              </a:rPr>
              <a:t>Micro, Small and Medium Enterprises (MSME's)</a:t>
            </a:r>
            <a:br>
              <a:rPr lang="en-IN" sz="3600" b="1" dirty="0">
                <a:cs typeface="Calibri" panose="020F0502020204030204"/>
              </a:rPr>
            </a:br>
            <a:endParaRPr lang="en-US" sz="3600" b="1" dirty="0"/>
          </a:p>
        </p:txBody>
      </p:sp>
      <p:sp>
        <p:nvSpPr>
          <p:cNvPr id="3" name="Content Placeholder 2"/>
          <p:cNvSpPr>
            <a:spLocks noGrp="1"/>
          </p:cNvSpPr>
          <p:nvPr>
            <p:ph idx="1"/>
          </p:nvPr>
        </p:nvSpPr>
        <p:spPr/>
        <p:txBody>
          <a:bodyPr>
            <a:normAutofit/>
          </a:bodyPr>
          <a:lstStyle/>
          <a:p>
            <a:pPr fontAlgn="base"/>
            <a:r>
              <a:rPr lang="en-US" dirty="0"/>
              <a:t>The Government of India has enacted the Micro, Small and Medium Enterprises Development (MSMED) Act, 2006</a:t>
            </a:r>
          </a:p>
          <a:p>
            <a:pPr fontAlgn="base"/>
            <a:r>
              <a:rPr lang="en-US" dirty="0"/>
              <a:t> Enterprises engaged in the manufacture or production, processing or preservation of goods as specified below:</a:t>
            </a:r>
          </a:p>
          <a:p>
            <a:pPr lvl="1" fontAlgn="base"/>
            <a:r>
              <a:rPr lang="en-US" dirty="0"/>
              <a:t>A micro enterprise is an enterprise where investment in plant and machinery does not exceed Rs. 25 </a:t>
            </a:r>
            <a:r>
              <a:rPr lang="en-US" dirty="0" err="1"/>
              <a:t>lakh</a:t>
            </a:r>
            <a:r>
              <a:rPr lang="en-US" dirty="0"/>
              <a:t>;</a:t>
            </a:r>
          </a:p>
          <a:p>
            <a:pPr lvl="1" fontAlgn="base"/>
            <a:r>
              <a:rPr lang="en-US" dirty="0"/>
              <a:t>A small enterprise is an enterprise where the investment in plant and machinery is more than Rs. 25 </a:t>
            </a:r>
            <a:r>
              <a:rPr lang="en-US" dirty="0" err="1"/>
              <a:t>lakh</a:t>
            </a:r>
            <a:r>
              <a:rPr lang="en-US" dirty="0"/>
              <a:t> but does not exceed Rs. 5 </a:t>
            </a:r>
            <a:r>
              <a:rPr lang="en-US" dirty="0" err="1"/>
              <a:t>crore</a:t>
            </a:r>
            <a:r>
              <a:rPr lang="en-US" dirty="0"/>
              <a:t>;</a:t>
            </a:r>
          </a:p>
          <a:p>
            <a:pPr lvl="1" fontAlgn="base"/>
            <a:r>
              <a:rPr lang="en-US" dirty="0"/>
              <a:t>A medium enterprise is an enterprise where the investment in plant and machinery is more than Rs.5 </a:t>
            </a:r>
            <a:r>
              <a:rPr lang="en-US" dirty="0" err="1"/>
              <a:t>crore</a:t>
            </a:r>
            <a:r>
              <a:rPr lang="en-US" dirty="0"/>
              <a:t> but does not exceed Rs.10 </a:t>
            </a:r>
            <a:r>
              <a:rPr lang="en-US" dirty="0" err="1"/>
              <a:t>crore</a:t>
            </a:r>
            <a:r>
              <a:rPr lang="en-US" dirty="0"/>
              <a:t>.</a:t>
            </a:r>
            <a:br>
              <a:rPr lang="en-US" dirty="0"/>
            </a:br>
            <a:endParaRPr lang="en-US" dirty="0"/>
          </a:p>
          <a:p>
            <a:endParaRPr lang="en-US" dirty="0"/>
          </a:p>
        </p:txBody>
      </p:sp>
      <p:sp>
        <p:nvSpPr>
          <p:cNvPr id="4" name="Slide Number Placeholder 3">
            <a:extLst>
              <a:ext uri="{FF2B5EF4-FFF2-40B4-BE49-F238E27FC236}">
                <a16:creationId xmlns:a16="http://schemas.microsoft.com/office/drawing/2014/main" id="{E95E28C6-518E-73CB-2B66-38C64D9197C7}"/>
              </a:ext>
            </a:extLst>
          </p:cNvPr>
          <p:cNvSpPr>
            <a:spLocks noGrp="1"/>
          </p:cNvSpPr>
          <p:nvPr>
            <p:ph type="sldNum" sz="quarter" idx="12"/>
          </p:nvPr>
        </p:nvSpPr>
        <p:spPr/>
        <p:txBody>
          <a:bodyPr/>
          <a:lstStyle/>
          <a:p>
            <a:fld id="{E94B78F3-87BC-451C-A202-F318C4D79F4A}" type="slidenum">
              <a:rPr lang="en-IN" smtClean="0"/>
              <a:pPr/>
              <a:t>44</a:t>
            </a:fld>
            <a:endParaRPr lang="en-IN"/>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latin typeface="+mn-lt"/>
                <a:ea typeface="+mn-lt"/>
                <a:cs typeface="+mn-lt"/>
              </a:rPr>
              <a:t>Micro, Small and Medium Enterprises (MSME's)</a:t>
            </a:r>
            <a:br>
              <a:rPr lang="en-IN" b="1" dirty="0">
                <a:cs typeface="Calibri" panose="020F0502020204030204"/>
              </a:rPr>
            </a:br>
            <a:endParaRPr lang="en-US" dirty="0"/>
          </a:p>
        </p:txBody>
      </p:sp>
      <p:sp>
        <p:nvSpPr>
          <p:cNvPr id="3" name="Content Placeholder 2"/>
          <p:cNvSpPr>
            <a:spLocks noGrp="1"/>
          </p:cNvSpPr>
          <p:nvPr>
            <p:ph idx="1"/>
          </p:nvPr>
        </p:nvSpPr>
        <p:spPr/>
        <p:txBody>
          <a:bodyPr/>
          <a:lstStyle/>
          <a:p>
            <a:r>
              <a:rPr lang="en-US" dirty="0"/>
              <a:t>Providing assistance to prospective and existing businesses</a:t>
            </a:r>
          </a:p>
          <a:p>
            <a:r>
              <a:rPr lang="en-US" dirty="0"/>
              <a:t>Preparing project profiles of products or industries suitable to MSME sector</a:t>
            </a:r>
          </a:p>
          <a:p>
            <a:r>
              <a:rPr lang="en-US" dirty="0"/>
              <a:t>Developing ancillary units</a:t>
            </a:r>
          </a:p>
          <a:p>
            <a:r>
              <a:rPr lang="en-US" dirty="0"/>
              <a:t>Carrying out Management, Entrepreneurship and Skill development </a:t>
            </a:r>
            <a:r>
              <a:rPr lang="en-US" dirty="0" err="1"/>
              <a:t>programmes</a:t>
            </a:r>
            <a:endParaRPr lang="en-US" dirty="0"/>
          </a:p>
          <a:p>
            <a:r>
              <a:rPr lang="en-US" dirty="0"/>
              <a:t>Control of Quality and Pollution</a:t>
            </a:r>
          </a:p>
          <a:p>
            <a:r>
              <a:rPr lang="en-US" dirty="0"/>
              <a:t>Technology upgradation and energy conservation</a:t>
            </a:r>
          </a:p>
          <a:p>
            <a:r>
              <a:rPr lang="en-US" dirty="0"/>
              <a:t>Conducting Market surveys</a:t>
            </a:r>
          </a:p>
        </p:txBody>
      </p:sp>
      <p:sp>
        <p:nvSpPr>
          <p:cNvPr id="4" name="Slide Number Placeholder 3">
            <a:extLst>
              <a:ext uri="{FF2B5EF4-FFF2-40B4-BE49-F238E27FC236}">
                <a16:creationId xmlns:a16="http://schemas.microsoft.com/office/drawing/2014/main" id="{C1243875-5348-30FB-F8B8-3AC72D28E3D2}"/>
              </a:ext>
            </a:extLst>
          </p:cNvPr>
          <p:cNvSpPr>
            <a:spLocks noGrp="1"/>
          </p:cNvSpPr>
          <p:nvPr>
            <p:ph type="sldNum" sz="quarter" idx="12"/>
          </p:nvPr>
        </p:nvSpPr>
        <p:spPr/>
        <p:txBody>
          <a:bodyPr/>
          <a:lstStyle/>
          <a:p>
            <a:fld id="{E94B78F3-87BC-451C-A202-F318C4D79F4A}" type="slidenum">
              <a:rPr lang="en-IN" smtClean="0"/>
              <a:pPr/>
              <a:t>45</a:t>
            </a:fld>
            <a:endParaRPr lang="en-IN"/>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39156C-F486-4469-B282-0513EC7A0194}"/>
              </a:ext>
            </a:extLst>
          </p:cNvPr>
          <p:cNvSpPr>
            <a:spLocks noGrp="1"/>
          </p:cNvSpPr>
          <p:nvPr>
            <p:ph idx="1"/>
          </p:nvPr>
        </p:nvSpPr>
        <p:spPr>
          <a:xfrm>
            <a:off x="-1" y="1714499"/>
            <a:ext cx="6085415" cy="5143500"/>
          </a:xfrm>
        </p:spPr>
        <p:txBody>
          <a:bodyPr vert="horz" lIns="91440" tIns="45720" rIns="91440" bIns="45720" rtlCol="0" anchor="t">
            <a:normAutofit/>
          </a:bodyPr>
          <a:lstStyle/>
          <a:p>
            <a:pPr>
              <a:lnSpc>
                <a:spcPct val="150000"/>
              </a:lnSpc>
            </a:pPr>
            <a:r>
              <a:rPr lang="en-IN" b="1" dirty="0">
                <a:cs typeface="Calibri"/>
              </a:rPr>
              <a:t>Advantages</a:t>
            </a:r>
            <a:endParaRPr lang="en-US" b="1">
              <a:cs typeface="Calibri"/>
            </a:endParaRPr>
          </a:p>
          <a:p>
            <a:pPr lvl="1">
              <a:lnSpc>
                <a:spcPct val="150000"/>
              </a:lnSpc>
            </a:pPr>
            <a:r>
              <a:rPr lang="en-IN" dirty="0">
                <a:cs typeface="Calibri"/>
              </a:rPr>
              <a:t>Control of Company is not Surrendered</a:t>
            </a:r>
            <a:endParaRPr lang="en-IN" dirty="0"/>
          </a:p>
          <a:p>
            <a:pPr lvl="1">
              <a:lnSpc>
                <a:spcPct val="150000"/>
              </a:lnSpc>
            </a:pPr>
            <a:r>
              <a:rPr lang="en-IN" dirty="0">
                <a:cs typeface="Calibri"/>
              </a:rPr>
              <a:t>Trading on Equity</a:t>
            </a:r>
          </a:p>
          <a:p>
            <a:pPr lvl="1">
              <a:lnSpc>
                <a:spcPct val="150000"/>
              </a:lnSpc>
            </a:pPr>
            <a:r>
              <a:rPr lang="en-IN" dirty="0">
                <a:cs typeface="Calibri"/>
              </a:rPr>
              <a:t>Interest is an allowable Expenditure</a:t>
            </a:r>
          </a:p>
          <a:p>
            <a:pPr lvl="1">
              <a:lnSpc>
                <a:spcPct val="150000"/>
              </a:lnSpc>
            </a:pPr>
            <a:r>
              <a:rPr lang="en-IN" dirty="0">
                <a:cs typeface="Calibri"/>
              </a:rPr>
              <a:t>Can be reduced if company has Surplus Funds</a:t>
            </a:r>
          </a:p>
          <a:p>
            <a:pPr lvl="1">
              <a:lnSpc>
                <a:spcPct val="150000"/>
              </a:lnSpc>
            </a:pPr>
            <a:endParaRPr lang="en-IN" dirty="0">
              <a:cs typeface="Calibri"/>
            </a:endParaRPr>
          </a:p>
        </p:txBody>
      </p:sp>
      <p:sp>
        <p:nvSpPr>
          <p:cNvPr id="8" name="Content Placeholder 2">
            <a:extLst>
              <a:ext uri="{FF2B5EF4-FFF2-40B4-BE49-F238E27FC236}">
                <a16:creationId xmlns:a16="http://schemas.microsoft.com/office/drawing/2014/main" id="{ABCD8B7C-3EFB-4627-B771-7C39466BE478}"/>
              </a:ext>
            </a:extLst>
          </p:cNvPr>
          <p:cNvSpPr txBox="1">
            <a:spLocks/>
          </p:cNvSpPr>
          <p:nvPr/>
        </p:nvSpPr>
        <p:spPr>
          <a:xfrm>
            <a:off x="6079066" y="1708149"/>
            <a:ext cx="5810249" cy="514350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IN" b="1" dirty="0">
                <a:cs typeface="Calibri"/>
              </a:rPr>
              <a:t>Disadvantages</a:t>
            </a:r>
          </a:p>
          <a:p>
            <a:pPr lvl="1">
              <a:lnSpc>
                <a:spcPct val="150000"/>
              </a:lnSpc>
            </a:pPr>
            <a:r>
              <a:rPr lang="en-IN" dirty="0">
                <a:cs typeface="Calibri"/>
              </a:rPr>
              <a:t>Cost of Raising Capital is High</a:t>
            </a:r>
            <a:endParaRPr lang="en-IN" b="1" dirty="0">
              <a:cs typeface="Calibri"/>
            </a:endParaRPr>
          </a:p>
          <a:p>
            <a:pPr lvl="1">
              <a:lnSpc>
                <a:spcPct val="150000"/>
              </a:lnSpc>
            </a:pPr>
            <a:r>
              <a:rPr lang="en-IN" dirty="0">
                <a:cs typeface="Calibri"/>
              </a:rPr>
              <a:t>Common People cannot buy Debentures</a:t>
            </a:r>
          </a:p>
          <a:p>
            <a:pPr lvl="1">
              <a:lnSpc>
                <a:spcPct val="150000"/>
              </a:lnSpc>
            </a:pPr>
            <a:r>
              <a:rPr lang="en-IN" dirty="0">
                <a:cs typeface="Calibri"/>
              </a:rPr>
              <a:t>Not Meant for Companies Earning greater rate of interest</a:t>
            </a:r>
          </a:p>
          <a:p>
            <a:pPr lvl="1">
              <a:lnSpc>
                <a:spcPct val="150000"/>
              </a:lnSpc>
            </a:pPr>
            <a:endParaRPr lang="en-IN" dirty="0">
              <a:cs typeface="Calibri"/>
            </a:endParaRPr>
          </a:p>
        </p:txBody>
      </p:sp>
      <p:sp>
        <p:nvSpPr>
          <p:cNvPr id="5" name="Title 1">
            <a:extLst>
              <a:ext uri="{FF2B5EF4-FFF2-40B4-BE49-F238E27FC236}">
                <a16:creationId xmlns:a16="http://schemas.microsoft.com/office/drawing/2014/main" id="{B869CD52-79E5-4473-BA2D-9894F8F28CA6}"/>
              </a:ext>
            </a:extLst>
          </p:cNvPr>
          <p:cNvSpPr>
            <a:spLocks noGrp="1"/>
          </p:cNvSpPr>
          <p:nvPr/>
        </p:nvSpPr>
        <p:spPr>
          <a:xfrm>
            <a:off x="0" y="1"/>
            <a:ext cx="12192000" cy="94191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cs typeface="Calibri Light"/>
              </a:rPr>
              <a:t>Debentures </a:t>
            </a:r>
          </a:p>
        </p:txBody>
      </p:sp>
      <p:sp>
        <p:nvSpPr>
          <p:cNvPr id="2" name="Slide Number Placeholder 1">
            <a:extLst>
              <a:ext uri="{FF2B5EF4-FFF2-40B4-BE49-F238E27FC236}">
                <a16:creationId xmlns:a16="http://schemas.microsoft.com/office/drawing/2014/main" id="{7A4D3A57-94D3-F518-D97E-05ECF99CB068}"/>
              </a:ext>
            </a:extLst>
          </p:cNvPr>
          <p:cNvSpPr>
            <a:spLocks noGrp="1"/>
          </p:cNvSpPr>
          <p:nvPr>
            <p:ph type="sldNum" sz="quarter" idx="12"/>
          </p:nvPr>
        </p:nvSpPr>
        <p:spPr/>
        <p:txBody>
          <a:bodyPr/>
          <a:lstStyle/>
          <a:p>
            <a:fld id="{E94B78F3-87BC-451C-A202-F318C4D79F4A}" type="slidenum">
              <a:rPr lang="en-IN" smtClean="0"/>
              <a:pPr/>
              <a:t>46</a:t>
            </a:fld>
            <a:endParaRPr lang="en-IN"/>
          </a:p>
        </p:txBody>
      </p:sp>
    </p:spTree>
    <p:extLst>
      <p:ext uri="{BB962C8B-B14F-4D97-AF65-F5344CB8AC3E}">
        <p14:creationId xmlns:p14="http://schemas.microsoft.com/office/powerpoint/2010/main" val="418405730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39156C-F486-4469-B282-0513EC7A0194}"/>
              </a:ext>
            </a:extLst>
          </p:cNvPr>
          <p:cNvSpPr>
            <a:spLocks noGrp="1"/>
          </p:cNvSpPr>
          <p:nvPr>
            <p:ph idx="1"/>
          </p:nvPr>
        </p:nvSpPr>
        <p:spPr>
          <a:xfrm>
            <a:off x="-1" y="1703916"/>
            <a:ext cx="6085415" cy="5154083"/>
          </a:xfrm>
        </p:spPr>
        <p:txBody>
          <a:bodyPr vert="horz" lIns="91440" tIns="45720" rIns="91440" bIns="45720" rtlCol="0" anchor="t">
            <a:normAutofit/>
          </a:bodyPr>
          <a:lstStyle/>
          <a:p>
            <a:pPr>
              <a:lnSpc>
                <a:spcPct val="150000"/>
              </a:lnSpc>
            </a:pPr>
            <a:r>
              <a:rPr lang="en-IN" b="1" dirty="0">
                <a:cs typeface="Calibri"/>
              </a:rPr>
              <a:t>Advantages</a:t>
            </a:r>
            <a:endParaRPr lang="en-US" b="1">
              <a:cs typeface="Calibri"/>
            </a:endParaRPr>
          </a:p>
          <a:p>
            <a:pPr lvl="1">
              <a:lnSpc>
                <a:spcPct val="150000"/>
              </a:lnSpc>
            </a:pPr>
            <a:r>
              <a:rPr lang="en-IN" dirty="0">
                <a:cs typeface="Calibri"/>
              </a:rPr>
              <a:t>Fixed Return</a:t>
            </a:r>
          </a:p>
          <a:p>
            <a:pPr lvl="1">
              <a:lnSpc>
                <a:spcPct val="150000"/>
              </a:lnSpc>
            </a:pPr>
            <a:r>
              <a:rPr lang="en-IN" dirty="0">
                <a:cs typeface="Calibri"/>
              </a:rPr>
              <a:t>Long Term Funds</a:t>
            </a:r>
          </a:p>
          <a:p>
            <a:pPr lvl="1">
              <a:lnSpc>
                <a:spcPct val="150000"/>
              </a:lnSpc>
            </a:pPr>
            <a:r>
              <a:rPr lang="en-IN" dirty="0">
                <a:cs typeface="Calibri"/>
              </a:rPr>
              <a:t>Restricted Voting Rights</a:t>
            </a:r>
          </a:p>
          <a:p>
            <a:pPr lvl="1">
              <a:lnSpc>
                <a:spcPct val="150000"/>
              </a:lnSpc>
            </a:pPr>
            <a:r>
              <a:rPr lang="en-IN" dirty="0">
                <a:cs typeface="Calibri"/>
              </a:rPr>
              <a:t>Repayment of Capital</a:t>
            </a:r>
          </a:p>
          <a:p>
            <a:pPr lvl="1">
              <a:lnSpc>
                <a:spcPct val="150000"/>
              </a:lnSpc>
            </a:pPr>
            <a:r>
              <a:rPr lang="en-IN" dirty="0">
                <a:cs typeface="Calibri"/>
              </a:rPr>
              <a:t>No Securities Required</a:t>
            </a:r>
          </a:p>
          <a:p>
            <a:pPr lvl="1">
              <a:lnSpc>
                <a:spcPct val="150000"/>
              </a:lnSpc>
            </a:pPr>
            <a:r>
              <a:rPr lang="en-IN" dirty="0">
                <a:cs typeface="Calibri"/>
              </a:rPr>
              <a:t>Trading on Equity</a:t>
            </a:r>
          </a:p>
          <a:p>
            <a:pPr lvl="1">
              <a:lnSpc>
                <a:spcPct val="150000"/>
              </a:lnSpc>
            </a:pPr>
            <a:endParaRPr lang="en-IN" dirty="0">
              <a:cs typeface="Calibri"/>
            </a:endParaRPr>
          </a:p>
        </p:txBody>
      </p:sp>
      <p:sp>
        <p:nvSpPr>
          <p:cNvPr id="8" name="Content Placeholder 2">
            <a:extLst>
              <a:ext uri="{FF2B5EF4-FFF2-40B4-BE49-F238E27FC236}">
                <a16:creationId xmlns:a16="http://schemas.microsoft.com/office/drawing/2014/main" id="{ABCD8B7C-3EFB-4627-B771-7C39466BE478}"/>
              </a:ext>
            </a:extLst>
          </p:cNvPr>
          <p:cNvSpPr txBox="1">
            <a:spLocks/>
          </p:cNvSpPr>
          <p:nvPr/>
        </p:nvSpPr>
        <p:spPr>
          <a:xfrm>
            <a:off x="6079066" y="1708149"/>
            <a:ext cx="5810249" cy="514350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IN" b="1" dirty="0">
                <a:cs typeface="Calibri"/>
              </a:rPr>
              <a:t>Disadvantages</a:t>
            </a:r>
          </a:p>
          <a:p>
            <a:pPr lvl="1">
              <a:lnSpc>
                <a:spcPct val="150000"/>
              </a:lnSpc>
            </a:pPr>
            <a:r>
              <a:rPr lang="en-IN" dirty="0">
                <a:cs typeface="Calibri"/>
              </a:rPr>
              <a:t>Burden of Fixed Return</a:t>
            </a:r>
            <a:endParaRPr lang="en-IN" dirty="0"/>
          </a:p>
          <a:p>
            <a:pPr lvl="1">
              <a:lnSpc>
                <a:spcPct val="150000"/>
              </a:lnSpc>
            </a:pPr>
            <a:r>
              <a:rPr lang="en-IN" dirty="0">
                <a:cs typeface="Calibri"/>
              </a:rPr>
              <a:t>No Controlling Rights</a:t>
            </a:r>
          </a:p>
          <a:p>
            <a:pPr lvl="1">
              <a:lnSpc>
                <a:spcPct val="150000"/>
              </a:lnSpc>
            </a:pPr>
            <a:r>
              <a:rPr lang="en-IN" dirty="0">
                <a:cs typeface="Calibri"/>
              </a:rPr>
              <a:t>Cost of Raising Capital is Higher</a:t>
            </a:r>
          </a:p>
          <a:p>
            <a:pPr lvl="1">
              <a:lnSpc>
                <a:spcPct val="150000"/>
              </a:lnSpc>
            </a:pPr>
            <a:r>
              <a:rPr lang="en-IN" dirty="0">
                <a:cs typeface="Calibri"/>
              </a:rPr>
              <a:t>Does not attract many Investors</a:t>
            </a:r>
          </a:p>
          <a:p>
            <a:pPr lvl="1">
              <a:lnSpc>
                <a:spcPct val="150000"/>
              </a:lnSpc>
            </a:pPr>
            <a:endParaRPr lang="en-IN" dirty="0">
              <a:cs typeface="Calibri"/>
            </a:endParaRPr>
          </a:p>
        </p:txBody>
      </p:sp>
      <p:sp>
        <p:nvSpPr>
          <p:cNvPr id="9" name="Title 1">
            <a:extLst>
              <a:ext uri="{FF2B5EF4-FFF2-40B4-BE49-F238E27FC236}">
                <a16:creationId xmlns:a16="http://schemas.microsoft.com/office/drawing/2014/main" id="{4905CC3C-B3F3-45AC-B951-BA3E54E655E0}"/>
              </a:ext>
            </a:extLst>
          </p:cNvPr>
          <p:cNvSpPr>
            <a:spLocks noGrp="1"/>
          </p:cNvSpPr>
          <p:nvPr/>
        </p:nvSpPr>
        <p:spPr>
          <a:xfrm>
            <a:off x="0" y="1"/>
            <a:ext cx="12192000" cy="101599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cs typeface="Calibri Light"/>
              </a:rPr>
              <a:t>Preference Shares</a:t>
            </a:r>
          </a:p>
        </p:txBody>
      </p:sp>
      <p:sp>
        <p:nvSpPr>
          <p:cNvPr id="2" name="Slide Number Placeholder 1">
            <a:extLst>
              <a:ext uri="{FF2B5EF4-FFF2-40B4-BE49-F238E27FC236}">
                <a16:creationId xmlns:a16="http://schemas.microsoft.com/office/drawing/2014/main" id="{B846B4C3-CFC9-9708-0D26-E896ADB974F3}"/>
              </a:ext>
            </a:extLst>
          </p:cNvPr>
          <p:cNvSpPr>
            <a:spLocks noGrp="1"/>
          </p:cNvSpPr>
          <p:nvPr>
            <p:ph type="sldNum" sz="quarter" idx="12"/>
          </p:nvPr>
        </p:nvSpPr>
        <p:spPr/>
        <p:txBody>
          <a:bodyPr/>
          <a:lstStyle/>
          <a:p>
            <a:fld id="{E94B78F3-87BC-451C-A202-F318C4D79F4A}" type="slidenum">
              <a:rPr lang="en-IN" smtClean="0"/>
              <a:pPr/>
              <a:t>47</a:t>
            </a:fld>
            <a:endParaRPr lang="en-IN"/>
          </a:p>
        </p:txBody>
      </p:sp>
    </p:spTree>
    <p:extLst>
      <p:ext uri="{BB962C8B-B14F-4D97-AF65-F5344CB8AC3E}">
        <p14:creationId xmlns:p14="http://schemas.microsoft.com/office/powerpoint/2010/main" val="378742802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75777-8B02-478B-9470-97BE1B4B8ABE}"/>
              </a:ext>
            </a:extLst>
          </p:cNvPr>
          <p:cNvSpPr>
            <a:spLocks noGrp="1"/>
          </p:cNvSpPr>
          <p:nvPr>
            <p:ph type="title"/>
          </p:nvPr>
        </p:nvSpPr>
        <p:spPr>
          <a:xfrm>
            <a:off x="0" y="1"/>
            <a:ext cx="12192000" cy="878416"/>
          </a:xfrm>
        </p:spPr>
        <p:txBody>
          <a:bodyPr/>
          <a:lstStyle/>
          <a:p>
            <a:pPr algn="ctr"/>
            <a:r>
              <a:rPr lang="en-US" b="1" dirty="0">
                <a:cs typeface="Calibri Light"/>
              </a:rPr>
              <a:t>Equity Shares</a:t>
            </a:r>
          </a:p>
        </p:txBody>
      </p:sp>
      <p:sp>
        <p:nvSpPr>
          <p:cNvPr id="3" name="Content Placeholder 2">
            <a:extLst>
              <a:ext uri="{FF2B5EF4-FFF2-40B4-BE49-F238E27FC236}">
                <a16:creationId xmlns:a16="http://schemas.microsoft.com/office/drawing/2014/main" id="{6639156C-F486-4469-B282-0513EC7A0194}"/>
              </a:ext>
            </a:extLst>
          </p:cNvPr>
          <p:cNvSpPr>
            <a:spLocks noGrp="1"/>
          </p:cNvSpPr>
          <p:nvPr>
            <p:ph idx="1"/>
          </p:nvPr>
        </p:nvSpPr>
        <p:spPr>
          <a:xfrm>
            <a:off x="-1" y="1587500"/>
            <a:ext cx="6085415" cy="5270499"/>
          </a:xfrm>
        </p:spPr>
        <p:txBody>
          <a:bodyPr vert="horz" lIns="91440" tIns="45720" rIns="91440" bIns="45720" rtlCol="0" anchor="t">
            <a:normAutofit/>
          </a:bodyPr>
          <a:lstStyle/>
          <a:p>
            <a:pPr>
              <a:lnSpc>
                <a:spcPct val="150000"/>
              </a:lnSpc>
            </a:pPr>
            <a:r>
              <a:rPr lang="en-IN" b="1" dirty="0">
                <a:cs typeface="Calibri"/>
              </a:rPr>
              <a:t>Advantages</a:t>
            </a:r>
            <a:endParaRPr lang="en-US" b="1">
              <a:cs typeface="Calibri"/>
            </a:endParaRPr>
          </a:p>
          <a:p>
            <a:pPr lvl="1">
              <a:lnSpc>
                <a:spcPct val="150000"/>
              </a:lnSpc>
            </a:pPr>
            <a:r>
              <a:rPr lang="en-IN" dirty="0">
                <a:cs typeface="Calibri"/>
              </a:rPr>
              <a:t>No Fixed Dividend</a:t>
            </a:r>
          </a:p>
          <a:p>
            <a:pPr lvl="1">
              <a:lnSpc>
                <a:spcPct val="150000"/>
              </a:lnSpc>
            </a:pPr>
            <a:r>
              <a:rPr lang="en-IN" dirty="0">
                <a:cs typeface="Calibri"/>
              </a:rPr>
              <a:t>No Charge on Assets</a:t>
            </a:r>
          </a:p>
          <a:p>
            <a:pPr lvl="1">
              <a:lnSpc>
                <a:spcPct val="150000"/>
              </a:lnSpc>
            </a:pPr>
            <a:r>
              <a:rPr lang="en-IN" dirty="0">
                <a:cs typeface="Calibri"/>
              </a:rPr>
              <a:t>Permanent Source</a:t>
            </a:r>
          </a:p>
          <a:p>
            <a:pPr lvl="1">
              <a:lnSpc>
                <a:spcPct val="150000"/>
              </a:lnSpc>
            </a:pPr>
            <a:r>
              <a:rPr lang="en-IN" dirty="0">
                <a:cs typeface="Calibri"/>
              </a:rPr>
              <a:t>Real Owners of the Company</a:t>
            </a:r>
          </a:p>
          <a:p>
            <a:pPr lvl="1">
              <a:lnSpc>
                <a:spcPct val="150000"/>
              </a:lnSpc>
            </a:pPr>
            <a:r>
              <a:rPr lang="en-IN" dirty="0">
                <a:cs typeface="Calibri"/>
              </a:rPr>
              <a:t>More Dividend</a:t>
            </a:r>
          </a:p>
        </p:txBody>
      </p:sp>
      <p:sp>
        <p:nvSpPr>
          <p:cNvPr id="8" name="Content Placeholder 2">
            <a:extLst>
              <a:ext uri="{FF2B5EF4-FFF2-40B4-BE49-F238E27FC236}">
                <a16:creationId xmlns:a16="http://schemas.microsoft.com/office/drawing/2014/main" id="{ABCD8B7C-3EFB-4627-B771-7C39466BE478}"/>
              </a:ext>
            </a:extLst>
          </p:cNvPr>
          <p:cNvSpPr txBox="1">
            <a:spLocks/>
          </p:cNvSpPr>
          <p:nvPr/>
        </p:nvSpPr>
        <p:spPr>
          <a:xfrm>
            <a:off x="6079066" y="1581149"/>
            <a:ext cx="5810249" cy="527050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IN" b="1" dirty="0">
                <a:cs typeface="Calibri"/>
              </a:rPr>
              <a:t>Disadvantages</a:t>
            </a:r>
          </a:p>
          <a:p>
            <a:pPr lvl="1">
              <a:lnSpc>
                <a:spcPct val="150000"/>
              </a:lnSpc>
            </a:pPr>
            <a:r>
              <a:rPr lang="en-IN" dirty="0">
                <a:cs typeface="Calibri"/>
              </a:rPr>
              <a:t>No Trading on Equity</a:t>
            </a:r>
          </a:p>
          <a:p>
            <a:pPr lvl="1">
              <a:lnSpc>
                <a:spcPct val="150000"/>
              </a:lnSpc>
            </a:pPr>
            <a:r>
              <a:rPr lang="en-IN" dirty="0">
                <a:cs typeface="Calibri"/>
              </a:rPr>
              <a:t>Danger of Over Capitalization</a:t>
            </a:r>
          </a:p>
          <a:p>
            <a:pPr lvl="1">
              <a:lnSpc>
                <a:spcPct val="150000"/>
              </a:lnSpc>
            </a:pPr>
            <a:r>
              <a:rPr lang="en-IN" dirty="0">
                <a:cs typeface="Calibri"/>
              </a:rPr>
              <a:t>Obstacles for Management</a:t>
            </a:r>
          </a:p>
          <a:p>
            <a:pPr lvl="1">
              <a:lnSpc>
                <a:spcPct val="150000"/>
              </a:lnSpc>
            </a:pPr>
            <a:endParaRPr lang="en-IN" dirty="0">
              <a:cs typeface="Calibri"/>
            </a:endParaRPr>
          </a:p>
        </p:txBody>
      </p:sp>
      <p:sp>
        <p:nvSpPr>
          <p:cNvPr id="4" name="Slide Number Placeholder 3">
            <a:extLst>
              <a:ext uri="{FF2B5EF4-FFF2-40B4-BE49-F238E27FC236}">
                <a16:creationId xmlns:a16="http://schemas.microsoft.com/office/drawing/2014/main" id="{EB51C16B-EF93-E65D-13CD-D606580A3720}"/>
              </a:ext>
            </a:extLst>
          </p:cNvPr>
          <p:cNvSpPr>
            <a:spLocks noGrp="1"/>
          </p:cNvSpPr>
          <p:nvPr>
            <p:ph type="sldNum" sz="quarter" idx="12"/>
          </p:nvPr>
        </p:nvSpPr>
        <p:spPr/>
        <p:txBody>
          <a:bodyPr/>
          <a:lstStyle/>
          <a:p>
            <a:fld id="{E94B78F3-87BC-451C-A202-F318C4D79F4A}" type="slidenum">
              <a:rPr lang="en-IN" smtClean="0"/>
              <a:pPr/>
              <a:t>48</a:t>
            </a:fld>
            <a:endParaRPr lang="en-IN"/>
          </a:p>
        </p:txBody>
      </p:sp>
    </p:spTree>
    <p:extLst>
      <p:ext uri="{BB962C8B-B14F-4D97-AF65-F5344CB8AC3E}">
        <p14:creationId xmlns:p14="http://schemas.microsoft.com/office/powerpoint/2010/main" val="254218509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BACC050B-8757-4460-95D8-E37B46A6B421}"/>
    </a:ext>
  </a:extLst>
</a:theme>
</file>

<file path=ppt/theme/theme2.xml><?xml version="1.0" encoding="utf-8"?>
<a:theme xmlns:a="http://schemas.openxmlformats.org/drawingml/2006/main" name="1_Ion">
  <a:themeElements>
    <a:clrScheme name="Ion">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BACC050B-8757-4460-95D8-E37B46A6B421}"/>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2986</TotalTime>
  <Words>3783</Words>
  <Application>Microsoft Office PowerPoint</Application>
  <PresentationFormat>Widescreen</PresentationFormat>
  <Paragraphs>484</Paragraphs>
  <Slides>48</Slides>
  <Notes>0</Notes>
  <HiddenSlides>10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48</vt:i4>
      </vt:variant>
    </vt:vector>
  </HeadingPairs>
  <TitlesOfParts>
    <vt:vector size="58" baseType="lpstr">
      <vt:lpstr>Arial</vt:lpstr>
      <vt:lpstr>Arial</vt:lpstr>
      <vt:lpstr>Calibri</vt:lpstr>
      <vt:lpstr>Calibri Light</vt:lpstr>
      <vt:lpstr>Century Gothic</vt:lpstr>
      <vt:lpstr>Times New Roman</vt:lpstr>
      <vt:lpstr>Wingdings</vt:lpstr>
      <vt:lpstr>Wingdings 3</vt:lpstr>
      <vt:lpstr>Ion</vt:lpstr>
      <vt:lpstr>1_Ion</vt:lpstr>
      <vt:lpstr>PowerPoint Presentation</vt:lpstr>
      <vt:lpstr>Entrepreneurial Finance</vt:lpstr>
      <vt:lpstr>Factors determining the capital requirements </vt:lpstr>
      <vt:lpstr>Classification of Capital</vt:lpstr>
      <vt:lpstr>Classification of Capital</vt:lpstr>
      <vt:lpstr>Fixed Capital or Block Capital </vt:lpstr>
      <vt:lpstr>Factors Determining Fixed Capital Requirement</vt:lpstr>
      <vt:lpstr>Working Capital</vt:lpstr>
      <vt:lpstr>Working Capital Classification</vt:lpstr>
      <vt:lpstr>On the basis of Concept  </vt:lpstr>
      <vt:lpstr>Factors Determining Working Capital Requirement</vt:lpstr>
      <vt:lpstr>Entrepreneurial Sources of Finance</vt:lpstr>
      <vt:lpstr>Entrepreneurial Sources of Finance</vt:lpstr>
      <vt:lpstr>Entrepreneurial Sources of Finance</vt:lpstr>
      <vt:lpstr>Entrepreneurial Sources of Finance</vt:lpstr>
      <vt:lpstr>Incubation Centres</vt:lpstr>
      <vt:lpstr>Incubation Centres</vt:lpstr>
      <vt:lpstr>Functions of Incubation Centers​ </vt:lpstr>
      <vt:lpstr>Incubation centers- types</vt:lpstr>
      <vt:lpstr>Incubation centers- types</vt:lpstr>
      <vt:lpstr>Types of Incubation Services</vt:lpstr>
      <vt:lpstr>Most Common Incubator Services</vt:lpstr>
      <vt:lpstr>Incubation Process</vt:lpstr>
      <vt:lpstr>Benefits of Incubation</vt:lpstr>
      <vt:lpstr>Types of Incubators</vt:lpstr>
      <vt:lpstr>PowerPoint Presentation</vt:lpstr>
      <vt:lpstr>Entrepreneurial Sources of Finance </vt:lpstr>
      <vt:lpstr>Entrepreneurial Sources of Finance </vt:lpstr>
      <vt:lpstr>Entrepreneurial Sources of Finance</vt:lpstr>
      <vt:lpstr>Entrepreneurial Sources of Finance</vt:lpstr>
      <vt:lpstr>PowerPoint Presentation</vt:lpstr>
      <vt:lpstr>Non Institutional Sources of Finance</vt:lpstr>
      <vt:lpstr>Loans from Financial Institutions</vt:lpstr>
      <vt:lpstr>Industrial Development Bank of India(IDBI)</vt:lpstr>
      <vt:lpstr>Industrial Credit and Investment Corporations of India Ltd (ICICI) </vt:lpstr>
      <vt:lpstr>Industrial Finance Corporation of India (IFCI) </vt:lpstr>
      <vt:lpstr>Industrial Investment Bank of India(IIBI)</vt:lpstr>
      <vt:lpstr>Small Industries Development Bank of India (SIDBI) </vt:lpstr>
      <vt:lpstr> State Small Industries Corporation (SSIDCs) and  Small Industries Service Institutions(SISIs) </vt:lpstr>
      <vt:lpstr> State Small Industries Corporation (SSIDCs) and  Small Industries Service Institutions(SISIs) </vt:lpstr>
      <vt:lpstr>National Small Industries Corporation Ltd (NSIC) </vt:lpstr>
      <vt:lpstr>State Industrial Development Corporations (SIDCs) </vt:lpstr>
      <vt:lpstr>State Financial Corporations (SFCs) </vt:lpstr>
      <vt:lpstr>Micro, Small and Medium Enterprises (MSME's) </vt:lpstr>
      <vt:lpstr>Micro, Small and Medium Enterprises (MSME's) </vt:lpstr>
      <vt:lpstr>PowerPoint Presentation</vt:lpstr>
      <vt:lpstr>PowerPoint Presentation</vt:lpstr>
      <vt:lpstr>Equity Shares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Smitha Mahindrakar</cp:lastModifiedBy>
  <cp:revision>327</cp:revision>
  <dcterms:created xsi:type="dcterms:W3CDTF">2021-10-23T08:32:33Z</dcterms:created>
  <dcterms:modified xsi:type="dcterms:W3CDTF">2026-01-19T18:12:57Z</dcterms:modified>
</cp:coreProperties>
</file>